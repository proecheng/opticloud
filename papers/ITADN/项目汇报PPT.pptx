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2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4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8"/>
  </p:notesMasterIdLst>
  <p:handoutMasterIdLst>
    <p:handoutMasterId r:id="rId9"/>
  </p:handoutMasterIdLst>
  <p:sldIdLst>
    <p:sldId id="2230" r:id="rId3"/>
    <p:sldId id="7217" r:id="rId4"/>
    <p:sldId id="2251" r:id="rId5"/>
    <p:sldId id="2252" r:id="rId6"/>
    <p:sldId id="7223" r:id="rId7"/>
  </p:sldIdLst>
  <p:sldSz cx="10160000" cy="5715000"/>
  <p:notesSz cx="6797675" cy="9928225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9" userDrawn="1">
          <p15:clr>
            <a:srgbClr val="A4A3A4"/>
          </p15:clr>
        </p15:guide>
        <p15:guide id="2" pos="4892" userDrawn="1">
          <p15:clr>
            <a:srgbClr val="A4A3A4"/>
          </p15:clr>
        </p15:guide>
        <p15:guide id="3" pos="25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elare" initials="" lastIdx="15" clrIdx="0"/>
  <p:cmAuthor id="1" name="洋 张" initials="洋" lastIdx="2" clrIdx="0"/>
  <p:cmAuthor id="2" name="HP" initials="H" lastIdx="1" clrIdx="1"/>
  <p:cmAuthor id="3" name="Microsoft Office 用户" initials="MO用" lastIdx="2" clrIdx="2"/>
  <p:cmAuthor id="4" name="雍之丶" initials="雍" lastIdx="9" clrIdx="3"/>
  <p:cmAuthor id="5" name="qinjian" initials="q" lastIdx="2" clrIdx="4"/>
  <p:cmAuthor id="6" name="wangmingcai" initials="w" lastIdx="3" clrIdx="5"/>
  <p:cmAuthor id="7" name="瑞丹 单" initials="瑞丹" lastIdx="1" clrIdx="6"/>
  <p:cmAuthor id="8" name="江 朱" initials="江" lastIdx="1" clrIdx="7"/>
  <p:cmAuthor id="9" name="张妮娜" initials="张妮娜" lastIdx="1" clrIdx="9"/>
  <p:cmAuthor id="10" name="Zhu captain" initials="Zc" lastIdx="3" clrIdx="7"/>
  <p:cmAuthor id="11" name="zhu jing" initials="zj" lastIdx="1" clrIdx="11"/>
  <p:cmAuthor id="12" name="Ge Xinliang" initials="G" lastIdx="5" clrIdx="13"/>
  <p:cmAuthor id="13" name="an123" initials="a" lastIdx="5" clrIdx="14"/>
  <p:cmAuthor id="14" name="孙妮" initials="孙妮" lastIdx="1" clrIdx="25"/>
  <p:cmAuthor id="15" name="沐色 微凉" initials="沐色" lastIdx="1" clrIdx="26"/>
  <p:cmAuthor id="16" name="sgcc" initials="s" lastIdx="9" clrIdx="19"/>
  <p:cmAuthor id="17" name="Dorrin" initials="D" lastIdx="1" clrIdx="27"/>
  <p:cmAuthor id="18" name="linqianhui" initials="l" lastIdx="1" clrIdx="17"/>
  <p:cmAuthor id="19" name="terry" initials="t" lastIdx="1" clrIdx="18"/>
  <p:cmAuthor id="20" name="kiki" initials="k" lastIdx="1" clrIdx="19"/>
  <p:cmAuthor id="21" name="杨静" initials="杨" lastIdx="18" clrIdx="20"/>
  <p:cmAuthor id="22" name="梁翀" initials="梁" lastIdx="1" clrIdx="21"/>
  <p:cmAuthor id="23" name="杨旭" initials="杨旭" lastIdx="1" clrIdx="21"/>
  <p:cmAuthor id="24" name="wuchunpeng-NB" initials="w" lastIdx="1" clrIdx="23"/>
  <p:cmAuthor id="25" name="F先生" initials="F" lastIdx="8" clrIdx="24"/>
  <p:cmAuthor id="26" name="余晗" initials="余" lastIdx="1" clrIdx="25"/>
  <p:cmAuthor id="27" name="Melody" initials="M" lastIdx="1" clrIdx="26"/>
  <p:cmAuthor id="28" name="94982" initials="9" lastIdx="1" clrIdx="27"/>
  <p:cmAuthor id="29" name="lijie" initials="l" lastIdx="1" clrIdx="28"/>
  <p:cmAuthor id="31" name="qm" initials="q" lastIdx="1" clrIdx="30"/>
  <p:cmAuthor id="33" name="Carl蔡司" initials="C" lastIdx="1" clrIdx="32"/>
  <p:cmAuthor id="34" name="ren" initials="r" lastIdx="3" clrIdx="33"/>
  <p:cmAuthor id="36" name="yuxuelei" initials="y" lastIdx="1" clrIdx="35"/>
  <p:cmAuthor id="971154294" name="胡庆浩" initials="胡" lastIdx="1" clrIdx="24"/>
  <p:cmAuthor id="38" name="张艺璇" initials="a" lastIdx="2" clrIdx="37"/>
  <p:cmAuthor id="41" name="86153" initials="8" lastIdx="1" clrIdx="40"/>
  <p:cmAuthor id="42" name="作者" initials="A" lastIdx="0" clrIdx="41"/>
  <p:cmAuthor id="43" name="朱 维佳" initials="朱" lastIdx="1" clrIdx="42"/>
  <p:cmAuthor id="45" name="ygsoft" initials="YG" lastIdx="1" clrIdx="64"/>
  <p:cmAuthor id="49" name="Fan Isaac" initials="FI" lastIdx="1" clrIdx="64"/>
  <p:cmAuthor id="50" name="Zhang Nathan" initials="ZN" lastIdx="1" clrIdx="65"/>
  <p:cmAuthor id="52" name="dodohik" initials="d" lastIdx="0" clrIdx="51"/>
  <p:cmAuthor id="53" name="一 凌" initials="一" lastIdx="0" clrIdx="52"/>
  <p:cmAuthor id="54" name="maggie" initials="m" lastIdx="0" clrIdx="53"/>
  <p:cmAuthor id="55" name="刘 振波" initials="刘" lastIdx="0" clrIdx="54"/>
  <p:cmAuthor id="56" name="shiqi gao" initials="sg" lastIdx="0" clrIdx="55"/>
  <p:cmAuthor id="57" name="CaiSen" initials="C" lastIdx="0" clrIdx="56"/>
  <p:cmAuthor id="58" name="hold" initials="h" lastIdx="0" clrIdx="57"/>
  <p:cmAuthor id="59" name="赵 杭" initials="赵" lastIdx="0" clrIdx="58"/>
  <p:cmAuthor id="60" name="陈帅" initials="Shuai" lastIdx="0" clrIdx="59"/>
  <p:cmAuthor id="61" name="2307" initials="2" lastIdx="0" clrIdx="60"/>
  <p:cmAuthor id="62" name="huawei" initials="h" lastIdx="0" clrIdx="61"/>
  <p:cmAuthor id="63" name="msi66" initials="m" lastIdx="0" clrIdx="62"/>
  <p:cmAuthor id="64" name="池笙涵csh" initials="池笙涵csh" lastIdx="0" clrIdx="63"/>
  <p:cmAuthor id="65" name="Administrator" initials="A" lastIdx="0" clrIdx="64"/>
  <p:cmAuthor id="66" name="admin" initials="a" lastIdx="0" clrIdx="65"/>
  <p:cmAuthor id="67" name="Xin" initials="X" lastIdx="0" clrIdx="66"/>
  <p:cmAuthor id="68" name="wl" initials="w" lastIdx="0" clrIdx="67"/>
  <p:cmAuthor id="69" name="Lijinping-PC" initials="L" lastIdx="0" clrIdx="68"/>
  <p:cmAuthor id="70" name="ppp" initials="p" lastIdx="0" clrIdx="69"/>
  <p:cmAuthor id="71" name="Augusto Conti" initials="AC" lastIdx="0" clrIdx="70"/>
  <p:cmAuthor id="72" name="Maggie Shi" initials="M" lastIdx="0" clrIdx="71"/>
  <p:cmAuthor id="73" name="MaggieShi" initials="M" lastIdx="0" clrIdx="72"/>
  <p:cmAuthor id="74" name="史梦洁" initials="史" lastIdx="0" clrIdx="73"/>
  <p:cmAuthor id="2000" name="蔡炎松_IFjyveUb" initials="authorId_1128255409" lastIdx="1633370503" clrIdx="0"/>
  <p:cmAuthor id="75" name="dengchunyu" initials="d" lastIdx="0" clrIdx="74"/>
  <p:cmAuthor id="2001" name="刘 珉" initials="刘" lastIdx="2" clrIdx="20"/>
  <p:cmAuthor id="76" name="yangjinrong" initials="y" lastIdx="0" clrIdx="75"/>
  <p:cmAuthor id="2002" name="Lucky" initials="L" lastIdx="1" clrIdx="21"/>
  <p:cmAuthor id="77" name="My" initials="M" lastIdx="1" clrIdx="26"/>
  <p:cmAuthor id="78" name="zhangshh" initials="z" lastIdx="1" clrIdx="66"/>
  <p:cmAuthor id="79" name="ida" initials="i" lastIdx="2" clrIdx="28"/>
  <p:cmAuthor id="80" name="孙" initials="孙" lastIdx="1" clrIdx="31"/>
  <p:cmAuthor id="81" name="chenghongxing" initials="chx" lastIdx="1" clrIdx="38"/>
  <p:cmAuthor id="82" name="wang hongyan" initials="r" lastIdx="0" clrIdx="81"/>
  <p:cmAuthor id="83" name="User" initials="U" lastIdx="0" clrIdx="82"/>
  <p:cmAuthor id="84" name="guoxi" initials="g" lastIdx="0" clrIdx="83"/>
  <p:cmAuthor id="85" name="HHF" initials="H" lastIdx="0" clrIdx="84"/>
  <p:cmAuthor id="86" name="CEPRI-0592" initials="C" lastIdx="0" clrIdx="85"/>
  <p:cmAuthor id="87" name="feiji" initials="f" lastIdx="0" clrIdx="86"/>
  <p:cmAuthor id="88" name="sun hao" initials="sh" lastIdx="0" clrIdx="87"/>
  <p:cmAuthor id="89" name="binwenzhang" initials="b" lastIdx="0" clrIdx="88"/>
  <p:cmAuthor id="90" name="^O^" initials="^" lastIdx="0" clrIdx="89"/>
  <p:cmAuthor id="91" name="Nature" initials="N" lastIdx="0" clrIdx="90"/>
  <p:cmAuthor id="92" name="刘浩" initials="刘" lastIdx="0" clrIdx="91"/>
  <p:cmAuthor id="93" name="lenovo" initials="l" lastIdx="0" clrIdx="92"/>
  <p:cmAuthor id="94" name="Mia Vida Villanueva" initials="MVV" lastIdx="0" clrIdx="93"/>
  <p:cmAuthor id="95" name="周 翔" initials="周" lastIdx="0" clrIdx="94"/>
  <p:cmAuthor id="96" name="1206988966@qq.com" initials="1" lastIdx="0" clrIdx="95"/>
  <p:cmAuthor id="97" name="宋洁然" initials="宋" lastIdx="0" clrIdx="96"/>
  <p:cmAuthor id="98" name="Wangzhi gang" initials="Wg" lastIdx="0" clrIdx="97"/>
  <p:cmAuthor id="99" name="ming qiu" initials="m" lastIdx="0" clrIdx="98"/>
  <p:cmAuthor id="100" name="姜伟光" initials="姜" lastIdx="0" clrIdx="99"/>
  <p:cmAuthor id="1127701991" name="牛佳宁" initials="牛" lastIdx="5" clrIdx="22"/>
  <p:cmAuthor id="101" name="hanxiao" initials="h" lastIdx="0" clrIdx="100"/>
  <p:cmAuthor id="102" name="子雄 周" initials="子雄" lastIdx="0" clrIdx="10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C8C93"/>
    <a:srgbClr val="01836F"/>
    <a:srgbClr val="31B6FD"/>
    <a:srgbClr val="7C9C1E"/>
    <a:srgbClr val="DCEE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450" y="129"/>
      </p:cViewPr>
      <p:guideLst>
        <p:guide orient="horz" pos="1579"/>
        <p:guide pos="4892"/>
        <p:guide pos="25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6573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0F9B84EA-7D68-4D60-9CB1-D50884785D1C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6573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发言内容：针对大规模训练集群通信延迟高、带宽利用率低的问题，课题组设计了设计了百节点异构算力网络架构，整体网络吞吐量提升约</a:t>
            </a:r>
            <a:r>
              <a:rPr lang="en-US" altLang="zh-CN" dirty="0">
                <a:sym typeface="+mn-ea"/>
              </a:rPr>
              <a:t>2.8</a:t>
            </a:r>
            <a:r>
              <a:rPr lang="zh-CN" altLang="en-US" dirty="0">
                <a:sym typeface="+mn-ea"/>
              </a:rPr>
              <a:t>倍，减少了网络部署复杂度和数据传输延迟。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发言内容：针对电力大模型研发应用全过程支撑问题，设计了基于电力行业大模型知识体系底座支撑的工具链架构，包含工具层和接口层。</a:t>
            </a:r>
          </a:p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发言内容：针对电力大模型工具碎片化问题，提出了大模型工具静态编排技术，面向</a:t>
            </a:r>
            <a:r>
              <a:rPr lang="en-US" altLang="zh-CN" dirty="0">
                <a:sym typeface="+mn-ea"/>
              </a:rPr>
              <a:t>32</a:t>
            </a:r>
            <a:r>
              <a:rPr lang="zh-CN" altLang="en-US" dirty="0">
                <a:sym typeface="+mn-ea"/>
              </a:rPr>
              <a:t>个大模型工具构建了</a:t>
            </a:r>
            <a:r>
              <a:rPr lang="en-US" altLang="zh-CN" dirty="0">
                <a:sym typeface="+mn-ea"/>
              </a:rPr>
              <a:t>7</a:t>
            </a:r>
            <a:r>
              <a:rPr lang="zh-CN" altLang="en-US" dirty="0">
                <a:sym typeface="+mn-ea"/>
              </a:rPr>
              <a:t>个大模型研发应用工作流</a:t>
            </a:r>
          </a:p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DE973-8292-BE36-E7EC-13544E2D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7F1EC6EB-D318-236B-7E6D-9F04B0DEA71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6700" cy="3722687"/>
          </a:xfrm>
        </p:spPr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AE882A04-31AD-F0CA-980A-DFAFEAE88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lIns="91399" tIns="45699" rIns="91399" bIns="45699" anchor="t" anchorCtr="0"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23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111125" y="624840"/>
            <a:ext cx="10048875" cy="635"/>
          </a:xfrm>
          <a:prstGeom prst="line">
            <a:avLst/>
          </a:prstGeom>
          <a:ln w="38100">
            <a:solidFill>
              <a:srgbClr val="0054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7000215" y="106511"/>
            <a:ext cx="3035636" cy="431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018E7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81925" y="5300663"/>
            <a:ext cx="2286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06FFA6D-E382-42F2-B4F3-03331E213A6F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8500" y="304800"/>
            <a:ext cx="8763000" cy="11049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9370" y="624840"/>
            <a:ext cx="10120630" cy="635"/>
          </a:xfrm>
          <a:prstGeom prst="line">
            <a:avLst/>
          </a:prstGeom>
          <a:ln w="38100">
            <a:solidFill>
              <a:srgbClr val="0054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4" name="文本框 2"/>
          <p:cNvSpPr txBox="1"/>
          <p:nvPr userDrawn="1"/>
        </p:nvSpPr>
        <p:spPr>
          <a:xfrm>
            <a:off x="7566025" y="92075"/>
            <a:ext cx="2474913" cy="46196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en-US" altLang="zh-CN" sz="2400" b="1" dirty="0">
                <a:solidFill>
                  <a:srgbClr val="018E7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rgbClr val="018E7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7000215" y="106511"/>
            <a:ext cx="3035636" cy="431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018E7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50175" y="5319713"/>
            <a:ext cx="2286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06FFA6D-E382-42F2-B4F3-03331E213A6F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8500" y="304800"/>
            <a:ext cx="8763000" cy="1104900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9370" y="624840"/>
            <a:ext cx="10120630" cy="635"/>
          </a:xfrm>
          <a:prstGeom prst="line">
            <a:avLst/>
          </a:prstGeom>
          <a:ln w="38100">
            <a:solidFill>
              <a:srgbClr val="0054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8" name="文本框 2"/>
          <p:cNvSpPr txBox="1"/>
          <p:nvPr userDrawn="1"/>
        </p:nvSpPr>
        <p:spPr>
          <a:xfrm>
            <a:off x="7566025" y="92075"/>
            <a:ext cx="2474913" cy="46196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en-US" altLang="zh-CN" sz="2400" b="1" dirty="0">
                <a:solidFill>
                  <a:srgbClr val="018E7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rgbClr val="018E7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7000215" y="106511"/>
            <a:ext cx="3035636" cy="431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018E7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50175" y="5319713"/>
            <a:ext cx="2286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06FFA6D-E382-42F2-B4F3-03331E213A6F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7"/>
          <p:cNvPicPr>
            <a:picLocks noChangeAspect="1" noChangeArrowheads="1"/>
          </p:cNvPicPr>
          <p:nvPr userDrawn="1"/>
        </p:nvPicPr>
        <p:blipFill>
          <a:blip r:embed="rId2" cstate="hqprint"/>
          <a:srcRect/>
          <a:stretch>
            <a:fillRect/>
          </a:stretch>
        </p:blipFill>
        <p:spPr bwMode="auto">
          <a:xfrm>
            <a:off x="0" y="0"/>
            <a:ext cx="10160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145728" name="直接连接符 7"/>
          <p:cNvCxnSpPr/>
          <p:nvPr userDrawn="1"/>
        </p:nvCxnSpPr>
        <p:spPr>
          <a:xfrm>
            <a:off x="263261" y="951177"/>
            <a:ext cx="9585854" cy="0"/>
          </a:xfrm>
          <a:prstGeom prst="line">
            <a:avLst/>
          </a:prstGeom>
          <a:noFill/>
          <a:ln w="6350" cap="flat" cmpd="sng">
            <a:solidFill>
              <a:srgbClr val="006666">
                <a:alpha val="100000"/>
              </a:srgbClr>
            </a:solidFill>
            <a:prstDash val="solid"/>
            <a:round/>
          </a:ln>
        </p:spPr>
      </p:cxnSp>
      <p:pic>
        <p:nvPicPr>
          <p:cNvPr id="2097152" name="图片 9" descr="eb6241d2be408162c44e44b6ccdfb61"/>
          <p:cNvPicPr/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7252229" y="112447"/>
            <a:ext cx="2713302" cy="71305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1" name="矩形 7"/>
          <p:cNvSpPr/>
          <p:nvPr userDrawn="1"/>
        </p:nvSpPr>
        <p:spPr>
          <a:xfrm>
            <a:off x="193146" y="935302"/>
            <a:ext cx="9792229" cy="992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76200" tIns="38100" rIns="76200" bIns="3810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4572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3716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182880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</a:lstStyle>
          <a:p>
            <a:pPr lvl="0" algn="ctr" eaLnBrk="1" latinLnBrk="1" hangingPunct="1"/>
            <a:endParaRPr lang="zh-CN" altLang="en-US" sz="1500">
              <a:solidFill>
                <a:srgbClr val="FFFFFF"/>
              </a:solidFill>
            </a:endParaRPr>
          </a:p>
        </p:txBody>
      </p:sp>
      <p:pic>
        <p:nvPicPr>
          <p:cNvPr id="2097153" name="Picture 1"/>
          <p:cNvPicPr/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7220479" y="11906"/>
            <a:ext cx="2751667" cy="907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4" name="Picture 1"/>
          <p:cNvPicPr/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6535209" y="0"/>
            <a:ext cx="3415771" cy="963083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2" name="日期占位符 3"/>
          <p:cNvSpPr>
            <a:spLocks noGrp="1"/>
          </p:cNvSpPr>
          <p:nvPr>
            <p:ph type="dt" sz="half" idx="2"/>
          </p:nvPr>
        </p:nvSpPr>
        <p:spPr>
          <a:xfrm>
            <a:off x="698500" y="5296959"/>
            <a:ext cx="2286000" cy="30427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5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380985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5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76197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5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142954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5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1523939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5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</a:lstStyle>
          <a:p>
            <a:pPr lvl="0" eaLnBrk="1" latinLnBrk="1" hangingPunct="1"/>
            <a:fld id="{566ABCEB-ACFC-4714-9973-3DA970169C29}" type="datetime1">
              <a:rPr lang="zh-CN" altLang="en-US" sz="1000">
                <a:solidFill>
                  <a:srgbClr val="898989"/>
                </a:solidFill>
              </a:rPr>
              <a:t>2025/12/23</a:t>
            </a:fld>
            <a:endParaRPr lang="zh-CN" altLang="en-US" sz="1000">
              <a:solidFill>
                <a:srgbClr val="898989"/>
              </a:solidFill>
            </a:endParaRPr>
          </a:p>
        </p:txBody>
      </p:sp>
      <p:sp>
        <p:nvSpPr>
          <p:cNvPr id="104858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365500" y="5296959"/>
            <a:ext cx="3429000" cy="30427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5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380985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5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76197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5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142954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5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1523939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5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</a:lstStyle>
          <a:p>
            <a:pPr lvl="0" algn="ctr" eaLnBrk="1" latinLnBrk="1" hangingPunct="1"/>
            <a:endParaRPr lang="zh-CN" altLang="en-US" sz="1000" b="1" i="1">
              <a:solidFill>
                <a:srgbClr val="898989"/>
              </a:solidFill>
            </a:endParaRPr>
          </a:p>
        </p:txBody>
      </p:sp>
      <p:sp>
        <p:nvSpPr>
          <p:cNvPr id="104858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01240" y="5398823"/>
            <a:ext cx="2286000" cy="30427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5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380985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5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761970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5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142954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5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1523939" indent="0" algn="l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500" b="0" i="0" u="none" baseline="0">
                <a:solidFill>
                  <a:schemeClr val="dk1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</a:lstStyle>
          <a:p>
            <a:pPr lvl="0" algn="r" eaLnBrk="1" latinLnBrk="1" hangingPunct="1"/>
            <a:fld id="{566ABCEB-ACFC-4714-9973-3DA970169C29}" type="slidenum">
              <a:rPr lang="zh-CN" altLang="en-US" sz="1167" b="1" i="1">
                <a:solidFill>
                  <a:srgbClr val="008080"/>
                </a:solidFill>
              </a:rPr>
              <a:t>‹#›</a:t>
            </a:fld>
            <a:endParaRPr lang="zh-CN" altLang="en-US" sz="1167" b="1" i="1">
              <a:solidFill>
                <a:srgbClr val="0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22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70000" y="935038"/>
            <a:ext cx="7620000" cy="1990725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70000" y="3001963"/>
            <a:ext cx="7620000" cy="137953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98500" y="5297488"/>
            <a:ext cx="2286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65500" y="5297488"/>
            <a:ext cx="3429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175500" y="5297488"/>
            <a:ext cx="2286000" cy="303213"/>
          </a:xfrm>
          <a:prstGeom prst="rect">
            <a:avLst/>
          </a:prstGeom>
        </p:spPr>
        <p:txBody>
          <a:bodyPr/>
          <a:lstStyle/>
          <a:p>
            <a:pPr fontAlgn="auto"/>
            <a:fld id="{406FFA6D-E382-42F2-B4F3-03331E213A6F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98500" y="5297488"/>
            <a:ext cx="2286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65500" y="5297488"/>
            <a:ext cx="3429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175500" y="5297488"/>
            <a:ext cx="2286000" cy="303213"/>
          </a:xfrm>
          <a:prstGeom prst="rect">
            <a:avLst/>
          </a:prstGeom>
        </p:spPr>
        <p:txBody>
          <a:bodyPr/>
          <a:lstStyle/>
          <a:p>
            <a:pPr fontAlgn="auto"/>
            <a:fld id="{406FFA6D-E382-42F2-B4F3-03331E213A6F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3738" y="1425575"/>
            <a:ext cx="8763000" cy="2376488"/>
          </a:xfr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93738" y="3824288"/>
            <a:ext cx="8763000" cy="125095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98500" y="5297488"/>
            <a:ext cx="2286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65500" y="5297488"/>
            <a:ext cx="3429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175500" y="5297488"/>
            <a:ext cx="2286000" cy="303213"/>
          </a:xfrm>
          <a:prstGeom prst="rect">
            <a:avLst/>
          </a:prstGeom>
        </p:spPr>
        <p:txBody>
          <a:bodyPr/>
          <a:lstStyle/>
          <a:p>
            <a:pPr fontAlgn="auto"/>
            <a:fld id="{406FFA6D-E382-42F2-B4F3-03331E213A6F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98500" y="1520825"/>
            <a:ext cx="4305300" cy="36274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156200" y="1520825"/>
            <a:ext cx="4305300" cy="36274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98500" y="5297488"/>
            <a:ext cx="2286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65500" y="5297488"/>
            <a:ext cx="3429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175500" y="5297488"/>
            <a:ext cx="2286000" cy="303213"/>
          </a:xfrm>
          <a:prstGeom prst="rect">
            <a:avLst/>
          </a:prstGeom>
        </p:spPr>
        <p:txBody>
          <a:bodyPr/>
          <a:lstStyle/>
          <a:p>
            <a:pPr fontAlgn="auto"/>
            <a:fld id="{406FFA6D-E382-42F2-B4F3-03331E213A6F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0088" y="304800"/>
            <a:ext cx="8763000" cy="1104900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700088" y="1401763"/>
            <a:ext cx="4297362" cy="6858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700088" y="2087563"/>
            <a:ext cx="4297362" cy="3070225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143500" y="1401763"/>
            <a:ext cx="4319588" cy="6858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143500" y="2087563"/>
            <a:ext cx="4319588" cy="3070225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98500" y="5297488"/>
            <a:ext cx="2286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65500" y="5297488"/>
            <a:ext cx="3429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7175500" y="5297488"/>
            <a:ext cx="2286000" cy="303213"/>
          </a:xfrm>
          <a:prstGeom prst="rect">
            <a:avLst/>
          </a:prstGeom>
        </p:spPr>
        <p:txBody>
          <a:bodyPr/>
          <a:lstStyle/>
          <a:p>
            <a:pPr fontAlgn="auto"/>
            <a:fld id="{406FFA6D-E382-42F2-B4F3-03331E213A6F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98500" y="5297488"/>
            <a:ext cx="2286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365500" y="5297488"/>
            <a:ext cx="3429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175500" y="5297488"/>
            <a:ext cx="2286000" cy="303213"/>
          </a:xfrm>
          <a:prstGeom prst="rect">
            <a:avLst/>
          </a:prstGeom>
        </p:spPr>
        <p:txBody>
          <a:bodyPr/>
          <a:lstStyle/>
          <a:p>
            <a:pPr fontAlgn="auto"/>
            <a:fld id="{406FFA6D-E382-42F2-B4F3-03331E213A6F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98500" y="5297488"/>
            <a:ext cx="2286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365500" y="5297488"/>
            <a:ext cx="3429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175500" y="5297488"/>
            <a:ext cx="2286000" cy="303213"/>
          </a:xfrm>
          <a:prstGeom prst="rect">
            <a:avLst/>
          </a:prstGeom>
        </p:spPr>
        <p:txBody>
          <a:bodyPr/>
          <a:lstStyle/>
          <a:p>
            <a:pPr fontAlgn="auto"/>
            <a:fld id="{406FFA6D-E382-42F2-B4F3-03331E213A6F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0088" y="381000"/>
            <a:ext cx="3276600" cy="13335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319588" y="822325"/>
            <a:ext cx="5143500" cy="40624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700088" y="1714500"/>
            <a:ext cx="3276600" cy="3176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98500" y="5297488"/>
            <a:ext cx="2286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65500" y="5297488"/>
            <a:ext cx="3429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175500" y="5297488"/>
            <a:ext cx="2286000" cy="303213"/>
          </a:xfrm>
          <a:prstGeom prst="rect">
            <a:avLst/>
          </a:prstGeom>
        </p:spPr>
        <p:txBody>
          <a:bodyPr/>
          <a:lstStyle/>
          <a:p>
            <a:pPr fontAlgn="auto"/>
            <a:fld id="{406FFA6D-E382-42F2-B4F3-03331E213A6F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0088" y="381000"/>
            <a:ext cx="3276600" cy="13335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319588" y="822325"/>
            <a:ext cx="5143500" cy="40624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700088" y="1714500"/>
            <a:ext cx="3276600" cy="3176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98500" y="5297488"/>
            <a:ext cx="2286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65500" y="5297488"/>
            <a:ext cx="3429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175500" y="5297488"/>
            <a:ext cx="2286000" cy="303213"/>
          </a:xfrm>
          <a:prstGeom prst="rect">
            <a:avLst/>
          </a:prstGeom>
        </p:spPr>
        <p:txBody>
          <a:bodyPr/>
          <a:lstStyle/>
          <a:p>
            <a:pPr fontAlgn="auto"/>
            <a:fld id="{406FFA6D-E382-42F2-B4F3-03331E213A6F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98500" y="5297488"/>
            <a:ext cx="2286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65500" y="5297488"/>
            <a:ext cx="3429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175500" y="5297488"/>
            <a:ext cx="2286000" cy="303213"/>
          </a:xfrm>
          <a:prstGeom prst="rect">
            <a:avLst/>
          </a:prstGeom>
        </p:spPr>
        <p:txBody>
          <a:bodyPr/>
          <a:lstStyle/>
          <a:p>
            <a:pPr fontAlgn="auto"/>
            <a:fld id="{406FFA6D-E382-42F2-B4F3-03331E213A6F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70750" y="304800"/>
            <a:ext cx="2190750" cy="4843463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98500" y="304800"/>
            <a:ext cx="6419850" cy="4843463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98500" y="5297488"/>
            <a:ext cx="2286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65500" y="5297488"/>
            <a:ext cx="3429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175500" y="5297488"/>
            <a:ext cx="2286000" cy="303213"/>
          </a:xfrm>
          <a:prstGeom prst="rect">
            <a:avLst/>
          </a:prstGeom>
        </p:spPr>
        <p:txBody>
          <a:bodyPr/>
          <a:lstStyle/>
          <a:p>
            <a:pPr fontAlgn="auto"/>
            <a:fld id="{406FFA6D-E382-42F2-B4F3-03331E213A6F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3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698500" y="304800"/>
            <a:ext cx="8763000" cy="11049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698500" y="1520825"/>
            <a:ext cx="8763000" cy="36274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 indent="-22860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98500" y="5297488"/>
            <a:ext cx="2286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365500" y="5297488"/>
            <a:ext cx="34290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8.xml"/><Relationship Id="rId18" Type="http://schemas.openxmlformats.org/officeDocument/2006/relationships/tags" Target="../tags/tag23.xml"/><Relationship Id="rId26" Type="http://schemas.openxmlformats.org/officeDocument/2006/relationships/tags" Target="../tags/tag31.xml"/><Relationship Id="rId3" Type="http://schemas.openxmlformats.org/officeDocument/2006/relationships/tags" Target="../tags/tag8.xml"/><Relationship Id="rId21" Type="http://schemas.openxmlformats.org/officeDocument/2006/relationships/tags" Target="../tags/tag26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5" Type="http://schemas.openxmlformats.org/officeDocument/2006/relationships/tags" Target="../tags/tag30.xml"/><Relationship Id="rId33" Type="http://schemas.openxmlformats.org/officeDocument/2006/relationships/image" Target="../media/image8.png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20" Type="http://schemas.openxmlformats.org/officeDocument/2006/relationships/tags" Target="../tags/tag25.xml"/><Relationship Id="rId29" Type="http://schemas.openxmlformats.org/officeDocument/2006/relationships/notesSlide" Target="../notesSlides/notesSlide2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24" Type="http://schemas.openxmlformats.org/officeDocument/2006/relationships/tags" Target="../tags/tag29.xml"/><Relationship Id="rId32" Type="http://schemas.openxmlformats.org/officeDocument/2006/relationships/image" Target="../media/image7.png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23" Type="http://schemas.openxmlformats.org/officeDocument/2006/relationships/tags" Target="../tags/tag28.xml"/><Relationship Id="rId28" Type="http://schemas.openxmlformats.org/officeDocument/2006/relationships/slideLayout" Target="../slideLayouts/slideLayout13.xml"/><Relationship Id="rId10" Type="http://schemas.openxmlformats.org/officeDocument/2006/relationships/tags" Target="../tags/tag15.xml"/><Relationship Id="rId19" Type="http://schemas.openxmlformats.org/officeDocument/2006/relationships/tags" Target="../tags/tag24.xml"/><Relationship Id="rId31" Type="http://schemas.openxmlformats.org/officeDocument/2006/relationships/image" Target="../media/image6.png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Relationship Id="rId22" Type="http://schemas.openxmlformats.org/officeDocument/2006/relationships/tags" Target="../tags/tag27.xml"/><Relationship Id="rId27" Type="http://schemas.openxmlformats.org/officeDocument/2006/relationships/tags" Target="../tags/tag32.xml"/><Relationship Id="rId30" Type="http://schemas.openxmlformats.org/officeDocument/2006/relationships/image" Target="../media/image5.png"/><Relationship Id="rId8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35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slideLayout" Target="../slideLayouts/slideLayout4.xml"/><Relationship Id="rId11" Type="http://schemas.openxmlformats.org/officeDocument/2006/relationships/image" Target="../media/image5.png"/><Relationship Id="rId5" Type="http://schemas.openxmlformats.org/officeDocument/2006/relationships/tags" Target="../tags/tag37.xml"/><Relationship Id="rId10" Type="http://schemas.openxmlformats.org/officeDocument/2006/relationships/image" Target="../media/image8.png"/><Relationship Id="rId4" Type="http://schemas.openxmlformats.org/officeDocument/2006/relationships/tags" Target="../tags/tag36.xm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tags" Target="../tags/tag55.xml"/><Relationship Id="rId18" Type="http://schemas.openxmlformats.org/officeDocument/2006/relationships/tags" Target="../tags/tag60.xml"/><Relationship Id="rId26" Type="http://schemas.openxmlformats.org/officeDocument/2006/relationships/image" Target="../media/image14.png"/><Relationship Id="rId3" Type="http://schemas.openxmlformats.org/officeDocument/2006/relationships/tags" Target="../tags/tag45.xml"/><Relationship Id="rId21" Type="http://schemas.openxmlformats.org/officeDocument/2006/relationships/image" Target="../media/image9.png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tags" Target="../tags/tag59.xml"/><Relationship Id="rId25" Type="http://schemas.openxmlformats.org/officeDocument/2006/relationships/image" Target="../media/image13.png"/><Relationship Id="rId2" Type="http://schemas.openxmlformats.org/officeDocument/2006/relationships/tags" Target="../tags/tag44.xml"/><Relationship Id="rId16" Type="http://schemas.openxmlformats.org/officeDocument/2006/relationships/tags" Target="../tags/tag58.xml"/><Relationship Id="rId20" Type="http://schemas.openxmlformats.org/officeDocument/2006/relationships/notesSlide" Target="../notesSlides/notesSlide5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24" Type="http://schemas.openxmlformats.org/officeDocument/2006/relationships/image" Target="../media/image12.png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23" Type="http://schemas.openxmlformats.org/officeDocument/2006/relationships/image" Target="../media/image11.png"/><Relationship Id="rId28" Type="http://schemas.openxmlformats.org/officeDocument/2006/relationships/image" Target="../media/image16.png"/><Relationship Id="rId10" Type="http://schemas.openxmlformats.org/officeDocument/2006/relationships/tags" Target="../tags/tag52.xml"/><Relationship Id="rId19" Type="http://schemas.openxmlformats.org/officeDocument/2006/relationships/slideLayout" Target="../slideLayouts/slideLayout10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Relationship Id="rId22" Type="http://schemas.openxmlformats.org/officeDocument/2006/relationships/image" Target="../media/image10.png"/><Relationship Id="rId27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1"/>
          <p:cNvSpPr txBox="1"/>
          <p:nvPr/>
        </p:nvSpPr>
        <p:spPr>
          <a:xfrm>
            <a:off x="6648971" y="5356755"/>
            <a:ext cx="3500849" cy="304271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57148" tIns="28573" rIns="57148" bIns="28573" numCol="1" anchor="t" anchorCtr="0" compatLnSpc="1"/>
          <a:lstStyle>
            <a:defPPr>
              <a:defRPr lang="zh-CN"/>
            </a:defPPr>
            <a:lvl1pPr marL="0" algn="r" defTabSz="914400" rtl="0" eaLnBrk="1" latinLnBrk="0" hangingPunct="1"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83EE7F0-DC5E-409B-BE0A-FF8F3CE65925}" type="slidenum">
              <a:rPr lang="zh-CN" altLang="zh-CN" sz="1165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fld>
            <a:endParaRPr lang="zh-CN" altLang="zh-CN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DFB20F53-F55A-D7C9-89E0-468C244BA611}"/>
              </a:ext>
            </a:extLst>
          </p:cNvPr>
          <p:cNvGrpSpPr/>
          <p:nvPr/>
        </p:nvGrpSpPr>
        <p:grpSpPr>
          <a:xfrm>
            <a:off x="206565" y="571786"/>
            <a:ext cx="9685617" cy="4784969"/>
            <a:chOff x="270678" y="657817"/>
            <a:chExt cx="9685617" cy="478496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5672D10C-D0C3-22F5-17BD-466F9BDFAFC1}"/>
                </a:ext>
              </a:extLst>
            </p:cNvPr>
            <p:cNvGrpSpPr/>
            <p:nvPr/>
          </p:nvGrpSpPr>
          <p:grpSpPr>
            <a:xfrm>
              <a:off x="270678" y="1685659"/>
              <a:ext cx="575057" cy="2924123"/>
              <a:chOff x="291390" y="2434710"/>
              <a:chExt cx="575057" cy="2924123"/>
            </a:xfrm>
          </p:grpSpPr>
          <p:sp>
            <p:nvSpPr>
              <p:cNvPr id="100" name="矩形 82"/>
              <p:cNvSpPr/>
              <p:nvPr/>
            </p:nvSpPr>
            <p:spPr bwMode="auto">
              <a:xfrm>
                <a:off x="291390" y="2434710"/>
                <a:ext cx="360000" cy="2924123"/>
              </a:xfrm>
              <a:prstGeom prst="rect">
                <a:avLst/>
              </a:prstGeom>
              <a:solidFill>
                <a:srgbClr val="238586"/>
              </a:solidFill>
              <a:ln>
                <a:noFill/>
              </a:ln>
              <a:effectLst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边缘数据管理终端</a:t>
                </a:r>
              </a:p>
            </p:txBody>
          </p:sp>
          <p:sp>
            <p:nvSpPr>
              <p:cNvPr id="11" name="等腰三角形 10"/>
              <p:cNvSpPr/>
              <p:nvPr/>
            </p:nvSpPr>
            <p:spPr bwMode="auto">
              <a:xfrm rot="5400000">
                <a:off x="623634" y="3817339"/>
                <a:ext cx="260799" cy="224827"/>
              </a:xfrm>
              <a:prstGeom prst="triangle">
                <a:avLst/>
              </a:prstGeom>
              <a:solidFill>
                <a:srgbClr val="238586"/>
              </a:solidFill>
              <a:ln w="508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4400" b="0" i="0" u="none" strike="noStrike" cap="none" normalizeH="0" baseline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endParaRPr>
              </a:p>
            </p:txBody>
          </p:sp>
        </p:grpSp>
        <p:sp>
          <p:nvSpPr>
            <p:cNvPr id="10" name="箭头: 下 3">
              <a:extLst>
                <a:ext uri="{FF2B5EF4-FFF2-40B4-BE49-F238E27FC236}">
                  <a16:creationId xmlns:a16="http://schemas.microsoft.com/office/drawing/2014/main" id="{7B27FB32-6D00-169C-EE40-9889105B1CF5}"/>
                </a:ext>
              </a:extLst>
            </p:cNvPr>
            <p:cNvSpPr/>
            <p:nvPr/>
          </p:nvSpPr>
          <p:spPr bwMode="auto">
            <a:xfrm rot="16200000">
              <a:off x="2683496" y="1426665"/>
              <a:ext cx="220847" cy="297140"/>
            </a:xfrm>
            <a:prstGeom prst="downArrow">
              <a:avLst>
                <a:gd name="adj1" fmla="val 56563"/>
                <a:gd name="adj2" fmla="val 5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8A6BE06C-FE97-D714-9F66-B27A17B3D9F9}"/>
                </a:ext>
              </a:extLst>
            </p:cNvPr>
            <p:cNvGrpSpPr/>
            <p:nvPr/>
          </p:nvGrpSpPr>
          <p:grpSpPr>
            <a:xfrm>
              <a:off x="927139" y="1087542"/>
              <a:ext cx="1578103" cy="4137838"/>
              <a:chOff x="1200098" y="967927"/>
              <a:chExt cx="1578103" cy="4137838"/>
            </a:xfrm>
          </p:grpSpPr>
          <p:sp>
            <p:nvSpPr>
              <p:cNvPr id="5" name="圆角矩形 11">
                <a:extLst>
                  <a:ext uri="{FF2B5EF4-FFF2-40B4-BE49-F238E27FC236}">
                    <a16:creationId xmlns:a16="http://schemas.microsoft.com/office/drawing/2014/main" id="{27B144EE-7ECD-3351-226E-A2633C11D44E}"/>
                  </a:ext>
                </a:extLst>
              </p:cNvPr>
              <p:cNvSpPr/>
              <p:nvPr/>
            </p:nvSpPr>
            <p:spPr>
              <a:xfrm>
                <a:off x="1323229" y="1233785"/>
                <a:ext cx="1328093" cy="665276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238586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6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边缘数据隔离封装模块</a:t>
                </a:r>
              </a:p>
            </p:txBody>
          </p:sp>
          <p:sp>
            <p:nvSpPr>
              <p:cNvPr id="7" name="圆角矩形 11">
                <a:extLst>
                  <a:ext uri="{FF2B5EF4-FFF2-40B4-BE49-F238E27FC236}">
                    <a16:creationId xmlns:a16="http://schemas.microsoft.com/office/drawing/2014/main" id="{546A08B4-2A46-5BD6-8EC0-9A9CBD0CFF34}"/>
                  </a:ext>
                </a:extLst>
              </p:cNvPr>
              <p:cNvSpPr/>
              <p:nvPr/>
            </p:nvSpPr>
            <p:spPr>
              <a:xfrm>
                <a:off x="1323228" y="2645825"/>
                <a:ext cx="1328093" cy="665276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238586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6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数据安全访问鉴权模块</a:t>
                </a:r>
              </a:p>
            </p:txBody>
          </p:sp>
          <p:sp>
            <p:nvSpPr>
              <p:cNvPr id="8" name="圆角矩形 11">
                <a:extLst>
                  <a:ext uri="{FF2B5EF4-FFF2-40B4-BE49-F238E27FC236}">
                    <a16:creationId xmlns:a16="http://schemas.microsoft.com/office/drawing/2014/main" id="{63848C69-2A87-95CA-F75A-A07874B93585}"/>
                  </a:ext>
                </a:extLst>
              </p:cNvPr>
              <p:cNvSpPr/>
              <p:nvPr/>
            </p:nvSpPr>
            <p:spPr>
              <a:xfrm>
                <a:off x="1323032" y="4148577"/>
                <a:ext cx="1328093" cy="665276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238586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6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系统管理模块</a:t>
                </a: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1AEE13EF-BCA9-D772-D288-1CE00CD6936B}"/>
                  </a:ext>
                </a:extLst>
              </p:cNvPr>
              <p:cNvSpPr/>
              <p:nvPr/>
            </p:nvSpPr>
            <p:spPr>
              <a:xfrm>
                <a:off x="1200098" y="967927"/>
                <a:ext cx="1578103" cy="4137838"/>
              </a:xfrm>
              <a:prstGeom prst="rect">
                <a:avLst/>
              </a:prstGeom>
              <a:noFill/>
              <a:ln w="12700" cap="flat" cmpd="sng" algn="ctr">
                <a:solidFill>
                  <a:srgbClr val="238586"/>
                </a:solidFill>
                <a:prstDash val="dash"/>
              </a:ln>
              <a:effectLst/>
            </p:spPr>
            <p:txBody>
              <a:bodyPr anchor="ctr"/>
              <a:lstStyle/>
              <a:p>
                <a:pPr indent="360045" algn="just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0" kern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  <a:sym typeface="+mn-ea"/>
                </a:endParaRPr>
              </a:p>
            </p:txBody>
          </p:sp>
        </p:grpSp>
        <p:grpSp>
          <p:nvGrpSpPr>
            <p:cNvPr id="140" name="组合 139">
              <a:extLst>
                <a:ext uri="{FF2B5EF4-FFF2-40B4-BE49-F238E27FC236}">
                  <a16:creationId xmlns:a16="http://schemas.microsoft.com/office/drawing/2014/main" id="{0E2931B1-5054-5503-4F1F-378697B8CB20}"/>
                </a:ext>
              </a:extLst>
            </p:cNvPr>
            <p:cNvGrpSpPr/>
            <p:nvPr/>
          </p:nvGrpSpPr>
          <p:grpSpPr>
            <a:xfrm>
              <a:off x="3098163" y="657817"/>
              <a:ext cx="6858132" cy="4784969"/>
              <a:chOff x="3144018" y="658779"/>
              <a:chExt cx="6858132" cy="4784969"/>
            </a:xfrm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C8A70C8F-73E1-F806-969E-BDA24C7D4BEA}"/>
                  </a:ext>
                </a:extLst>
              </p:cNvPr>
              <p:cNvGrpSpPr/>
              <p:nvPr/>
            </p:nvGrpSpPr>
            <p:grpSpPr>
              <a:xfrm>
                <a:off x="3148393" y="2373550"/>
                <a:ext cx="6839363" cy="1574071"/>
                <a:chOff x="3285156" y="808775"/>
                <a:chExt cx="6839363" cy="1574071"/>
              </a:xfrm>
            </p:grpSpPr>
            <p:grpSp>
              <p:nvGrpSpPr>
                <p:cNvPr id="36" name="组合 35">
                  <a:extLst>
                    <a:ext uri="{FF2B5EF4-FFF2-40B4-BE49-F238E27FC236}">
                      <a16:creationId xmlns:a16="http://schemas.microsoft.com/office/drawing/2014/main" id="{E91B6D86-CA30-204E-7FF5-0CFBDA62CD2D}"/>
                    </a:ext>
                  </a:extLst>
                </p:cNvPr>
                <p:cNvGrpSpPr/>
                <p:nvPr/>
              </p:nvGrpSpPr>
              <p:grpSpPr>
                <a:xfrm>
                  <a:off x="3285156" y="814722"/>
                  <a:ext cx="1578103" cy="1568124"/>
                  <a:chOff x="3285156" y="814722"/>
                  <a:chExt cx="1578103" cy="1568124"/>
                </a:xfrm>
              </p:grpSpPr>
              <p:sp>
                <p:nvSpPr>
                  <p:cNvPr id="12" name="圆角矩形 11">
                    <a:extLst>
                      <a:ext uri="{FF2B5EF4-FFF2-40B4-BE49-F238E27FC236}">
                        <a16:creationId xmlns:a16="http://schemas.microsoft.com/office/drawing/2014/main" id="{46859083-7A65-0DBB-995D-9167AEBF8462}"/>
                      </a:ext>
                    </a:extLst>
                  </p:cNvPr>
                  <p:cNvSpPr/>
                  <p:nvPr/>
                </p:nvSpPr>
                <p:spPr>
                  <a:xfrm>
                    <a:off x="3410162" y="867838"/>
                    <a:ext cx="1328093" cy="665276"/>
                  </a:xfrm>
                  <a:prstGeom prst="roundRect">
                    <a:avLst/>
                  </a:prstGeom>
                  <a:solidFill>
                    <a:srgbClr val="238586"/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lvl="0" algn="ctr">
                      <a:lnSpc>
                        <a:spcPct val="120000"/>
                      </a:lnSpc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安全认证组件</a:t>
                    </a:r>
                  </a:p>
                </p:txBody>
              </p:sp>
              <p:sp>
                <p:nvSpPr>
                  <p:cNvPr id="26" name="圆角矩形 11">
                    <a:extLst>
                      <a:ext uri="{FF2B5EF4-FFF2-40B4-BE49-F238E27FC236}">
                        <a16:creationId xmlns:a16="http://schemas.microsoft.com/office/drawing/2014/main" id="{1BE0E409-52D5-1B01-BD34-F68ABA5B29E6}"/>
                      </a:ext>
                    </a:extLst>
                  </p:cNvPr>
                  <p:cNvSpPr/>
                  <p:nvPr/>
                </p:nvSpPr>
                <p:spPr>
                  <a:xfrm>
                    <a:off x="3398793" y="1634529"/>
                    <a:ext cx="657184" cy="665276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en-US" altLang="zh-CN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JWT</a:t>
                    </a: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认证</a:t>
                    </a:r>
                  </a:p>
                </p:txBody>
              </p:sp>
              <p:sp>
                <p:nvSpPr>
                  <p:cNvPr id="27" name="圆角矩形 11">
                    <a:extLst>
                      <a:ext uri="{FF2B5EF4-FFF2-40B4-BE49-F238E27FC236}">
                        <a16:creationId xmlns:a16="http://schemas.microsoft.com/office/drawing/2014/main" id="{81482D1E-313A-5A95-B4F5-3F0E84E6DDC7}"/>
                      </a:ext>
                    </a:extLst>
                  </p:cNvPr>
                  <p:cNvSpPr/>
                  <p:nvPr/>
                </p:nvSpPr>
                <p:spPr>
                  <a:xfrm>
                    <a:off x="4101218" y="1634471"/>
                    <a:ext cx="703533" cy="665276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en-US" altLang="zh-CN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Token</a:t>
                    </a: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鉴权</a:t>
                    </a:r>
                  </a:p>
                </p:txBody>
              </p:sp>
              <p:sp>
                <p:nvSpPr>
                  <p:cNvPr id="35" name="矩形 34">
                    <a:extLst>
                      <a:ext uri="{FF2B5EF4-FFF2-40B4-BE49-F238E27FC236}">
                        <a16:creationId xmlns:a16="http://schemas.microsoft.com/office/drawing/2014/main" id="{7C7F1DE2-3FDA-D323-794A-CB0043AF189A}"/>
                      </a:ext>
                    </a:extLst>
                  </p:cNvPr>
                  <p:cNvSpPr/>
                  <p:nvPr/>
                </p:nvSpPr>
                <p:spPr>
                  <a:xfrm>
                    <a:off x="3285156" y="814722"/>
                    <a:ext cx="1578103" cy="1568124"/>
                  </a:xfrm>
                  <a:prstGeom prst="rect">
                    <a:avLst/>
                  </a:prstGeom>
                  <a:noFill/>
                  <a:ln w="12700" cap="flat" cmpd="sng" algn="ctr">
                    <a:solidFill>
                      <a:srgbClr val="238586"/>
                    </a:solidFill>
                    <a:prstDash val="dash"/>
                  </a:ln>
                  <a:effectLst/>
                </p:spPr>
                <p:txBody>
                  <a:bodyPr anchor="ctr"/>
                  <a:lstStyle/>
                  <a:p>
                    <a:pPr indent="360045" algn="just" fontAlgn="auto">
                      <a:lnSpc>
                        <a:spcPct val="13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宋体" panose="02010600030101010101" pitchFamily="2" charset="-122"/>
                      <a:sym typeface="+mn-ea"/>
                    </a:endParaRPr>
                  </a:p>
                </p:txBody>
              </p:sp>
            </p:grpSp>
            <p:grpSp>
              <p:nvGrpSpPr>
                <p:cNvPr id="80" name="组合 79">
                  <a:extLst>
                    <a:ext uri="{FF2B5EF4-FFF2-40B4-BE49-F238E27FC236}">
                      <a16:creationId xmlns:a16="http://schemas.microsoft.com/office/drawing/2014/main" id="{8CF607F7-DBCD-06B8-EA93-186C2F325F7F}"/>
                    </a:ext>
                  </a:extLst>
                </p:cNvPr>
                <p:cNvGrpSpPr/>
                <p:nvPr/>
              </p:nvGrpSpPr>
              <p:grpSpPr>
                <a:xfrm>
                  <a:off x="4976896" y="814722"/>
                  <a:ext cx="2518481" cy="1568124"/>
                  <a:chOff x="4976896" y="814722"/>
                  <a:chExt cx="2518481" cy="1568124"/>
                </a:xfrm>
              </p:grpSpPr>
              <p:sp>
                <p:nvSpPr>
                  <p:cNvPr id="39" name="圆角矩形 11">
                    <a:extLst>
                      <a:ext uri="{FF2B5EF4-FFF2-40B4-BE49-F238E27FC236}">
                        <a16:creationId xmlns:a16="http://schemas.microsoft.com/office/drawing/2014/main" id="{FB884890-D626-7601-BFEF-588BC44BEDB3}"/>
                      </a:ext>
                    </a:extLst>
                  </p:cNvPr>
                  <p:cNvSpPr/>
                  <p:nvPr/>
                </p:nvSpPr>
                <p:spPr>
                  <a:xfrm>
                    <a:off x="5080000" y="867838"/>
                    <a:ext cx="2297514" cy="665276"/>
                  </a:xfrm>
                  <a:prstGeom prst="roundRect">
                    <a:avLst/>
                  </a:prstGeom>
                  <a:solidFill>
                    <a:srgbClr val="238586"/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lvl="0" algn="ctr">
                      <a:lnSpc>
                        <a:spcPct val="120000"/>
                      </a:lnSpc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动态鉴权组件</a:t>
                    </a:r>
                  </a:p>
                </p:txBody>
              </p:sp>
              <p:sp>
                <p:nvSpPr>
                  <p:cNvPr id="41" name="圆角矩形 11">
                    <a:extLst>
                      <a:ext uri="{FF2B5EF4-FFF2-40B4-BE49-F238E27FC236}">
                        <a16:creationId xmlns:a16="http://schemas.microsoft.com/office/drawing/2014/main" id="{172099E7-B51E-1B12-5F71-F92B3E0B91AC}"/>
                      </a:ext>
                    </a:extLst>
                  </p:cNvPr>
                  <p:cNvSpPr/>
                  <p:nvPr/>
                </p:nvSpPr>
                <p:spPr>
                  <a:xfrm>
                    <a:off x="5073364" y="1642900"/>
                    <a:ext cx="535438" cy="665276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网关鉴权</a:t>
                    </a:r>
                  </a:p>
                </p:txBody>
              </p:sp>
              <p:sp>
                <p:nvSpPr>
                  <p:cNvPr id="43" name="圆角矩形 11">
                    <a:extLst>
                      <a:ext uri="{FF2B5EF4-FFF2-40B4-BE49-F238E27FC236}">
                        <a16:creationId xmlns:a16="http://schemas.microsoft.com/office/drawing/2014/main" id="{DA8F306F-5504-204A-CA14-FC385083B722}"/>
                      </a:ext>
                    </a:extLst>
                  </p:cNvPr>
                  <p:cNvSpPr/>
                  <p:nvPr/>
                </p:nvSpPr>
                <p:spPr>
                  <a:xfrm>
                    <a:off x="5662231" y="1639856"/>
                    <a:ext cx="994435" cy="665276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设备凭证校验</a:t>
                    </a:r>
                  </a:p>
                </p:txBody>
              </p:sp>
              <p:sp>
                <p:nvSpPr>
                  <p:cNvPr id="45" name="矩形 44">
                    <a:extLst>
                      <a:ext uri="{FF2B5EF4-FFF2-40B4-BE49-F238E27FC236}">
                        <a16:creationId xmlns:a16="http://schemas.microsoft.com/office/drawing/2014/main" id="{DA55E599-8B21-2DE2-20FF-BDAE4F05B89C}"/>
                      </a:ext>
                    </a:extLst>
                  </p:cNvPr>
                  <p:cNvSpPr/>
                  <p:nvPr/>
                </p:nvSpPr>
                <p:spPr>
                  <a:xfrm>
                    <a:off x="4976896" y="814722"/>
                    <a:ext cx="2518481" cy="1568124"/>
                  </a:xfrm>
                  <a:prstGeom prst="rect">
                    <a:avLst/>
                  </a:prstGeom>
                  <a:noFill/>
                  <a:ln w="12700" cap="flat" cmpd="sng" algn="ctr">
                    <a:solidFill>
                      <a:srgbClr val="238586"/>
                    </a:solidFill>
                    <a:prstDash val="dash"/>
                  </a:ln>
                  <a:effectLst/>
                </p:spPr>
                <p:txBody>
                  <a:bodyPr anchor="ctr"/>
                  <a:lstStyle/>
                  <a:p>
                    <a:pPr indent="360045" algn="just" fontAlgn="auto">
                      <a:lnSpc>
                        <a:spcPct val="13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宋体" panose="02010600030101010101" pitchFamily="2" charset="-122"/>
                      <a:sym typeface="+mn-ea"/>
                    </a:endParaRPr>
                  </a:p>
                </p:txBody>
              </p:sp>
              <p:sp>
                <p:nvSpPr>
                  <p:cNvPr id="70" name="圆角矩形 11">
                    <a:extLst>
                      <a:ext uri="{FF2B5EF4-FFF2-40B4-BE49-F238E27FC236}">
                        <a16:creationId xmlns:a16="http://schemas.microsoft.com/office/drawing/2014/main" id="{B775E279-754E-2084-9968-AA390912F72C}"/>
                      </a:ext>
                    </a:extLst>
                  </p:cNvPr>
                  <p:cNvSpPr/>
                  <p:nvPr/>
                </p:nvSpPr>
                <p:spPr>
                  <a:xfrm>
                    <a:off x="6706282" y="1642900"/>
                    <a:ext cx="702695" cy="665276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安全转发</a:t>
                    </a:r>
                  </a:p>
                </p:txBody>
              </p:sp>
            </p:grpSp>
            <p:grpSp>
              <p:nvGrpSpPr>
                <p:cNvPr id="81" name="组合 80">
                  <a:extLst>
                    <a:ext uri="{FF2B5EF4-FFF2-40B4-BE49-F238E27FC236}">
                      <a16:creationId xmlns:a16="http://schemas.microsoft.com/office/drawing/2014/main" id="{0F80034C-980E-0DFA-003C-17E83A853078}"/>
                    </a:ext>
                  </a:extLst>
                </p:cNvPr>
                <p:cNvGrpSpPr/>
                <p:nvPr/>
              </p:nvGrpSpPr>
              <p:grpSpPr>
                <a:xfrm>
                  <a:off x="7606038" y="808775"/>
                  <a:ext cx="2518481" cy="1568124"/>
                  <a:chOff x="4976896" y="814722"/>
                  <a:chExt cx="2518481" cy="1568124"/>
                </a:xfrm>
              </p:grpSpPr>
              <p:sp>
                <p:nvSpPr>
                  <p:cNvPr id="82" name="圆角矩形 11">
                    <a:extLst>
                      <a:ext uri="{FF2B5EF4-FFF2-40B4-BE49-F238E27FC236}">
                        <a16:creationId xmlns:a16="http://schemas.microsoft.com/office/drawing/2014/main" id="{0DF4A9CA-DD02-EADC-545D-AB34771D5C4E}"/>
                      </a:ext>
                    </a:extLst>
                  </p:cNvPr>
                  <p:cNvSpPr/>
                  <p:nvPr/>
                </p:nvSpPr>
                <p:spPr>
                  <a:xfrm>
                    <a:off x="5080000" y="867838"/>
                    <a:ext cx="2297514" cy="665276"/>
                  </a:xfrm>
                  <a:prstGeom prst="roundRect">
                    <a:avLst/>
                  </a:prstGeom>
                  <a:solidFill>
                    <a:srgbClr val="238586"/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lvl="0" algn="ctr">
                      <a:lnSpc>
                        <a:spcPct val="120000"/>
                      </a:lnSpc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威胁防护组件</a:t>
                    </a:r>
                  </a:p>
                </p:txBody>
              </p:sp>
              <p:sp>
                <p:nvSpPr>
                  <p:cNvPr id="83" name="圆角矩形 11">
                    <a:extLst>
                      <a:ext uri="{FF2B5EF4-FFF2-40B4-BE49-F238E27FC236}">
                        <a16:creationId xmlns:a16="http://schemas.microsoft.com/office/drawing/2014/main" id="{D299B5DC-A167-B133-369D-038FD0973920}"/>
                      </a:ext>
                    </a:extLst>
                  </p:cNvPr>
                  <p:cNvSpPr/>
                  <p:nvPr/>
                </p:nvSpPr>
                <p:spPr>
                  <a:xfrm>
                    <a:off x="5073364" y="1642900"/>
                    <a:ext cx="535438" cy="665276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机器学习</a:t>
                    </a:r>
                  </a:p>
                </p:txBody>
              </p:sp>
              <p:sp>
                <p:nvSpPr>
                  <p:cNvPr id="84" name="圆角矩形 11">
                    <a:extLst>
                      <a:ext uri="{FF2B5EF4-FFF2-40B4-BE49-F238E27FC236}">
                        <a16:creationId xmlns:a16="http://schemas.microsoft.com/office/drawing/2014/main" id="{725F0302-227E-F7EF-AEAF-A4F1416BCA68}"/>
                      </a:ext>
                    </a:extLst>
                  </p:cNvPr>
                  <p:cNvSpPr/>
                  <p:nvPr/>
                </p:nvSpPr>
                <p:spPr>
                  <a:xfrm>
                    <a:off x="5662231" y="1639856"/>
                    <a:ext cx="975667" cy="665276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多源安全行为采集</a:t>
                    </a:r>
                  </a:p>
                </p:txBody>
              </p:sp>
              <p:sp>
                <p:nvSpPr>
                  <p:cNvPr id="85" name="矩形 84">
                    <a:extLst>
                      <a:ext uri="{FF2B5EF4-FFF2-40B4-BE49-F238E27FC236}">
                        <a16:creationId xmlns:a16="http://schemas.microsoft.com/office/drawing/2014/main" id="{ECCBC0B4-538E-9976-C770-15181CB70463}"/>
                      </a:ext>
                    </a:extLst>
                  </p:cNvPr>
                  <p:cNvSpPr/>
                  <p:nvPr/>
                </p:nvSpPr>
                <p:spPr>
                  <a:xfrm>
                    <a:off x="4976896" y="814722"/>
                    <a:ext cx="2518481" cy="1568124"/>
                  </a:xfrm>
                  <a:prstGeom prst="rect">
                    <a:avLst/>
                  </a:prstGeom>
                  <a:noFill/>
                  <a:ln w="12700" cap="flat" cmpd="sng" algn="ctr">
                    <a:solidFill>
                      <a:srgbClr val="238586"/>
                    </a:solidFill>
                    <a:prstDash val="dash"/>
                  </a:ln>
                  <a:effectLst/>
                </p:spPr>
                <p:txBody>
                  <a:bodyPr anchor="ctr"/>
                  <a:lstStyle/>
                  <a:p>
                    <a:pPr indent="360045" algn="just" fontAlgn="auto">
                      <a:lnSpc>
                        <a:spcPct val="13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宋体" panose="02010600030101010101" pitchFamily="2" charset="-122"/>
                      <a:sym typeface="+mn-ea"/>
                    </a:endParaRPr>
                  </a:p>
                </p:txBody>
              </p:sp>
              <p:sp>
                <p:nvSpPr>
                  <p:cNvPr id="86" name="圆角矩形 11">
                    <a:extLst>
                      <a:ext uri="{FF2B5EF4-FFF2-40B4-BE49-F238E27FC236}">
                        <a16:creationId xmlns:a16="http://schemas.microsoft.com/office/drawing/2014/main" id="{AC676BE0-55F7-3C26-92DD-8D38561F62BE}"/>
                      </a:ext>
                    </a:extLst>
                  </p:cNvPr>
                  <p:cNvSpPr/>
                  <p:nvPr/>
                </p:nvSpPr>
                <p:spPr>
                  <a:xfrm>
                    <a:off x="6706282" y="1642900"/>
                    <a:ext cx="702695" cy="665276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威胁告警</a:t>
                    </a:r>
                  </a:p>
                </p:txBody>
              </p:sp>
            </p:grp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6826695E-6BA4-90EE-8516-BFE5063E65A1}"/>
                  </a:ext>
                </a:extLst>
              </p:cNvPr>
              <p:cNvGrpSpPr/>
              <p:nvPr/>
            </p:nvGrpSpPr>
            <p:grpSpPr>
              <a:xfrm>
                <a:off x="3162786" y="658779"/>
                <a:ext cx="6839363" cy="1574071"/>
                <a:chOff x="3285156" y="808775"/>
                <a:chExt cx="6839363" cy="1574071"/>
              </a:xfrm>
            </p:grpSpPr>
            <p:grpSp>
              <p:nvGrpSpPr>
                <p:cNvPr id="89" name="组合 88">
                  <a:extLst>
                    <a:ext uri="{FF2B5EF4-FFF2-40B4-BE49-F238E27FC236}">
                      <a16:creationId xmlns:a16="http://schemas.microsoft.com/office/drawing/2014/main" id="{2612A611-CE16-4BEF-3555-007EDDE80A2C}"/>
                    </a:ext>
                  </a:extLst>
                </p:cNvPr>
                <p:cNvGrpSpPr/>
                <p:nvPr/>
              </p:nvGrpSpPr>
              <p:grpSpPr>
                <a:xfrm>
                  <a:off x="3285156" y="814722"/>
                  <a:ext cx="1578103" cy="1568124"/>
                  <a:chOff x="3285156" y="814722"/>
                  <a:chExt cx="1578103" cy="1568124"/>
                </a:xfrm>
              </p:grpSpPr>
              <p:sp>
                <p:nvSpPr>
                  <p:cNvPr id="109" name="圆角矩形 11">
                    <a:extLst>
                      <a:ext uri="{FF2B5EF4-FFF2-40B4-BE49-F238E27FC236}">
                        <a16:creationId xmlns:a16="http://schemas.microsoft.com/office/drawing/2014/main" id="{BAFEA657-71DF-34F0-9228-4A21CADC2974}"/>
                      </a:ext>
                    </a:extLst>
                  </p:cNvPr>
                  <p:cNvSpPr/>
                  <p:nvPr/>
                </p:nvSpPr>
                <p:spPr>
                  <a:xfrm>
                    <a:off x="3410162" y="867838"/>
                    <a:ext cx="1328093" cy="665276"/>
                  </a:xfrm>
                  <a:prstGeom prst="roundRect">
                    <a:avLst/>
                  </a:prstGeom>
                  <a:solidFill>
                    <a:srgbClr val="238586"/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多用户隔离组件</a:t>
                    </a:r>
                  </a:p>
                </p:txBody>
              </p:sp>
              <p:sp>
                <p:nvSpPr>
                  <p:cNvPr id="110" name="圆角矩形 11">
                    <a:extLst>
                      <a:ext uri="{FF2B5EF4-FFF2-40B4-BE49-F238E27FC236}">
                        <a16:creationId xmlns:a16="http://schemas.microsoft.com/office/drawing/2014/main" id="{98BB6A2C-A8AD-AC69-A42B-C5FF416837F7}"/>
                      </a:ext>
                    </a:extLst>
                  </p:cNvPr>
                  <p:cNvSpPr/>
                  <p:nvPr/>
                </p:nvSpPr>
                <p:spPr>
                  <a:xfrm>
                    <a:off x="3398793" y="1634529"/>
                    <a:ext cx="657184" cy="665276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数据隔离</a:t>
                    </a:r>
                  </a:p>
                </p:txBody>
              </p:sp>
              <p:sp>
                <p:nvSpPr>
                  <p:cNvPr id="111" name="圆角矩形 11">
                    <a:extLst>
                      <a:ext uri="{FF2B5EF4-FFF2-40B4-BE49-F238E27FC236}">
                        <a16:creationId xmlns:a16="http://schemas.microsoft.com/office/drawing/2014/main" id="{CF740206-3A7D-6699-5F58-BBBF3223F4C7}"/>
                      </a:ext>
                    </a:extLst>
                  </p:cNvPr>
                  <p:cNvSpPr/>
                  <p:nvPr/>
                </p:nvSpPr>
                <p:spPr>
                  <a:xfrm>
                    <a:off x="4101219" y="1634471"/>
                    <a:ext cx="657184" cy="665276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访问控制</a:t>
                    </a:r>
                  </a:p>
                </p:txBody>
              </p:sp>
              <p:sp>
                <p:nvSpPr>
                  <p:cNvPr id="112" name="矩形 111">
                    <a:extLst>
                      <a:ext uri="{FF2B5EF4-FFF2-40B4-BE49-F238E27FC236}">
                        <a16:creationId xmlns:a16="http://schemas.microsoft.com/office/drawing/2014/main" id="{5F6FB2AF-467E-4C21-B3BF-FA46456FA031}"/>
                      </a:ext>
                    </a:extLst>
                  </p:cNvPr>
                  <p:cNvSpPr/>
                  <p:nvPr/>
                </p:nvSpPr>
                <p:spPr>
                  <a:xfrm>
                    <a:off x="3285156" y="814722"/>
                    <a:ext cx="1578103" cy="1568124"/>
                  </a:xfrm>
                  <a:prstGeom prst="rect">
                    <a:avLst/>
                  </a:prstGeom>
                  <a:noFill/>
                  <a:ln w="12700" cap="flat" cmpd="sng" algn="ctr">
                    <a:solidFill>
                      <a:srgbClr val="238586"/>
                    </a:solidFill>
                    <a:prstDash val="dash"/>
                  </a:ln>
                  <a:effectLst/>
                </p:spPr>
                <p:txBody>
                  <a:bodyPr anchor="ctr"/>
                  <a:lstStyle/>
                  <a:p>
                    <a:pPr indent="360045" algn="just" fontAlgn="auto">
                      <a:lnSpc>
                        <a:spcPct val="13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宋体" panose="02010600030101010101" pitchFamily="2" charset="-122"/>
                      <a:sym typeface="+mn-ea"/>
                    </a:endParaRPr>
                  </a:p>
                </p:txBody>
              </p:sp>
            </p:grpSp>
            <p:grpSp>
              <p:nvGrpSpPr>
                <p:cNvPr id="90" name="组合 89">
                  <a:extLst>
                    <a:ext uri="{FF2B5EF4-FFF2-40B4-BE49-F238E27FC236}">
                      <a16:creationId xmlns:a16="http://schemas.microsoft.com/office/drawing/2014/main" id="{8F021E72-BC21-1C77-0071-91C0A76FF2D8}"/>
                    </a:ext>
                  </a:extLst>
                </p:cNvPr>
                <p:cNvGrpSpPr/>
                <p:nvPr/>
              </p:nvGrpSpPr>
              <p:grpSpPr>
                <a:xfrm>
                  <a:off x="4976896" y="814722"/>
                  <a:ext cx="2518481" cy="1568124"/>
                  <a:chOff x="4976896" y="814722"/>
                  <a:chExt cx="2518481" cy="1568124"/>
                </a:xfrm>
              </p:grpSpPr>
              <p:sp>
                <p:nvSpPr>
                  <p:cNvPr id="97" name="圆角矩形 11">
                    <a:extLst>
                      <a:ext uri="{FF2B5EF4-FFF2-40B4-BE49-F238E27FC236}">
                        <a16:creationId xmlns:a16="http://schemas.microsoft.com/office/drawing/2014/main" id="{E28669CE-98D7-B556-625F-A21998D53ABB}"/>
                      </a:ext>
                    </a:extLst>
                  </p:cNvPr>
                  <p:cNvSpPr/>
                  <p:nvPr/>
                </p:nvSpPr>
                <p:spPr>
                  <a:xfrm>
                    <a:off x="5080000" y="867838"/>
                    <a:ext cx="2297514" cy="665276"/>
                  </a:xfrm>
                  <a:prstGeom prst="roundRect">
                    <a:avLst/>
                  </a:prstGeom>
                  <a:solidFill>
                    <a:srgbClr val="238586"/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lvl="0" algn="ctr">
                      <a:lnSpc>
                        <a:spcPct val="120000"/>
                      </a:lnSpc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边云数据同步隔离组件</a:t>
                    </a:r>
                  </a:p>
                </p:txBody>
              </p:sp>
              <p:sp>
                <p:nvSpPr>
                  <p:cNvPr id="98" name="圆角矩形 11">
                    <a:extLst>
                      <a:ext uri="{FF2B5EF4-FFF2-40B4-BE49-F238E27FC236}">
                        <a16:creationId xmlns:a16="http://schemas.microsoft.com/office/drawing/2014/main" id="{16E8B5C6-7CEE-9D2B-19D8-805DBB5BB7B1}"/>
                      </a:ext>
                    </a:extLst>
                  </p:cNvPr>
                  <p:cNvSpPr/>
                  <p:nvPr/>
                </p:nvSpPr>
                <p:spPr>
                  <a:xfrm>
                    <a:off x="5073364" y="1642900"/>
                    <a:ext cx="535438" cy="665276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定时同步</a:t>
                    </a:r>
                  </a:p>
                </p:txBody>
              </p:sp>
              <p:sp>
                <p:nvSpPr>
                  <p:cNvPr id="99" name="圆角矩形 11">
                    <a:extLst>
                      <a:ext uri="{FF2B5EF4-FFF2-40B4-BE49-F238E27FC236}">
                        <a16:creationId xmlns:a16="http://schemas.microsoft.com/office/drawing/2014/main" id="{89A8322E-D1D2-4FA5-D5BE-4B891D10F4D2}"/>
                      </a:ext>
                    </a:extLst>
                  </p:cNvPr>
                  <p:cNvSpPr/>
                  <p:nvPr/>
                </p:nvSpPr>
                <p:spPr>
                  <a:xfrm>
                    <a:off x="5662231" y="1639856"/>
                    <a:ext cx="975667" cy="665276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实时视频帧捕获</a:t>
                    </a:r>
                  </a:p>
                </p:txBody>
              </p:sp>
              <p:sp>
                <p:nvSpPr>
                  <p:cNvPr id="106" name="矩形 105">
                    <a:extLst>
                      <a:ext uri="{FF2B5EF4-FFF2-40B4-BE49-F238E27FC236}">
                        <a16:creationId xmlns:a16="http://schemas.microsoft.com/office/drawing/2014/main" id="{B1BA4196-0F74-DB5E-FC3A-F80123902D00}"/>
                      </a:ext>
                    </a:extLst>
                  </p:cNvPr>
                  <p:cNvSpPr/>
                  <p:nvPr/>
                </p:nvSpPr>
                <p:spPr>
                  <a:xfrm>
                    <a:off x="4976896" y="814722"/>
                    <a:ext cx="2518481" cy="1568124"/>
                  </a:xfrm>
                  <a:prstGeom prst="rect">
                    <a:avLst/>
                  </a:prstGeom>
                  <a:noFill/>
                  <a:ln w="12700" cap="flat" cmpd="sng" algn="ctr">
                    <a:solidFill>
                      <a:srgbClr val="238586"/>
                    </a:solidFill>
                    <a:prstDash val="dash"/>
                  </a:ln>
                  <a:effectLst/>
                </p:spPr>
                <p:txBody>
                  <a:bodyPr anchor="ctr"/>
                  <a:lstStyle/>
                  <a:p>
                    <a:pPr indent="360045" algn="just" fontAlgn="auto">
                      <a:lnSpc>
                        <a:spcPct val="13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宋体" panose="02010600030101010101" pitchFamily="2" charset="-122"/>
                      <a:sym typeface="+mn-ea"/>
                    </a:endParaRPr>
                  </a:p>
                </p:txBody>
              </p:sp>
              <p:sp>
                <p:nvSpPr>
                  <p:cNvPr id="107" name="圆角矩形 11">
                    <a:extLst>
                      <a:ext uri="{FF2B5EF4-FFF2-40B4-BE49-F238E27FC236}">
                        <a16:creationId xmlns:a16="http://schemas.microsoft.com/office/drawing/2014/main" id="{EB55D9DC-6B75-8F0E-AF2E-888854C5ECCF}"/>
                      </a:ext>
                    </a:extLst>
                  </p:cNvPr>
                  <p:cNvSpPr/>
                  <p:nvPr/>
                </p:nvSpPr>
                <p:spPr>
                  <a:xfrm>
                    <a:off x="6706282" y="1642900"/>
                    <a:ext cx="702695" cy="665276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云端安全存储</a:t>
                    </a:r>
                  </a:p>
                </p:txBody>
              </p:sp>
            </p:grpSp>
            <p:grpSp>
              <p:nvGrpSpPr>
                <p:cNvPr id="91" name="组合 90">
                  <a:extLst>
                    <a:ext uri="{FF2B5EF4-FFF2-40B4-BE49-F238E27FC236}">
                      <a16:creationId xmlns:a16="http://schemas.microsoft.com/office/drawing/2014/main" id="{E2E24AD3-687A-D18E-C86C-6327D80DB983}"/>
                    </a:ext>
                  </a:extLst>
                </p:cNvPr>
                <p:cNvGrpSpPr/>
                <p:nvPr/>
              </p:nvGrpSpPr>
              <p:grpSpPr>
                <a:xfrm>
                  <a:off x="7606038" y="808775"/>
                  <a:ext cx="2518481" cy="1568124"/>
                  <a:chOff x="4976896" y="814722"/>
                  <a:chExt cx="2518481" cy="1568124"/>
                </a:xfrm>
              </p:grpSpPr>
              <p:sp>
                <p:nvSpPr>
                  <p:cNvPr id="92" name="圆角矩形 11">
                    <a:extLst>
                      <a:ext uri="{FF2B5EF4-FFF2-40B4-BE49-F238E27FC236}">
                        <a16:creationId xmlns:a16="http://schemas.microsoft.com/office/drawing/2014/main" id="{1461E250-49CA-F686-931D-A5B1B6083530}"/>
                      </a:ext>
                    </a:extLst>
                  </p:cNvPr>
                  <p:cNvSpPr/>
                  <p:nvPr/>
                </p:nvSpPr>
                <p:spPr>
                  <a:xfrm>
                    <a:off x="5080000" y="867838"/>
                    <a:ext cx="2297514" cy="665276"/>
                  </a:xfrm>
                  <a:prstGeom prst="roundRect">
                    <a:avLst/>
                  </a:prstGeom>
                  <a:solidFill>
                    <a:srgbClr val="238586"/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lvl="0" algn="ctr">
                      <a:lnSpc>
                        <a:spcPct val="120000"/>
                      </a:lnSpc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计算资源自适应调度与优化组件</a:t>
                    </a:r>
                  </a:p>
                </p:txBody>
              </p:sp>
              <p:sp>
                <p:nvSpPr>
                  <p:cNvPr id="93" name="圆角矩形 11">
                    <a:extLst>
                      <a:ext uri="{FF2B5EF4-FFF2-40B4-BE49-F238E27FC236}">
                        <a16:creationId xmlns:a16="http://schemas.microsoft.com/office/drawing/2014/main" id="{E578B5DC-78EB-BAFC-AD4A-7A8604763B39}"/>
                      </a:ext>
                    </a:extLst>
                  </p:cNvPr>
                  <p:cNvSpPr/>
                  <p:nvPr/>
                </p:nvSpPr>
                <p:spPr>
                  <a:xfrm>
                    <a:off x="5073364" y="1642900"/>
                    <a:ext cx="535438" cy="665276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资源回收</a:t>
                    </a:r>
                  </a:p>
                </p:txBody>
              </p:sp>
              <p:sp>
                <p:nvSpPr>
                  <p:cNvPr id="94" name="圆角矩形 11">
                    <a:extLst>
                      <a:ext uri="{FF2B5EF4-FFF2-40B4-BE49-F238E27FC236}">
                        <a16:creationId xmlns:a16="http://schemas.microsoft.com/office/drawing/2014/main" id="{545CF11D-205E-BDB3-9D4D-6290EBDF0F93}"/>
                      </a:ext>
                    </a:extLst>
                  </p:cNvPr>
                  <p:cNvSpPr/>
                  <p:nvPr/>
                </p:nvSpPr>
                <p:spPr>
                  <a:xfrm>
                    <a:off x="5662231" y="1639856"/>
                    <a:ext cx="975667" cy="665276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生命周期管理</a:t>
                    </a:r>
                  </a:p>
                </p:txBody>
              </p:sp>
              <p:sp>
                <p:nvSpPr>
                  <p:cNvPr id="95" name="矩形 94">
                    <a:extLst>
                      <a:ext uri="{FF2B5EF4-FFF2-40B4-BE49-F238E27FC236}">
                        <a16:creationId xmlns:a16="http://schemas.microsoft.com/office/drawing/2014/main" id="{255CE4C7-E320-971F-AF36-09153BA7DB12}"/>
                      </a:ext>
                    </a:extLst>
                  </p:cNvPr>
                  <p:cNvSpPr/>
                  <p:nvPr/>
                </p:nvSpPr>
                <p:spPr>
                  <a:xfrm>
                    <a:off x="4976896" y="814722"/>
                    <a:ext cx="2518481" cy="1568124"/>
                  </a:xfrm>
                  <a:prstGeom prst="rect">
                    <a:avLst/>
                  </a:prstGeom>
                  <a:noFill/>
                  <a:ln w="12700" cap="flat" cmpd="sng" algn="ctr">
                    <a:solidFill>
                      <a:srgbClr val="238586"/>
                    </a:solidFill>
                    <a:prstDash val="dash"/>
                  </a:ln>
                  <a:effectLst/>
                </p:spPr>
                <p:txBody>
                  <a:bodyPr anchor="ctr"/>
                  <a:lstStyle/>
                  <a:p>
                    <a:pPr indent="360045" algn="just" fontAlgn="auto">
                      <a:lnSpc>
                        <a:spcPct val="13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宋体" panose="02010600030101010101" pitchFamily="2" charset="-122"/>
                      <a:sym typeface="+mn-ea"/>
                    </a:endParaRPr>
                  </a:p>
                </p:txBody>
              </p:sp>
              <p:sp>
                <p:nvSpPr>
                  <p:cNvPr id="96" name="圆角矩形 11">
                    <a:extLst>
                      <a:ext uri="{FF2B5EF4-FFF2-40B4-BE49-F238E27FC236}">
                        <a16:creationId xmlns:a16="http://schemas.microsoft.com/office/drawing/2014/main" id="{189730F8-25F7-FE03-D6D9-FB1EB9064B6A}"/>
                      </a:ext>
                    </a:extLst>
                  </p:cNvPr>
                  <p:cNvSpPr/>
                  <p:nvPr/>
                </p:nvSpPr>
                <p:spPr>
                  <a:xfrm>
                    <a:off x="6706282" y="1642900"/>
                    <a:ext cx="702695" cy="665276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服务初始化</a:t>
                    </a:r>
                  </a:p>
                </p:txBody>
              </p:sp>
            </p:grpSp>
          </p:grpSp>
          <p:grpSp>
            <p:nvGrpSpPr>
              <p:cNvPr id="114" name="组合 113">
                <a:extLst>
                  <a:ext uri="{FF2B5EF4-FFF2-40B4-BE49-F238E27FC236}">
                    <a16:creationId xmlns:a16="http://schemas.microsoft.com/office/drawing/2014/main" id="{2F07239A-CC71-221D-87C6-2051664BC6B6}"/>
                  </a:ext>
                </a:extLst>
              </p:cNvPr>
              <p:cNvGrpSpPr/>
              <p:nvPr/>
            </p:nvGrpSpPr>
            <p:grpSpPr>
              <a:xfrm>
                <a:off x="3144018" y="4082288"/>
                <a:ext cx="6858132" cy="1361460"/>
                <a:chOff x="4976896" y="808775"/>
                <a:chExt cx="5147623" cy="1574071"/>
              </a:xfrm>
            </p:grpSpPr>
            <p:grpSp>
              <p:nvGrpSpPr>
                <p:cNvPr id="116" name="组合 115">
                  <a:extLst>
                    <a:ext uri="{FF2B5EF4-FFF2-40B4-BE49-F238E27FC236}">
                      <a16:creationId xmlns:a16="http://schemas.microsoft.com/office/drawing/2014/main" id="{6777A114-339D-4E20-5F15-C83828998D20}"/>
                    </a:ext>
                  </a:extLst>
                </p:cNvPr>
                <p:cNvGrpSpPr/>
                <p:nvPr/>
              </p:nvGrpSpPr>
              <p:grpSpPr>
                <a:xfrm>
                  <a:off x="4976896" y="814722"/>
                  <a:ext cx="2518481" cy="1568124"/>
                  <a:chOff x="4976896" y="814722"/>
                  <a:chExt cx="2518481" cy="1568124"/>
                </a:xfrm>
              </p:grpSpPr>
              <p:sp>
                <p:nvSpPr>
                  <p:cNvPr id="125" name="圆角矩形 11">
                    <a:extLst>
                      <a:ext uri="{FF2B5EF4-FFF2-40B4-BE49-F238E27FC236}">
                        <a16:creationId xmlns:a16="http://schemas.microsoft.com/office/drawing/2014/main" id="{7C83E146-398B-2234-800C-F48549229544}"/>
                      </a:ext>
                    </a:extLst>
                  </p:cNvPr>
                  <p:cNvSpPr/>
                  <p:nvPr/>
                </p:nvSpPr>
                <p:spPr>
                  <a:xfrm>
                    <a:off x="5080000" y="867838"/>
                    <a:ext cx="2297514" cy="665276"/>
                  </a:xfrm>
                  <a:prstGeom prst="roundRect">
                    <a:avLst/>
                  </a:prstGeom>
                  <a:solidFill>
                    <a:srgbClr val="238586"/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lvl="0" algn="ctr">
                      <a:lnSpc>
                        <a:spcPct val="120000"/>
                      </a:lnSpc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性能优化与反馈组件</a:t>
                    </a:r>
                  </a:p>
                </p:txBody>
              </p:sp>
              <p:sp>
                <p:nvSpPr>
                  <p:cNvPr id="126" name="圆角矩形 11">
                    <a:extLst>
                      <a:ext uri="{FF2B5EF4-FFF2-40B4-BE49-F238E27FC236}">
                        <a16:creationId xmlns:a16="http://schemas.microsoft.com/office/drawing/2014/main" id="{4646CE71-BBF2-6863-C127-E7A5915FF3B2}"/>
                      </a:ext>
                    </a:extLst>
                  </p:cNvPr>
                  <p:cNvSpPr/>
                  <p:nvPr/>
                </p:nvSpPr>
                <p:spPr>
                  <a:xfrm>
                    <a:off x="5073364" y="1642900"/>
                    <a:ext cx="535438" cy="665276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系统性能评估</a:t>
                    </a:r>
                  </a:p>
                </p:txBody>
              </p:sp>
              <p:sp>
                <p:nvSpPr>
                  <p:cNvPr id="127" name="圆角矩形 11">
                    <a:extLst>
                      <a:ext uri="{FF2B5EF4-FFF2-40B4-BE49-F238E27FC236}">
                        <a16:creationId xmlns:a16="http://schemas.microsoft.com/office/drawing/2014/main" id="{86CB2CD2-EE3D-882E-92D5-2946C14B18F8}"/>
                      </a:ext>
                    </a:extLst>
                  </p:cNvPr>
                  <p:cNvSpPr/>
                  <p:nvPr/>
                </p:nvSpPr>
                <p:spPr>
                  <a:xfrm>
                    <a:off x="5662232" y="1639856"/>
                    <a:ext cx="502452" cy="665277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模型性能评估</a:t>
                    </a:r>
                  </a:p>
                </p:txBody>
              </p:sp>
              <p:sp>
                <p:nvSpPr>
                  <p:cNvPr id="128" name="矩形 127">
                    <a:extLst>
                      <a:ext uri="{FF2B5EF4-FFF2-40B4-BE49-F238E27FC236}">
                        <a16:creationId xmlns:a16="http://schemas.microsoft.com/office/drawing/2014/main" id="{E7C73E81-E747-D0C3-9579-FBCDA8EC63D6}"/>
                      </a:ext>
                    </a:extLst>
                  </p:cNvPr>
                  <p:cNvSpPr/>
                  <p:nvPr/>
                </p:nvSpPr>
                <p:spPr>
                  <a:xfrm>
                    <a:off x="4976896" y="814722"/>
                    <a:ext cx="2518481" cy="1568124"/>
                  </a:xfrm>
                  <a:prstGeom prst="rect">
                    <a:avLst/>
                  </a:prstGeom>
                  <a:noFill/>
                  <a:ln w="12700" cap="flat" cmpd="sng" algn="ctr">
                    <a:solidFill>
                      <a:srgbClr val="238586"/>
                    </a:solidFill>
                    <a:prstDash val="dash"/>
                  </a:ln>
                  <a:effectLst/>
                </p:spPr>
                <p:txBody>
                  <a:bodyPr anchor="ctr"/>
                  <a:lstStyle/>
                  <a:p>
                    <a:pPr indent="360045" algn="just" fontAlgn="auto">
                      <a:lnSpc>
                        <a:spcPct val="13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宋体" panose="02010600030101010101" pitchFamily="2" charset="-122"/>
                      <a:sym typeface="+mn-ea"/>
                    </a:endParaRPr>
                  </a:p>
                </p:txBody>
              </p:sp>
            </p:grpSp>
            <p:grpSp>
              <p:nvGrpSpPr>
                <p:cNvPr id="117" name="组合 116">
                  <a:extLst>
                    <a:ext uri="{FF2B5EF4-FFF2-40B4-BE49-F238E27FC236}">
                      <a16:creationId xmlns:a16="http://schemas.microsoft.com/office/drawing/2014/main" id="{A345D24C-AB37-4744-5948-888C0A21BF9D}"/>
                    </a:ext>
                  </a:extLst>
                </p:cNvPr>
                <p:cNvGrpSpPr/>
                <p:nvPr/>
              </p:nvGrpSpPr>
              <p:grpSpPr>
                <a:xfrm>
                  <a:off x="7606038" y="808775"/>
                  <a:ext cx="2518481" cy="1568124"/>
                  <a:chOff x="4976896" y="814722"/>
                  <a:chExt cx="2518481" cy="1568124"/>
                </a:xfrm>
              </p:grpSpPr>
              <p:sp>
                <p:nvSpPr>
                  <p:cNvPr id="118" name="圆角矩形 11">
                    <a:extLst>
                      <a:ext uri="{FF2B5EF4-FFF2-40B4-BE49-F238E27FC236}">
                        <a16:creationId xmlns:a16="http://schemas.microsoft.com/office/drawing/2014/main" id="{C267172E-6CF1-A66F-0214-8305C772E08F}"/>
                      </a:ext>
                    </a:extLst>
                  </p:cNvPr>
                  <p:cNvSpPr/>
                  <p:nvPr/>
                </p:nvSpPr>
                <p:spPr>
                  <a:xfrm>
                    <a:off x="5080000" y="867838"/>
                    <a:ext cx="2297514" cy="665276"/>
                  </a:xfrm>
                  <a:prstGeom prst="roundRect">
                    <a:avLst/>
                  </a:prstGeom>
                  <a:solidFill>
                    <a:srgbClr val="238586"/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lvl="0" algn="ctr">
                      <a:lnSpc>
                        <a:spcPct val="120000"/>
                      </a:lnSpc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数据管理组件</a:t>
                    </a:r>
                  </a:p>
                </p:txBody>
              </p:sp>
              <p:sp>
                <p:nvSpPr>
                  <p:cNvPr id="119" name="圆角矩形 11">
                    <a:extLst>
                      <a:ext uri="{FF2B5EF4-FFF2-40B4-BE49-F238E27FC236}">
                        <a16:creationId xmlns:a16="http://schemas.microsoft.com/office/drawing/2014/main" id="{AE857DA2-CE08-7084-F635-C8DF8240079B}"/>
                      </a:ext>
                    </a:extLst>
                  </p:cNvPr>
                  <p:cNvSpPr/>
                  <p:nvPr/>
                </p:nvSpPr>
                <p:spPr>
                  <a:xfrm>
                    <a:off x="5086499" y="1642900"/>
                    <a:ext cx="478208" cy="665277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实时数据</a:t>
                    </a:r>
                  </a:p>
                </p:txBody>
              </p:sp>
              <p:sp>
                <p:nvSpPr>
                  <p:cNvPr id="123" name="矩形 122">
                    <a:extLst>
                      <a:ext uri="{FF2B5EF4-FFF2-40B4-BE49-F238E27FC236}">
                        <a16:creationId xmlns:a16="http://schemas.microsoft.com/office/drawing/2014/main" id="{F3CC3843-8A68-4526-85A9-086CED75D746}"/>
                      </a:ext>
                    </a:extLst>
                  </p:cNvPr>
                  <p:cNvSpPr/>
                  <p:nvPr/>
                </p:nvSpPr>
                <p:spPr>
                  <a:xfrm>
                    <a:off x="4976896" y="814722"/>
                    <a:ext cx="2518481" cy="1568124"/>
                  </a:xfrm>
                  <a:prstGeom prst="rect">
                    <a:avLst/>
                  </a:prstGeom>
                  <a:noFill/>
                  <a:ln w="12700" cap="flat" cmpd="sng" algn="ctr">
                    <a:solidFill>
                      <a:srgbClr val="238586"/>
                    </a:solidFill>
                    <a:prstDash val="dash"/>
                  </a:ln>
                  <a:effectLst/>
                </p:spPr>
                <p:txBody>
                  <a:bodyPr anchor="ctr"/>
                  <a:lstStyle/>
                  <a:p>
                    <a:pPr indent="360045" algn="just" fontAlgn="auto">
                      <a:lnSpc>
                        <a:spcPct val="13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1800" b="0" kern="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宋体" panose="02010600030101010101" pitchFamily="2" charset="-122"/>
                      <a:sym typeface="+mn-ea"/>
                    </a:endParaRPr>
                  </a:p>
                </p:txBody>
              </p:sp>
              <p:sp>
                <p:nvSpPr>
                  <p:cNvPr id="124" name="圆角矩形 11">
                    <a:extLst>
                      <a:ext uri="{FF2B5EF4-FFF2-40B4-BE49-F238E27FC236}">
                        <a16:creationId xmlns:a16="http://schemas.microsoft.com/office/drawing/2014/main" id="{C35BCDFB-62FC-C4D2-44C6-B7D5E3DF855E}"/>
                      </a:ext>
                    </a:extLst>
                  </p:cNvPr>
                  <p:cNvSpPr/>
                  <p:nvPr/>
                </p:nvSpPr>
                <p:spPr>
                  <a:xfrm>
                    <a:off x="6877085" y="1642899"/>
                    <a:ext cx="497452" cy="665277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数据标注</a:t>
                    </a:r>
                  </a:p>
                </p:txBody>
              </p:sp>
            </p:grpSp>
          </p:grpSp>
          <p:sp>
            <p:nvSpPr>
              <p:cNvPr id="134" name="圆角矩形 11">
                <a:extLst>
                  <a:ext uri="{FF2B5EF4-FFF2-40B4-BE49-F238E27FC236}">
                    <a16:creationId xmlns:a16="http://schemas.microsoft.com/office/drawing/2014/main" id="{AE6024A7-532A-AB8B-9E50-EF457C4031BB}"/>
                  </a:ext>
                </a:extLst>
              </p:cNvPr>
              <p:cNvSpPr/>
              <p:nvPr/>
            </p:nvSpPr>
            <p:spPr>
              <a:xfrm>
                <a:off x="4802627" y="4808122"/>
                <a:ext cx="669412" cy="575417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rgbClr val="238586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6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数据质量评估</a:t>
                </a:r>
              </a:p>
            </p:txBody>
          </p:sp>
          <p:sp>
            <p:nvSpPr>
              <p:cNvPr id="135" name="圆角矩形 11">
                <a:extLst>
                  <a:ext uri="{FF2B5EF4-FFF2-40B4-BE49-F238E27FC236}">
                    <a16:creationId xmlns:a16="http://schemas.microsoft.com/office/drawing/2014/main" id="{633522FC-CC35-2DBA-670E-238EE52FB155}"/>
                  </a:ext>
                </a:extLst>
              </p:cNvPr>
              <p:cNvSpPr/>
              <p:nvPr/>
            </p:nvSpPr>
            <p:spPr>
              <a:xfrm>
                <a:off x="5548169" y="4799372"/>
                <a:ext cx="869286" cy="575417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rgbClr val="238586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6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负面样本可视化</a:t>
                </a:r>
              </a:p>
            </p:txBody>
          </p:sp>
          <p:sp>
            <p:nvSpPr>
              <p:cNvPr id="136" name="圆角矩形 11">
                <a:extLst>
                  <a:ext uri="{FF2B5EF4-FFF2-40B4-BE49-F238E27FC236}">
                    <a16:creationId xmlns:a16="http://schemas.microsoft.com/office/drawing/2014/main" id="{58736A5C-5351-AA3D-C2E7-C028386E7D7B}"/>
                  </a:ext>
                </a:extLst>
              </p:cNvPr>
              <p:cNvSpPr/>
              <p:nvPr/>
            </p:nvSpPr>
            <p:spPr>
              <a:xfrm>
                <a:off x="7581130" y="4807353"/>
                <a:ext cx="640122" cy="575417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rgbClr val="238586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6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设备管理</a:t>
                </a:r>
              </a:p>
            </p:txBody>
          </p:sp>
          <p:sp>
            <p:nvSpPr>
              <p:cNvPr id="137" name="圆角矩形 11">
                <a:extLst>
                  <a:ext uri="{FF2B5EF4-FFF2-40B4-BE49-F238E27FC236}">
                    <a16:creationId xmlns:a16="http://schemas.microsoft.com/office/drawing/2014/main" id="{F715AD18-7BAE-3131-CA89-117B263B3C7B}"/>
                  </a:ext>
                </a:extLst>
              </p:cNvPr>
              <p:cNvSpPr/>
              <p:nvPr/>
            </p:nvSpPr>
            <p:spPr>
              <a:xfrm>
                <a:off x="8375229" y="4810821"/>
                <a:ext cx="662751" cy="575417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rgbClr val="238586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6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数据管理</a:t>
                </a:r>
              </a:p>
            </p:txBody>
          </p:sp>
        </p:grpSp>
        <p:sp>
          <p:nvSpPr>
            <p:cNvPr id="138" name="箭头: 下 3">
              <a:extLst>
                <a:ext uri="{FF2B5EF4-FFF2-40B4-BE49-F238E27FC236}">
                  <a16:creationId xmlns:a16="http://schemas.microsoft.com/office/drawing/2014/main" id="{8B408F04-CCD9-8163-FC0B-7FC5ACD08BAA}"/>
                </a:ext>
              </a:extLst>
            </p:cNvPr>
            <p:cNvSpPr/>
            <p:nvPr/>
          </p:nvSpPr>
          <p:spPr bwMode="auto">
            <a:xfrm rot="16200000">
              <a:off x="2678327" y="2949507"/>
              <a:ext cx="220847" cy="297140"/>
            </a:xfrm>
            <a:prstGeom prst="downArrow">
              <a:avLst>
                <a:gd name="adj1" fmla="val 56563"/>
                <a:gd name="adj2" fmla="val 5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139" name="箭头: 下 3">
              <a:extLst>
                <a:ext uri="{FF2B5EF4-FFF2-40B4-BE49-F238E27FC236}">
                  <a16:creationId xmlns:a16="http://schemas.microsoft.com/office/drawing/2014/main" id="{A0E12C39-0A1C-A42B-78D1-B0B0F5C8BEB1}"/>
                </a:ext>
              </a:extLst>
            </p:cNvPr>
            <p:cNvSpPr/>
            <p:nvPr/>
          </p:nvSpPr>
          <p:spPr bwMode="auto">
            <a:xfrm rot="16200000">
              <a:off x="2691279" y="4501530"/>
              <a:ext cx="220847" cy="297140"/>
            </a:xfrm>
            <a:prstGeom prst="downArrow">
              <a:avLst>
                <a:gd name="adj1" fmla="val 56563"/>
                <a:gd name="adj2" fmla="val 5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37FAB1CB-21D4-3F7F-213E-1C428D418928}"/>
              </a:ext>
            </a:extLst>
          </p:cNvPr>
          <p:cNvGrpSpPr/>
          <p:nvPr/>
        </p:nvGrpSpPr>
        <p:grpSpPr>
          <a:xfrm>
            <a:off x="369936" y="0"/>
            <a:ext cx="9190911" cy="389996"/>
            <a:chOff x="713" y="367"/>
            <a:chExt cx="11412" cy="737"/>
          </a:xfrm>
          <a:solidFill>
            <a:schemeClr val="accent3">
              <a:lumMod val="50000"/>
            </a:schemeClr>
          </a:solidFill>
        </p:grpSpPr>
        <p:sp>
          <p:nvSpPr>
            <p:cNvPr id="143" name="燕尾形 30">
              <a:extLst>
                <a:ext uri="{FF2B5EF4-FFF2-40B4-BE49-F238E27FC236}">
                  <a16:creationId xmlns:a16="http://schemas.microsoft.com/office/drawing/2014/main" id="{589324D5-94C9-F47C-B685-B82624D5296F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rot="10800000">
              <a:off x="1443" y="367"/>
              <a:ext cx="2907" cy="737"/>
            </a:xfrm>
            <a:prstGeom prst="chevron">
              <a:avLst>
                <a:gd name="adj" fmla="val 3708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44" name="燕尾形 30">
              <a:extLst>
                <a:ext uri="{FF2B5EF4-FFF2-40B4-BE49-F238E27FC236}">
                  <a16:creationId xmlns:a16="http://schemas.microsoft.com/office/drawing/2014/main" id="{85406F8F-9029-AB00-E60D-BB11EBD1713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10800000" flipH="1">
              <a:off x="3422" y="367"/>
              <a:ext cx="8703" cy="737"/>
            </a:xfrm>
            <a:prstGeom prst="chevron">
              <a:avLst>
                <a:gd name="adj" fmla="val 3708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45" name="TextBox 17">
              <a:extLst>
                <a:ext uri="{FF2B5EF4-FFF2-40B4-BE49-F238E27FC236}">
                  <a16:creationId xmlns:a16="http://schemas.microsoft.com/office/drawing/2014/main" id="{C93D7C28-983F-E3FF-7F75-F8BC4E936A77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1654" y="377"/>
              <a:ext cx="10184" cy="72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76200" tIns="38100" rIns="76200" bIns="38100" anchor="t">
              <a:spAutoFit/>
            </a:bodyPr>
            <a:lstStyle>
              <a:lvl1pPr marL="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1pPr>
              <a:lvl2pPr marL="4572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2pPr>
              <a:lvl3pPr marL="9144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3pPr>
              <a:lvl4pPr marL="13716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4pPr>
              <a:lvl5pPr marL="18288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5pPr>
            </a:lstStyle>
            <a:p>
              <a:pPr lvl="0"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一、系统总体架构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6" name="任意多边形: 形状 9">
              <a:extLst>
                <a:ext uri="{FF2B5EF4-FFF2-40B4-BE49-F238E27FC236}">
                  <a16:creationId xmlns:a16="http://schemas.microsoft.com/office/drawing/2014/main" id="{7AD8592A-786E-7D8F-F7ED-92E5DD039365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10800000">
              <a:off x="107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47" name="任意多边形: 形状 10">
              <a:extLst>
                <a:ext uri="{FF2B5EF4-FFF2-40B4-BE49-F238E27FC236}">
                  <a16:creationId xmlns:a16="http://schemas.microsoft.com/office/drawing/2014/main" id="{B3D61F28-B137-224F-05AC-8F05112A8F3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0800000">
              <a:off x="71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组合 99">
            <a:extLst>
              <a:ext uri="{FF2B5EF4-FFF2-40B4-BE49-F238E27FC236}">
                <a16:creationId xmlns:a16="http://schemas.microsoft.com/office/drawing/2014/main" id="{C0017BD0-3299-7F75-7938-22FCD0871970}"/>
              </a:ext>
            </a:extLst>
          </p:cNvPr>
          <p:cNvGrpSpPr/>
          <p:nvPr/>
        </p:nvGrpSpPr>
        <p:grpSpPr>
          <a:xfrm>
            <a:off x="262046" y="697129"/>
            <a:ext cx="9694364" cy="4706014"/>
            <a:chOff x="185676" y="833262"/>
            <a:chExt cx="11892362" cy="5870536"/>
          </a:xfrm>
        </p:grpSpPr>
        <p:pic>
          <p:nvPicPr>
            <p:cNvPr id="4" name="图片 3" descr="形状&#10;&#10;AI 生成的内容可能不正确。">
              <a:extLst>
                <a:ext uri="{FF2B5EF4-FFF2-40B4-BE49-F238E27FC236}">
                  <a16:creationId xmlns:a16="http://schemas.microsoft.com/office/drawing/2014/main" id="{3131CDC9-7B7C-E72F-C64F-67643F2E6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349095" y="1556032"/>
              <a:ext cx="648050" cy="648050"/>
            </a:xfrm>
            <a:prstGeom prst="rect">
              <a:avLst/>
            </a:prstGeom>
          </p:spPr>
        </p:pic>
        <p:pic>
          <p:nvPicPr>
            <p:cNvPr id="6" name="图片 5" descr="形状&#10;&#10;AI 生成的内容可能不正确。">
              <a:extLst>
                <a:ext uri="{FF2B5EF4-FFF2-40B4-BE49-F238E27FC236}">
                  <a16:creationId xmlns:a16="http://schemas.microsoft.com/office/drawing/2014/main" id="{5B7EC4F8-433D-649F-29E8-B8718C364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323692" y="2509992"/>
              <a:ext cx="648051" cy="648051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1B9B927-0964-13C6-D273-FD9E7FFE76C5}"/>
                </a:ext>
              </a:extLst>
            </p:cNvPr>
            <p:cNvSpPr txBox="1"/>
            <p:nvPr/>
          </p:nvSpPr>
          <p:spPr>
            <a:xfrm>
              <a:off x="318028" y="3335510"/>
              <a:ext cx="857776" cy="1151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边缘</a:t>
              </a:r>
              <a:endParaRPr lang="en-US" altLang="zh-CN" b="1" dirty="0"/>
            </a:p>
            <a:p>
              <a:r>
                <a:rPr lang="zh-CN" altLang="en-US" b="1" dirty="0"/>
                <a:t>设备</a:t>
              </a:r>
              <a:endParaRPr lang="en-US" altLang="zh-CN" b="1" dirty="0"/>
            </a:p>
            <a:p>
              <a:endParaRPr lang="zh-CN" altLang="en-US" dirty="0"/>
            </a:p>
          </p:txBody>
        </p:sp>
        <p:sp>
          <p:nvSpPr>
            <p:cNvPr id="12" name="圆角矩形 29">
              <a:extLst>
                <a:ext uri="{FF2B5EF4-FFF2-40B4-BE49-F238E27FC236}">
                  <a16:creationId xmlns:a16="http://schemas.microsoft.com/office/drawing/2014/main" id="{3C3285AD-56DF-BDAE-D1B0-5F75EB41714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2502919" y="845962"/>
              <a:ext cx="2704314" cy="917117"/>
            </a:xfrm>
            <a:prstGeom prst="roundRect">
              <a:avLst/>
            </a:prstGeom>
            <a:ln w="22225" cmpd="sng">
              <a:solidFill>
                <a:schemeClr val="accent3">
                  <a:lumMod val="50000"/>
                </a:schemeClr>
              </a:solidFill>
              <a:prstDash val="soli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Ins="149754" bIns="120121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zh-CN" altLang="en-US" sz="1333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数据采集模块</a:t>
              </a:r>
              <a:endParaRPr kumimoji="1" lang="en-US" altLang="zh-CN" sz="1333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50000"/>
                </a:lnSpc>
              </a:pPr>
              <a:r>
                <a:rPr kumimoji="1" lang="zh-CN" altLang="en-US" sz="1333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（实时采集边缘设备数据）</a:t>
              </a:r>
              <a:endParaRPr kumimoji="1" lang="zh-CN" altLang="en-US" sz="1333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右箭头 14">
              <a:extLst>
                <a:ext uri="{FF2B5EF4-FFF2-40B4-BE49-F238E27FC236}">
                  <a16:creationId xmlns:a16="http://schemas.microsoft.com/office/drawing/2014/main" id="{A0E27224-316A-E4BB-F14D-BAC657A5F7C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317649" y="1118138"/>
              <a:ext cx="906351" cy="251239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18" name="圆角矩形 29">
              <a:extLst>
                <a:ext uri="{FF2B5EF4-FFF2-40B4-BE49-F238E27FC236}">
                  <a16:creationId xmlns:a16="http://schemas.microsoft.com/office/drawing/2014/main" id="{6DBFE19C-8E2C-A72F-885D-1E66BB20A201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432853" y="833262"/>
              <a:ext cx="2704314" cy="917117"/>
            </a:xfrm>
            <a:prstGeom prst="roundRect">
              <a:avLst/>
            </a:prstGeom>
            <a:ln w="22225" cmpd="sng">
              <a:solidFill>
                <a:schemeClr val="accent3">
                  <a:lumMod val="50000"/>
                </a:schemeClr>
              </a:solidFill>
              <a:prstDash val="soli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Ins="149754" bIns="120121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zh-CN" altLang="en-US" sz="13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数据存储系统</a:t>
              </a:r>
              <a:endParaRPr kumimoji="1" lang="en-US" altLang="zh-CN" sz="1333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kumimoji="1" lang="zh-CN" altLang="en-US" sz="1333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（存储数据及图片）</a:t>
              </a:r>
            </a:p>
          </p:txBody>
        </p:sp>
        <p:sp>
          <p:nvSpPr>
            <p:cNvPr id="19" name="右箭头 14">
              <a:extLst>
                <a:ext uri="{FF2B5EF4-FFF2-40B4-BE49-F238E27FC236}">
                  <a16:creationId xmlns:a16="http://schemas.microsoft.com/office/drawing/2014/main" id="{BDCDFA10-E438-D2F6-97EA-60D01FF558A3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307342" y="1143539"/>
              <a:ext cx="906351" cy="251239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20" name="圆角矩形 29">
              <a:extLst>
                <a:ext uri="{FF2B5EF4-FFF2-40B4-BE49-F238E27FC236}">
                  <a16:creationId xmlns:a16="http://schemas.microsoft.com/office/drawing/2014/main" id="{0FBF258C-121E-2E05-F77A-7EEAC9CC3A23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281580" y="5303066"/>
              <a:ext cx="3193269" cy="1400732"/>
            </a:xfrm>
            <a:prstGeom prst="roundRect">
              <a:avLst/>
            </a:prstGeom>
            <a:ln w="22225" cmpd="sng">
              <a:solidFill>
                <a:schemeClr val="accent3">
                  <a:lumMod val="50000"/>
                </a:schemeClr>
              </a:solidFill>
              <a:prstDash val="soli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Ins="149754" bIns="120121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zh-CN" altLang="en-US" sz="13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前端展示系统</a:t>
              </a:r>
              <a:endParaRPr kumimoji="1" lang="en-US" altLang="zh-CN" sz="1333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kumimoji="1" lang="zh-CN" altLang="en-US" sz="1333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（展示图片数据、实时边端设备视频流、实时识别视频数据）</a:t>
              </a:r>
            </a:p>
          </p:txBody>
        </p:sp>
        <p:sp>
          <p:nvSpPr>
            <p:cNvPr id="21" name="圆角矩形 29">
              <a:extLst>
                <a:ext uri="{FF2B5EF4-FFF2-40B4-BE49-F238E27FC236}">
                  <a16:creationId xmlns:a16="http://schemas.microsoft.com/office/drawing/2014/main" id="{AC36135C-5181-5EBC-B4A8-02972E16DF5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577364" y="5307401"/>
              <a:ext cx="2558623" cy="1354112"/>
            </a:xfrm>
            <a:prstGeom prst="roundRect">
              <a:avLst/>
            </a:prstGeom>
            <a:ln w="22225" cmpd="sng">
              <a:solidFill>
                <a:schemeClr val="accent3">
                  <a:lumMod val="50000"/>
                </a:schemeClr>
              </a:solidFill>
              <a:prstDash val="soli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Ins="149754" bIns="120121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zh-CN" altLang="en-US" sz="1333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视频流转换服务</a:t>
              </a:r>
              <a:endParaRPr kumimoji="1" lang="en-US" altLang="zh-CN" sz="1333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50000"/>
                </a:lnSpc>
              </a:pPr>
              <a:r>
                <a:rPr kumimoji="1" lang="zh-CN" altLang="en-US" sz="1333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（将</a:t>
              </a:r>
              <a:r>
                <a:rPr kumimoji="1" lang="en-US" altLang="zh-CN" sz="1333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RTSP</a:t>
              </a:r>
              <a:r>
                <a:rPr kumimoji="1" lang="zh-CN" altLang="en-US" sz="1333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视频流转换为</a:t>
              </a:r>
              <a:r>
                <a:rPr kumimoji="1" lang="en-US" altLang="zh-CN" sz="1333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WS</a:t>
              </a:r>
              <a:r>
                <a:rPr kumimoji="1" lang="zh-CN" altLang="en-US" sz="1333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流供网页端展示）</a:t>
              </a:r>
              <a:endParaRPr kumimoji="1" lang="zh-CN" altLang="en-US" sz="1333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圆角矩形 29">
              <a:extLst>
                <a:ext uri="{FF2B5EF4-FFF2-40B4-BE49-F238E27FC236}">
                  <a16:creationId xmlns:a16="http://schemas.microsoft.com/office/drawing/2014/main" id="{7C2047D3-5788-3839-2260-72356EAE9E62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383866" y="1163046"/>
              <a:ext cx="1694172" cy="5204977"/>
            </a:xfrm>
            <a:prstGeom prst="roundRect">
              <a:avLst/>
            </a:prstGeom>
            <a:ln w="22225" cmpd="sng">
              <a:solidFill>
                <a:schemeClr val="accent3">
                  <a:lumMod val="50000"/>
                </a:schemeClr>
              </a:solidFill>
              <a:prstDash val="soli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Ins="149754" bIns="120121">
              <a:noAutofit/>
            </a:bodyPr>
            <a:lstStyle/>
            <a:p>
              <a:pPr algn="ctr">
                <a:lnSpc>
                  <a:spcPct val="150000"/>
                </a:lnSpc>
              </a:pPr>
              <a:endParaRPr kumimoji="1" lang="en-US" altLang="zh-CN" sz="1333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kumimoji="1" lang="zh-CN" altLang="en-US" sz="13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后端管理系统</a:t>
              </a:r>
              <a:endParaRPr kumimoji="1" lang="en-US" altLang="zh-CN" sz="1333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kumimoji="1" lang="zh-CN" altLang="en-US" sz="1333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（管理图片，含普通用户</a:t>
              </a:r>
              <a:r>
                <a:rPr kumimoji="1" lang="en-US" altLang="zh-CN" sz="1333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kumimoji="1" lang="zh-CN" altLang="en-US" sz="1333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管理员两种角色权限，控制图像数据公有</a:t>
              </a:r>
              <a:r>
                <a:rPr kumimoji="1" lang="en-US" altLang="zh-CN" sz="1333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kumimoji="1" lang="zh-CN" altLang="en-US" sz="1333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私有权限，支持公有数据标注、识别结果纠正）</a:t>
              </a:r>
            </a:p>
          </p:txBody>
        </p:sp>
        <p:sp>
          <p:nvSpPr>
            <p:cNvPr id="23" name="圆角矩形 29">
              <a:extLst>
                <a:ext uri="{FF2B5EF4-FFF2-40B4-BE49-F238E27FC236}">
                  <a16:creationId xmlns:a16="http://schemas.microsoft.com/office/drawing/2014/main" id="{98BCFB13-C355-66F6-8CE4-473A7A36D70E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2496227" y="2574109"/>
              <a:ext cx="2603072" cy="993718"/>
            </a:xfrm>
            <a:prstGeom prst="roundRect">
              <a:avLst/>
            </a:prstGeom>
            <a:ln w="22225" cmpd="sng">
              <a:solidFill>
                <a:schemeClr val="accent3">
                  <a:lumMod val="50000"/>
                </a:schemeClr>
              </a:solidFill>
              <a:prstDash val="soli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Ins="149754" bIns="120121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zh-CN" altLang="en-US" sz="13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筛选数据</a:t>
              </a:r>
              <a:endParaRPr kumimoji="1" lang="en-US" altLang="zh-CN" sz="1333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kumimoji="1" lang="zh-CN" altLang="en-US" sz="1333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（筛出识别错误的数据）</a:t>
              </a:r>
            </a:p>
          </p:txBody>
        </p:sp>
        <p:sp>
          <p:nvSpPr>
            <p:cNvPr id="24" name="右箭头 14">
              <a:extLst>
                <a:ext uri="{FF2B5EF4-FFF2-40B4-BE49-F238E27FC236}">
                  <a16:creationId xmlns:a16="http://schemas.microsoft.com/office/drawing/2014/main" id="{B4D8D683-3903-0A09-D46D-B30CD9ED893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479176" y="5990919"/>
              <a:ext cx="906351" cy="251239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25" name="右箭头 14">
              <a:extLst>
                <a:ext uri="{FF2B5EF4-FFF2-40B4-BE49-F238E27FC236}">
                  <a16:creationId xmlns:a16="http://schemas.microsoft.com/office/drawing/2014/main" id="{A9A81A79-CA26-953B-96A0-4BD48BB54BD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0800000">
              <a:off x="5298128" y="2854547"/>
              <a:ext cx="906351" cy="251239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26" name="圆角矩形 29">
              <a:extLst>
                <a:ext uri="{FF2B5EF4-FFF2-40B4-BE49-F238E27FC236}">
                  <a16:creationId xmlns:a16="http://schemas.microsoft.com/office/drawing/2014/main" id="{E710DE95-356B-104F-3D1A-73DBAFEC37F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6351490" y="2307901"/>
              <a:ext cx="2854611" cy="1354112"/>
            </a:xfrm>
            <a:prstGeom prst="roundRect">
              <a:avLst/>
            </a:prstGeom>
            <a:ln w="22225" cmpd="sng">
              <a:solidFill>
                <a:schemeClr val="accent3">
                  <a:lumMod val="50000"/>
                </a:schemeClr>
              </a:solidFill>
              <a:prstDash val="soli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Ins="149754" bIns="120121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zh-CN" altLang="en-US" sz="13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数据库</a:t>
              </a:r>
              <a:endParaRPr kumimoji="1" lang="en-US" altLang="zh-CN" sz="1333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kumimoji="1" lang="zh-CN" altLang="en-US" sz="1333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（存储边端设备地址、图片及数据信息、用户权限）</a:t>
              </a:r>
            </a:p>
          </p:txBody>
        </p:sp>
        <p:sp>
          <p:nvSpPr>
            <p:cNvPr id="30" name="圆角矩形 29">
              <a:extLst>
                <a:ext uri="{FF2B5EF4-FFF2-40B4-BE49-F238E27FC236}">
                  <a16:creationId xmlns:a16="http://schemas.microsoft.com/office/drawing/2014/main" id="{20DFA368-C522-71BE-D4F7-C66BF6D7DCC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3303172" y="3833810"/>
              <a:ext cx="2901305" cy="1307023"/>
            </a:xfrm>
            <a:prstGeom prst="roundRect">
              <a:avLst/>
            </a:prstGeom>
            <a:ln w="22225" cmpd="sng">
              <a:solidFill>
                <a:schemeClr val="accent3">
                  <a:lumMod val="50000"/>
                </a:schemeClr>
              </a:solidFill>
              <a:prstDash val="soli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Ins="149754" bIns="120121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zh-CN" altLang="en-US" sz="13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异常威胁防护检测系统</a:t>
              </a:r>
              <a:endParaRPr kumimoji="1" lang="en-US" altLang="zh-CN" sz="1333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kumimoji="1" lang="zh-CN" altLang="en-US" sz="1333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（多维数据融合</a:t>
              </a:r>
              <a:r>
                <a:rPr kumimoji="1" lang="en-US" altLang="zh-CN" sz="1333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kumimoji="1" lang="zh-CN" altLang="en-US" sz="1333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机器学习驱动，实时监控系统安全）</a:t>
              </a:r>
            </a:p>
          </p:txBody>
        </p:sp>
        <p:sp>
          <p:nvSpPr>
            <p:cNvPr id="34" name="右箭头 14">
              <a:extLst>
                <a:ext uri="{FF2B5EF4-FFF2-40B4-BE49-F238E27FC236}">
                  <a16:creationId xmlns:a16="http://schemas.microsoft.com/office/drawing/2014/main" id="{4CD6178D-F1DF-77CE-9447-2C89A64FD824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 rot="10800000">
              <a:off x="9341808" y="2908806"/>
              <a:ext cx="906351" cy="251239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35" name="右箭头 14">
              <a:extLst>
                <a:ext uri="{FF2B5EF4-FFF2-40B4-BE49-F238E27FC236}">
                  <a16:creationId xmlns:a16="http://schemas.microsoft.com/office/drawing/2014/main" id="{28BE349B-6844-D4BA-F700-88D97097802E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 rot="16200000">
              <a:off x="3419901" y="1970499"/>
              <a:ext cx="567710" cy="283215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45" name="右箭头 14">
              <a:extLst>
                <a:ext uri="{FF2B5EF4-FFF2-40B4-BE49-F238E27FC236}">
                  <a16:creationId xmlns:a16="http://schemas.microsoft.com/office/drawing/2014/main" id="{4DEFD758-290B-7EC4-7506-E81FA6F92D2E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5271992" y="5858837"/>
              <a:ext cx="906351" cy="251239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46" name="右箭头 14">
              <a:extLst>
                <a:ext uri="{FF2B5EF4-FFF2-40B4-BE49-F238E27FC236}">
                  <a16:creationId xmlns:a16="http://schemas.microsoft.com/office/drawing/2014/main" id="{ADA763BB-EC3C-3942-40F6-757A853B95D2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9545223" y="5877811"/>
              <a:ext cx="735403" cy="251239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47" name="右箭头 14">
              <a:extLst>
                <a:ext uri="{FF2B5EF4-FFF2-40B4-BE49-F238E27FC236}">
                  <a16:creationId xmlns:a16="http://schemas.microsoft.com/office/drawing/2014/main" id="{0699E79C-2A5A-450E-995F-9C95A54841AA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 rot="10800000">
              <a:off x="7187051" y="4338687"/>
              <a:ext cx="906351" cy="251239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9694953F-E333-AFE3-4173-564EA9ED06E4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6808982" y="4720521"/>
              <a:ext cx="2265741" cy="33922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zh-CN" altLang="en-US" sz="1167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访问日志</a:t>
              </a:r>
              <a:r>
                <a:rPr lang="en-US" altLang="zh-CN" sz="1167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167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行为审计</a:t>
              </a:r>
              <a:r>
                <a:rPr lang="en-US" altLang="zh-CN" sz="1167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/API</a:t>
              </a:r>
              <a:r>
                <a:rPr lang="zh-CN" altLang="en-US" sz="1167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调用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AACFD0DA-B158-A562-56D5-53172D27B88E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6744315" y="3909734"/>
              <a:ext cx="2265741" cy="33922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zh-CN" altLang="en-US" sz="1167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数据库操作审计</a:t>
              </a:r>
              <a:r>
                <a:rPr lang="en-US" altLang="zh-CN" sz="1167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167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流量分析</a:t>
              </a:r>
            </a:p>
          </p:txBody>
        </p:sp>
        <p:sp>
          <p:nvSpPr>
            <p:cNvPr id="51" name="右箭头 14">
              <a:extLst>
                <a:ext uri="{FF2B5EF4-FFF2-40B4-BE49-F238E27FC236}">
                  <a16:creationId xmlns:a16="http://schemas.microsoft.com/office/drawing/2014/main" id="{B5D0D03B-27FD-427F-9477-FC7AA0509088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479176" y="3630022"/>
              <a:ext cx="906351" cy="251239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8CDA39F3-19FA-8066-92E7-EE645272ABA2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85676" y="1115327"/>
              <a:ext cx="996306" cy="5380609"/>
            </a:xfrm>
            <a:prstGeom prst="rect">
              <a:avLst/>
            </a:prstGeom>
            <a:ln w="38100" cap="flat" cmpd="sng" algn="ctr">
              <a:solidFill>
                <a:schemeClr val="accent3">
                  <a:lumMod val="50000"/>
                </a:schemeClr>
              </a:solidFill>
              <a:prstDash val="dash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 rIns="149754" bIns="120121">
              <a:noAutofit/>
            </a:bodyPr>
            <a:lstStyle/>
            <a:p>
              <a:pPr algn="l">
                <a:lnSpc>
                  <a:spcPct val="150000"/>
                </a:lnSpc>
              </a:pPr>
              <a:endParaRPr kumimoji="1" lang="zh-CN" altLang="en-US" sz="1167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右箭头 14">
              <a:extLst>
                <a:ext uri="{FF2B5EF4-FFF2-40B4-BE49-F238E27FC236}">
                  <a16:creationId xmlns:a16="http://schemas.microsoft.com/office/drawing/2014/main" id="{72823124-2311-1EE3-4B35-8CACABFE7677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455719" y="1152486"/>
              <a:ext cx="906351" cy="251239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pic>
          <p:nvPicPr>
            <p:cNvPr id="88" name="图片 87" descr="卡通人物&#10;&#10;AI 生成的内容可能不正确。">
              <a:extLst>
                <a:ext uri="{FF2B5EF4-FFF2-40B4-BE49-F238E27FC236}">
                  <a16:creationId xmlns:a16="http://schemas.microsoft.com/office/drawing/2014/main" id="{417A0644-A98E-DCA5-F34F-F26BED5DF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233730" y="4009815"/>
              <a:ext cx="912140" cy="912139"/>
            </a:xfrm>
            <a:prstGeom prst="rect">
              <a:avLst/>
            </a:prstGeom>
          </p:spPr>
        </p:pic>
        <p:pic>
          <p:nvPicPr>
            <p:cNvPr id="92" name="图片 91" descr="图标&#10;&#10;AI 生成的内容可能不正确。">
              <a:extLst>
                <a:ext uri="{FF2B5EF4-FFF2-40B4-BE49-F238E27FC236}">
                  <a16:creationId xmlns:a16="http://schemas.microsoft.com/office/drawing/2014/main" id="{8280DE0D-FE3E-4C50-AA67-60FB1E5AA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258548" y="5121782"/>
              <a:ext cx="808614" cy="808614"/>
            </a:xfrm>
            <a:prstGeom prst="rect">
              <a:avLst/>
            </a:prstGeom>
          </p:spPr>
        </p:pic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11BCE4C5-4858-7DA7-A4E1-C71FA40CF76A}"/>
              </a:ext>
            </a:extLst>
          </p:cNvPr>
          <p:cNvGrpSpPr/>
          <p:nvPr/>
        </p:nvGrpSpPr>
        <p:grpSpPr>
          <a:xfrm>
            <a:off x="369936" y="0"/>
            <a:ext cx="9190911" cy="389996"/>
            <a:chOff x="713" y="367"/>
            <a:chExt cx="11412" cy="737"/>
          </a:xfrm>
          <a:solidFill>
            <a:schemeClr val="accent3">
              <a:lumMod val="50000"/>
            </a:schemeClr>
          </a:solidFill>
        </p:grpSpPr>
        <p:sp>
          <p:nvSpPr>
            <p:cNvPr id="94" name="燕尾形 30">
              <a:extLst>
                <a:ext uri="{FF2B5EF4-FFF2-40B4-BE49-F238E27FC236}">
                  <a16:creationId xmlns:a16="http://schemas.microsoft.com/office/drawing/2014/main" id="{16C2572A-A5E6-5FE9-4964-2070627BDA0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rot="10800000">
              <a:off x="1443" y="367"/>
              <a:ext cx="2907" cy="737"/>
            </a:xfrm>
            <a:prstGeom prst="chevron">
              <a:avLst>
                <a:gd name="adj" fmla="val 3708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5" name="燕尾形 30">
              <a:extLst>
                <a:ext uri="{FF2B5EF4-FFF2-40B4-BE49-F238E27FC236}">
                  <a16:creationId xmlns:a16="http://schemas.microsoft.com/office/drawing/2014/main" id="{42F099DD-8A3C-1D39-E9C8-5EE02DF2D16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10800000" flipH="1">
              <a:off x="3422" y="367"/>
              <a:ext cx="8703" cy="737"/>
            </a:xfrm>
            <a:prstGeom prst="chevron">
              <a:avLst>
                <a:gd name="adj" fmla="val 3708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6" name="TextBox 17">
              <a:extLst>
                <a:ext uri="{FF2B5EF4-FFF2-40B4-BE49-F238E27FC236}">
                  <a16:creationId xmlns:a16="http://schemas.microsoft.com/office/drawing/2014/main" id="{B5EBB60D-3D06-22E1-280B-60F646170318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1654" y="377"/>
              <a:ext cx="10184" cy="72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76200" tIns="38100" rIns="76200" bIns="38100" anchor="t">
              <a:spAutoFit/>
            </a:bodyPr>
            <a:lstStyle>
              <a:lvl1pPr marL="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1pPr>
              <a:lvl2pPr marL="4572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2pPr>
              <a:lvl3pPr marL="9144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3pPr>
              <a:lvl4pPr marL="13716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4pPr>
              <a:lvl5pPr marL="18288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5pPr>
            </a:lstStyle>
            <a:p>
              <a:pPr lvl="0"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各系统及模块交互图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7" name="任意多边形: 形状 9">
              <a:extLst>
                <a:ext uri="{FF2B5EF4-FFF2-40B4-BE49-F238E27FC236}">
                  <a16:creationId xmlns:a16="http://schemas.microsoft.com/office/drawing/2014/main" id="{2F0C3319-7159-C328-B244-0E5EE33DC04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10800000">
              <a:off x="107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8" name="任意多边形: 形状 10">
              <a:extLst>
                <a:ext uri="{FF2B5EF4-FFF2-40B4-BE49-F238E27FC236}">
                  <a16:creationId xmlns:a16="http://schemas.microsoft.com/office/drawing/2014/main" id="{D8D65758-5FB5-A316-C699-57906A3F32D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0800000">
              <a:off x="71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3481C17-3889-02EA-6533-E5015A71B6E9}"/>
              </a:ext>
            </a:extLst>
          </p:cNvPr>
          <p:cNvSpPr txBox="1"/>
          <p:nvPr/>
        </p:nvSpPr>
        <p:spPr>
          <a:xfrm>
            <a:off x="6584692" y="5446060"/>
            <a:ext cx="3500849" cy="304271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57148" tIns="28573" rIns="57148" bIns="28573" numCol="1" anchor="t" anchorCtr="0" compatLnSpc="1"/>
          <a:lstStyle>
            <a:defPPr>
              <a:defRPr lang="zh-CN"/>
            </a:defPPr>
            <a:lvl1pPr marL="0" algn="r" defTabSz="914400" rtl="0" eaLnBrk="1" latinLnBrk="0" hangingPunct="1"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83EE7F0-DC5E-409B-BE0A-FF8F3CE65925}" type="slidenum">
              <a:rPr lang="zh-CN" altLang="zh-CN" sz="1165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fld>
            <a:endParaRPr lang="zh-CN" altLang="zh-CN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原创设计师QQ598969553          _6"/>
          <p:cNvSpPr/>
          <p:nvPr/>
        </p:nvSpPr>
        <p:spPr bwMode="auto">
          <a:xfrm>
            <a:off x="320939" y="620366"/>
            <a:ext cx="4315673" cy="404813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078871"/>
              </a:gs>
              <a:gs pos="0">
                <a:srgbClr val="00A58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algn="ctr"/>
            <a:r>
              <a:rPr lang="zh-CN" altLang="en-US" sz="1835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研究内容</a:t>
            </a:r>
            <a:r>
              <a:rPr lang="en-US" altLang="zh-CN" sz="1835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4.1</a:t>
            </a:r>
            <a:r>
              <a:rPr lang="zh-CN" altLang="en-US" sz="1835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：边缘数据隔离封装模块</a:t>
            </a:r>
          </a:p>
        </p:txBody>
      </p:sp>
      <p:sp>
        <p:nvSpPr>
          <p:cNvPr id="30" name="矩形 29"/>
          <p:cNvSpPr/>
          <p:nvPr/>
        </p:nvSpPr>
        <p:spPr>
          <a:xfrm>
            <a:off x="345440" y="1104900"/>
            <a:ext cx="9501505" cy="1028065"/>
          </a:xfrm>
          <a:prstGeom prst="rect">
            <a:avLst/>
          </a:prstGeom>
          <a:solidFill>
            <a:srgbClr val="F7FDFC">
              <a:alpha val="70000"/>
            </a:srgbClr>
          </a:solidFill>
          <a:ln w="12700" cap="flat" cmpd="sng" algn="ctr">
            <a:solidFill>
              <a:srgbClr val="238586"/>
            </a:solidFill>
            <a:prstDash val="dash"/>
          </a:ln>
          <a:effectLst/>
        </p:spPr>
        <p:txBody>
          <a:bodyPr anchor="ctr"/>
          <a:lstStyle/>
          <a:p>
            <a:pPr marL="0" lvl="1" algn="just" fontAlgn="auto">
              <a:lnSpc>
                <a:spcPct val="130000"/>
              </a:lnSpc>
              <a:buFont typeface="Wingdings" panose="05000000000000000000" pitchFamily="2" charset="2"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边缘数据隔离封装模块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旨在解决边端环境中数据流动与计算资源的安全管控难题。它通过系统性的架构封装，将复杂的隔离逻辑抽象为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三大协同子组件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，构建了一个完整的数据全生命周期治理体系。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灯片编号占位符 1"/>
          <p:cNvSpPr txBox="1"/>
          <p:nvPr/>
        </p:nvSpPr>
        <p:spPr>
          <a:xfrm>
            <a:off x="6635959" y="5419008"/>
            <a:ext cx="3500849" cy="304271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57148" tIns="28573" rIns="57148" bIns="28573" numCol="1" anchor="t" anchorCtr="0" compatLnSpc="1"/>
          <a:lstStyle>
            <a:defPPr>
              <a:defRPr lang="zh-CN"/>
            </a:defPPr>
            <a:lvl1pPr marL="0" algn="r" defTabSz="914400" rtl="0" eaLnBrk="1" latinLnBrk="0" hangingPunct="1"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83EE7F0-DC5E-409B-BE0A-FF8F3CE65925}" type="slidenum">
              <a:rPr lang="zh-CN" altLang="zh-CN" sz="1165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zh-CN" sz="116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FF6B0FF6-3037-677E-AECC-3146FF12579E}"/>
              </a:ext>
            </a:extLst>
          </p:cNvPr>
          <p:cNvGrpSpPr/>
          <p:nvPr/>
        </p:nvGrpSpPr>
        <p:grpSpPr>
          <a:xfrm>
            <a:off x="711327" y="2244851"/>
            <a:ext cx="9087490" cy="3531037"/>
            <a:chOff x="759455" y="2183963"/>
            <a:chExt cx="9087490" cy="3531037"/>
          </a:xfrm>
        </p:grpSpPr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B41AA289-32A1-2633-D13B-2DF8198ED91B}"/>
                </a:ext>
              </a:extLst>
            </p:cNvPr>
            <p:cNvGrpSpPr/>
            <p:nvPr/>
          </p:nvGrpSpPr>
          <p:grpSpPr>
            <a:xfrm>
              <a:off x="1720843" y="2183963"/>
              <a:ext cx="8126102" cy="3531037"/>
              <a:chOff x="747377" y="2165747"/>
              <a:chExt cx="8126102" cy="3531037"/>
            </a:xfrm>
          </p:grpSpPr>
          <p:sp>
            <p:nvSpPr>
              <p:cNvPr id="64" name="梯形 63">
                <a:extLst>
                  <a:ext uri="{FF2B5EF4-FFF2-40B4-BE49-F238E27FC236}">
                    <a16:creationId xmlns:a16="http://schemas.microsoft.com/office/drawing/2014/main" id="{2B26E5AF-A3DC-DBCC-F2C0-6D000EEE5446}"/>
                  </a:ext>
                </a:extLst>
              </p:cNvPr>
              <p:cNvSpPr/>
              <p:nvPr/>
            </p:nvSpPr>
            <p:spPr bwMode="auto">
              <a:xfrm rot="16200000">
                <a:off x="1382194" y="2480024"/>
                <a:ext cx="989574" cy="361020"/>
              </a:xfrm>
              <a:prstGeom prst="trapezoid">
                <a:avLst>
                  <a:gd name="adj" fmla="val 177201"/>
                </a:avLst>
              </a:prstGeom>
              <a:gradFill>
                <a:gsLst>
                  <a:gs pos="0">
                    <a:srgbClr val="4472C4">
                      <a:lumMod val="0"/>
                      <a:lumOff val="100000"/>
                    </a:srgbClr>
                  </a:gs>
                  <a:gs pos="100000">
                    <a:srgbClr val="238586"/>
                  </a:gs>
                </a:gsLst>
                <a:lin ang="16500000" scaled="0"/>
              </a:gra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16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9AFD6C11-3F9D-525E-9FEA-B04DBAB86EF4}"/>
                  </a:ext>
                </a:extLst>
              </p:cNvPr>
              <p:cNvGrpSpPr/>
              <p:nvPr/>
            </p:nvGrpSpPr>
            <p:grpSpPr>
              <a:xfrm>
                <a:off x="747377" y="2192104"/>
                <a:ext cx="8126102" cy="3504680"/>
                <a:chOff x="780714" y="2251002"/>
                <a:chExt cx="8126102" cy="3504680"/>
              </a:xfrm>
            </p:grpSpPr>
            <p:grpSp>
              <p:nvGrpSpPr>
                <p:cNvPr id="63" name="组合 62">
                  <a:extLst>
                    <a:ext uri="{FF2B5EF4-FFF2-40B4-BE49-F238E27FC236}">
                      <a16:creationId xmlns:a16="http://schemas.microsoft.com/office/drawing/2014/main" id="{962387C0-4CF8-3AF2-41B5-EB109F72C784}"/>
                    </a:ext>
                  </a:extLst>
                </p:cNvPr>
                <p:cNvGrpSpPr/>
                <p:nvPr/>
              </p:nvGrpSpPr>
              <p:grpSpPr>
                <a:xfrm>
                  <a:off x="780714" y="3111895"/>
                  <a:ext cx="8126102" cy="1895584"/>
                  <a:chOff x="780714" y="2949072"/>
                  <a:chExt cx="8126102" cy="1895584"/>
                </a:xfrm>
              </p:grpSpPr>
              <p:sp>
                <p:nvSpPr>
                  <p:cNvPr id="35" name="梯形 34"/>
                  <p:cNvSpPr/>
                  <p:nvPr/>
                </p:nvSpPr>
                <p:spPr bwMode="auto">
                  <a:xfrm rot="16200000">
                    <a:off x="974828" y="3671056"/>
                    <a:ext cx="1877187" cy="433900"/>
                  </a:xfrm>
                  <a:prstGeom prst="trapezoid">
                    <a:avLst>
                      <a:gd name="adj" fmla="val 177201"/>
                    </a:avLst>
                  </a:prstGeom>
                  <a:gradFill>
                    <a:gsLst>
                      <a:gs pos="0">
                        <a:srgbClr val="4472C4">
                          <a:lumMod val="0"/>
                          <a:lumOff val="100000"/>
                        </a:srgbClr>
                      </a:gs>
                      <a:gs pos="100000">
                        <a:srgbClr val="238586"/>
                      </a:gs>
                    </a:gsLst>
                    <a:lin ang="16500000" scaled="0"/>
                  </a:gra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rIns="0" rtlCol="0" anchor="ctr"/>
                  <a:lstStyle/>
                  <a:p>
                    <a:pPr algn="ctr">
                      <a:lnSpc>
                        <a:spcPct val="120000"/>
                      </a:lnSpc>
                    </a:pPr>
                    <a:endParaRPr lang="zh-CN" altLang="en-US" sz="1600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" name="文本框 25"/>
                  <p:cNvSpPr txBox="1"/>
                  <p:nvPr/>
                </p:nvSpPr>
                <p:spPr>
                  <a:xfrm>
                    <a:off x="780714" y="3706079"/>
                    <a:ext cx="897030" cy="40678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zh-CN" altLang="en-US" b="1" dirty="0">
                        <a:highlight>
                          <a:srgbClr val="F7FEFC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数据</a:t>
                    </a:r>
                    <a:r>
                      <a:rPr kumimoji="1" lang="zh-CN" altLang="en-US" sz="1800" b="1" dirty="0">
                        <a:highlight>
                          <a:srgbClr val="F7FEFC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层</a:t>
                    </a:r>
                  </a:p>
                </p:txBody>
              </p:sp>
              <p:sp>
                <p:nvSpPr>
                  <p:cNvPr id="7" name="圆角矩形 6"/>
                  <p:cNvSpPr/>
                  <p:nvPr/>
                </p:nvSpPr>
                <p:spPr bwMode="auto">
                  <a:xfrm>
                    <a:off x="2130047" y="2949072"/>
                    <a:ext cx="6776769" cy="1895584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FFF">
                      <a:alpha val="79216"/>
                    </a:srgbClr>
                  </a:solidFill>
                  <a:ln w="9525" cap="flat" cmpd="sng" algn="ctr">
                    <a:solidFill>
                      <a:srgbClr val="238586"/>
                    </a:solidFill>
                    <a:prstDash val="dash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870585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225" b="1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39" name="圆角矩形 11"/>
                  <p:cNvSpPr/>
                  <p:nvPr/>
                </p:nvSpPr>
                <p:spPr>
                  <a:xfrm>
                    <a:off x="2230728" y="3108513"/>
                    <a:ext cx="1225054" cy="411550"/>
                  </a:xfrm>
                  <a:prstGeom prst="roundRect">
                    <a:avLst>
                      <a:gd name="adj" fmla="val 15394"/>
                    </a:avLst>
                  </a:prstGeom>
                  <a:solidFill>
                    <a:srgbClr val="1AA3AA"/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marL="0" marR="0" lvl="0" indent="0" algn="ctr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数据采集</a:t>
                    </a:r>
                  </a:p>
                </p:txBody>
              </p:sp>
              <p:sp>
                <p:nvSpPr>
                  <p:cNvPr id="40" name="圆角矩形 11"/>
                  <p:cNvSpPr/>
                  <p:nvPr/>
                </p:nvSpPr>
                <p:spPr>
                  <a:xfrm>
                    <a:off x="3566205" y="3108513"/>
                    <a:ext cx="1225054" cy="411550"/>
                  </a:xfrm>
                  <a:prstGeom prst="roundRect">
                    <a:avLst>
                      <a:gd name="adj" fmla="val 15394"/>
                    </a:avLst>
                  </a:prstGeom>
                  <a:solidFill>
                    <a:srgbClr val="1AA3AA"/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marL="0" marR="0" lvl="0" indent="0" algn="ctr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数据存储</a:t>
                    </a:r>
                  </a:p>
                </p:txBody>
              </p:sp>
              <p:sp>
                <p:nvSpPr>
                  <p:cNvPr id="41" name="圆角矩形 11"/>
                  <p:cNvSpPr/>
                  <p:nvPr/>
                </p:nvSpPr>
                <p:spPr>
                  <a:xfrm>
                    <a:off x="4901683" y="3108513"/>
                    <a:ext cx="1225054" cy="411550"/>
                  </a:xfrm>
                  <a:prstGeom prst="roundRect">
                    <a:avLst>
                      <a:gd name="adj" fmla="val 15394"/>
                    </a:avLst>
                  </a:prstGeom>
                  <a:solidFill>
                    <a:srgbClr val="1AA3AA"/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marL="0" marR="0" lvl="0" indent="0" algn="ctr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数据审核</a:t>
                    </a:r>
                  </a:p>
                </p:txBody>
              </p:sp>
              <p:sp>
                <p:nvSpPr>
                  <p:cNvPr id="42" name="圆角矩形 11"/>
                  <p:cNvSpPr/>
                  <p:nvPr/>
                </p:nvSpPr>
                <p:spPr>
                  <a:xfrm>
                    <a:off x="6245604" y="3103744"/>
                    <a:ext cx="1225054" cy="411550"/>
                  </a:xfrm>
                  <a:prstGeom prst="roundRect">
                    <a:avLst>
                      <a:gd name="adj" fmla="val 15394"/>
                    </a:avLst>
                  </a:prstGeom>
                  <a:solidFill>
                    <a:srgbClr val="1AA3AA"/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marL="0" marR="0" lvl="0" indent="0" algn="ctr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数据标注</a:t>
                    </a:r>
                  </a:p>
                </p:txBody>
              </p:sp>
              <p:sp>
                <p:nvSpPr>
                  <p:cNvPr id="43" name="圆角矩形 11"/>
                  <p:cNvSpPr/>
                  <p:nvPr/>
                </p:nvSpPr>
                <p:spPr>
                  <a:xfrm>
                    <a:off x="7572637" y="3108513"/>
                    <a:ext cx="1225054" cy="411550"/>
                  </a:xfrm>
                  <a:prstGeom prst="roundRect">
                    <a:avLst>
                      <a:gd name="adj" fmla="val 15394"/>
                    </a:avLst>
                  </a:prstGeom>
                  <a:solidFill>
                    <a:srgbClr val="1AA3AA"/>
                  </a:solidFill>
                  <a:ln>
                    <a:solidFill>
                      <a:srgbClr val="238586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marL="0" marR="0" lvl="0" indent="0" algn="ctr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实时数据</a:t>
                    </a:r>
                  </a:p>
                </p:txBody>
              </p:sp>
              <p:sp>
                <p:nvSpPr>
                  <p:cNvPr id="44" name="圆角矩形 43"/>
                  <p:cNvSpPr/>
                  <p:nvPr/>
                </p:nvSpPr>
                <p:spPr bwMode="auto">
                  <a:xfrm>
                    <a:off x="7572637" y="3631128"/>
                    <a:ext cx="1225054" cy="108543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FFF">
                      <a:alpha val="79216"/>
                    </a:srgbClr>
                  </a:solidFill>
                  <a:ln w="9525" cap="flat" cmpd="sng" algn="ctr">
                    <a:solidFill>
                      <a:srgbClr val="1AA3AA"/>
                    </a:solidFill>
                    <a:prstDash val="dash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870585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225" b="1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5" name="圆角矩形 44"/>
                  <p:cNvSpPr/>
                  <p:nvPr/>
                </p:nvSpPr>
                <p:spPr bwMode="auto">
                  <a:xfrm>
                    <a:off x="6237160" y="3631128"/>
                    <a:ext cx="1225054" cy="108543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FFF">
                      <a:alpha val="79216"/>
                    </a:srgbClr>
                  </a:solidFill>
                  <a:ln w="9525" cap="flat" cmpd="sng" algn="ctr">
                    <a:solidFill>
                      <a:srgbClr val="1AA3AA"/>
                    </a:solidFill>
                    <a:prstDash val="dash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870585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225" b="1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7" name="圆角矩形 46"/>
                  <p:cNvSpPr/>
                  <p:nvPr/>
                </p:nvSpPr>
                <p:spPr bwMode="auto">
                  <a:xfrm>
                    <a:off x="4901683" y="3631128"/>
                    <a:ext cx="1225054" cy="108543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FFF">
                      <a:alpha val="79216"/>
                    </a:srgbClr>
                  </a:solidFill>
                  <a:ln w="9525" cap="flat" cmpd="sng" algn="ctr">
                    <a:solidFill>
                      <a:srgbClr val="1AA3AA"/>
                    </a:solidFill>
                    <a:prstDash val="dash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870585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225" b="1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8" name="圆角矩形 47"/>
                  <p:cNvSpPr/>
                  <p:nvPr/>
                </p:nvSpPr>
                <p:spPr bwMode="auto">
                  <a:xfrm>
                    <a:off x="3566205" y="3631128"/>
                    <a:ext cx="1225054" cy="108543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FFF">
                      <a:alpha val="79216"/>
                    </a:srgbClr>
                  </a:solidFill>
                  <a:ln w="9525" cap="flat" cmpd="sng" algn="ctr">
                    <a:solidFill>
                      <a:srgbClr val="1AA3AA"/>
                    </a:solidFill>
                    <a:prstDash val="dash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870585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225" b="1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9" name="圆角矩形 48"/>
                  <p:cNvSpPr/>
                  <p:nvPr/>
                </p:nvSpPr>
                <p:spPr bwMode="auto">
                  <a:xfrm>
                    <a:off x="2230728" y="3631128"/>
                    <a:ext cx="1225054" cy="108543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FFF">
                      <a:alpha val="79216"/>
                    </a:srgbClr>
                  </a:solidFill>
                  <a:ln w="9525" cap="flat" cmpd="sng" algn="ctr">
                    <a:solidFill>
                      <a:srgbClr val="1AA3AA"/>
                    </a:solidFill>
                    <a:prstDash val="dash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870585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225" b="1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50" name="文本框 49"/>
                  <p:cNvSpPr txBox="1"/>
                  <p:nvPr/>
                </p:nvSpPr>
                <p:spPr>
                  <a:xfrm>
                    <a:off x="2230728" y="3637941"/>
                    <a:ext cx="1225054" cy="53290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5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定时采集</a:t>
                    </a:r>
                    <a:endParaRPr kumimoji="1" lang="en-US" altLang="zh-CN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lnSpc>
                        <a:spcPct val="125000"/>
                      </a:lnSpc>
                    </a:pPr>
                    <a:r>
                      <a:rPr kumimoji="1" lang="en-US" altLang="zh-CN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……</a:t>
                    </a:r>
                    <a:endParaRPr kumimoji="1" lang="zh-CN" altLang="en-US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1" name="文本框 50"/>
                  <p:cNvSpPr txBox="1"/>
                  <p:nvPr/>
                </p:nvSpPr>
                <p:spPr>
                  <a:xfrm>
                    <a:off x="3566205" y="3637941"/>
                    <a:ext cx="1225054" cy="9945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5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分布式存储</a:t>
                    </a:r>
                    <a:endParaRPr kumimoji="1" lang="en-US" altLang="zh-CN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lnSpc>
                        <a:spcPct val="125000"/>
                      </a:lnSpc>
                    </a:pPr>
                    <a:r>
                      <a:rPr kumimoji="1"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加密存储</a:t>
                    </a:r>
                    <a:endParaRPr kumimoji="1" lang="en-US" altLang="zh-CN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lnSpc>
                        <a:spcPct val="125000"/>
                      </a:lnSpc>
                    </a:pPr>
                    <a:r>
                      <a:rPr kumimoji="1"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隔离存储</a:t>
                    </a:r>
                    <a:endParaRPr kumimoji="1" lang="en-US" altLang="zh-CN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lnSpc>
                        <a:spcPct val="125000"/>
                      </a:lnSpc>
                    </a:pPr>
                    <a:r>
                      <a:rPr kumimoji="1" lang="en-US" altLang="zh-CN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……</a:t>
                    </a:r>
                  </a:p>
                </p:txBody>
              </p:sp>
              <p:sp>
                <p:nvSpPr>
                  <p:cNvPr id="52" name="文本框 51"/>
                  <p:cNvSpPr txBox="1"/>
                  <p:nvPr/>
                </p:nvSpPr>
                <p:spPr>
                  <a:xfrm>
                    <a:off x="4898435" y="3637941"/>
                    <a:ext cx="1225054" cy="994568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ctr">
                      <a:lnSpc>
                        <a:spcPct val="125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数据查看</a:t>
                    </a:r>
                    <a:endParaRPr kumimoji="1" lang="en-US" altLang="zh-CN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lnSpc>
                        <a:spcPct val="125000"/>
                      </a:lnSpc>
                    </a:pPr>
                    <a:r>
                      <a:rPr kumimoji="1"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数据编辑</a:t>
                    </a:r>
                    <a:endParaRPr kumimoji="1" lang="en-US" altLang="zh-CN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lnSpc>
                        <a:spcPct val="125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数据删除</a:t>
                    </a:r>
                    <a:endParaRPr kumimoji="1" lang="en-US" altLang="zh-CN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lnSpc>
                        <a:spcPct val="125000"/>
                      </a:lnSpc>
                    </a:pPr>
                    <a:r>
                      <a:rPr kumimoji="1" lang="en-US" altLang="zh-CN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……</a:t>
                    </a:r>
                    <a:endParaRPr kumimoji="1" lang="zh-CN" altLang="en-US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3" name="文本框 52"/>
                  <p:cNvSpPr txBox="1"/>
                  <p:nvPr/>
                </p:nvSpPr>
                <p:spPr>
                  <a:xfrm>
                    <a:off x="6245604" y="3637941"/>
                    <a:ext cx="1217259" cy="9945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5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数据标注</a:t>
                    </a:r>
                    <a:endParaRPr kumimoji="1" lang="en-US" altLang="zh-CN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lnSpc>
                        <a:spcPct val="125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数据纠正</a:t>
                    </a:r>
                    <a:endParaRPr kumimoji="1" lang="en-US" altLang="zh-CN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lnSpc>
                        <a:spcPct val="125000"/>
                      </a:lnSpc>
                    </a:pPr>
                    <a:r>
                      <a:rPr kumimoji="1"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数据删除</a:t>
                    </a:r>
                    <a:endParaRPr kumimoji="1" lang="en-US" altLang="zh-CN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lnSpc>
                        <a:spcPct val="125000"/>
                      </a:lnSpc>
                    </a:pPr>
                    <a:r>
                      <a:rPr kumimoji="1" lang="en-US" altLang="zh-CN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……</a:t>
                    </a:r>
                    <a:endParaRPr kumimoji="1" lang="zh-CN" altLang="en-US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4" name="文本框 53"/>
                  <p:cNvSpPr txBox="1"/>
                  <p:nvPr/>
                </p:nvSpPr>
                <p:spPr>
                  <a:xfrm>
                    <a:off x="7572637" y="3637941"/>
                    <a:ext cx="1225054" cy="994568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>
                    <a:spAutoFit/>
                  </a:bodyPr>
                  <a:lstStyle/>
                  <a:p>
                    <a:pPr algn="ctr">
                      <a:lnSpc>
                        <a:spcPct val="125000"/>
                      </a:lnSpc>
                    </a:pPr>
                    <a:r>
                      <a:rPr kumimoji="1"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数据转码</a:t>
                    </a:r>
                    <a:endParaRPr kumimoji="1" lang="en-US" altLang="zh-CN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lnSpc>
                        <a:spcPct val="125000"/>
                      </a:lnSpc>
                    </a:pPr>
                    <a:r>
                      <a:rPr kumimoji="1"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数据查看</a:t>
                    </a:r>
                    <a:endParaRPr kumimoji="1" lang="en-US" altLang="zh-CN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lnSpc>
                        <a:spcPct val="125000"/>
                      </a:lnSpc>
                    </a:pPr>
                    <a:r>
                      <a:rPr kumimoji="1"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访问鉴权</a:t>
                    </a:r>
                    <a:endParaRPr kumimoji="1" lang="en-US" altLang="zh-CN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>
                      <a:lnSpc>
                        <a:spcPct val="125000"/>
                      </a:lnSpc>
                    </a:pPr>
                    <a:r>
                      <a:rPr kumimoji="1" lang="en-US" altLang="zh-CN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……</a:t>
                    </a:r>
                    <a:endParaRPr kumimoji="1" lang="zh-CN" altLang="en-US" sz="1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1" name="箭头: 下 3"/>
                <p:cNvSpPr/>
                <p:nvPr/>
              </p:nvSpPr>
              <p:spPr bwMode="auto">
                <a:xfrm rot="10800000">
                  <a:off x="5279723" y="5020986"/>
                  <a:ext cx="363749" cy="144530"/>
                </a:xfrm>
                <a:prstGeom prst="downArrow">
                  <a:avLst>
                    <a:gd name="adj1" fmla="val 56563"/>
                    <a:gd name="adj2" fmla="val 50000"/>
                  </a:avLst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grpSp>
              <p:nvGrpSpPr>
                <p:cNvPr id="60" name="组合 59">
                  <a:extLst>
                    <a:ext uri="{FF2B5EF4-FFF2-40B4-BE49-F238E27FC236}">
                      <a16:creationId xmlns:a16="http://schemas.microsoft.com/office/drawing/2014/main" id="{A812776C-190E-4D09-5360-DAB48BE23C8D}"/>
                    </a:ext>
                  </a:extLst>
                </p:cNvPr>
                <p:cNvGrpSpPr/>
                <p:nvPr/>
              </p:nvGrpSpPr>
              <p:grpSpPr>
                <a:xfrm>
                  <a:off x="2130046" y="5103919"/>
                  <a:ext cx="6776769" cy="517375"/>
                  <a:chOff x="1214900" y="5214219"/>
                  <a:chExt cx="8143413" cy="517375"/>
                </a:xfrm>
              </p:grpSpPr>
              <p:grpSp>
                <p:nvGrpSpPr>
                  <p:cNvPr id="14" name="组合 13">
                    <a:extLst>
                      <a:ext uri="{FF2B5EF4-FFF2-40B4-BE49-F238E27FC236}">
                        <a16:creationId xmlns:a16="http://schemas.microsoft.com/office/drawing/2014/main" id="{54AAF8EB-C50C-8FA0-A6C9-234C5C2C9D58}"/>
                      </a:ext>
                    </a:extLst>
                  </p:cNvPr>
                  <p:cNvGrpSpPr/>
                  <p:nvPr/>
                </p:nvGrpSpPr>
                <p:grpSpPr>
                  <a:xfrm>
                    <a:off x="2116462" y="5214219"/>
                    <a:ext cx="6198992" cy="517375"/>
                    <a:chOff x="3725130" y="5854371"/>
                    <a:chExt cx="9005951" cy="877440"/>
                  </a:xfrm>
                </p:grpSpPr>
                <p:pic>
                  <p:nvPicPr>
                    <p:cNvPr id="33" name="图片 32" descr="形状&#10;&#10;AI 生成的内容可能不正确。">
                      <a:extLst>
                        <a:ext uri="{FF2B5EF4-FFF2-40B4-BE49-F238E27FC236}">
                          <a16:creationId xmlns:a16="http://schemas.microsoft.com/office/drawing/2014/main" id="{EB0CD6C0-D336-2333-47A7-2F580805A6E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3725130" y="6027476"/>
                      <a:ext cx="633930" cy="62339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8" name="图片 37" descr="卡通人物&#10;&#10;AI 生成的内容可能不正确。">
                      <a:extLst>
                        <a:ext uri="{FF2B5EF4-FFF2-40B4-BE49-F238E27FC236}">
                          <a16:creationId xmlns:a16="http://schemas.microsoft.com/office/drawing/2014/main" id="{0738F2FF-155B-261B-6C1C-C7904FF15E7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5258092" y="5854371"/>
                      <a:ext cx="892264" cy="87744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46" name="图片 45" descr="图标&#10;&#10;AI 生成的内容可能不正确。">
                      <a:extLst>
                        <a:ext uri="{FF2B5EF4-FFF2-40B4-BE49-F238E27FC236}">
                          <a16:creationId xmlns:a16="http://schemas.microsoft.com/office/drawing/2014/main" id="{C776702A-EE72-8262-6382-9457CED6B5B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12206337" y="6064899"/>
                      <a:ext cx="524744" cy="516027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56" name="图片 55" descr="形状&#10;&#10;AI 生成的内容可能不正确。">
                    <a:extLst>
                      <a:ext uri="{FF2B5EF4-FFF2-40B4-BE49-F238E27FC236}">
                        <a16:creationId xmlns:a16="http://schemas.microsoft.com/office/drawing/2014/main" id="{BF908053-FBBB-4BE0-70D9-C068CC39C06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6667282" y="5306699"/>
                    <a:ext cx="436348" cy="367581"/>
                  </a:xfrm>
                  <a:prstGeom prst="rect">
                    <a:avLst/>
                  </a:prstGeom>
                </p:spPr>
              </p:pic>
              <p:sp>
                <p:nvSpPr>
                  <p:cNvPr id="58" name="圆角矩形 6">
                    <a:extLst>
                      <a:ext uri="{FF2B5EF4-FFF2-40B4-BE49-F238E27FC236}">
                        <a16:creationId xmlns:a16="http://schemas.microsoft.com/office/drawing/2014/main" id="{D4E7A759-C3A9-A73F-96A6-5AB9A08730C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14900" y="5301134"/>
                    <a:ext cx="8143413" cy="366526"/>
                  </a:xfrm>
                  <a:prstGeom prst="roundRect">
                    <a:avLst>
                      <a:gd name="adj" fmla="val 0"/>
                    </a:avLst>
                  </a:prstGeom>
                  <a:noFill/>
                  <a:ln w="9525" cap="flat" cmpd="sng" algn="ctr">
                    <a:solidFill>
                      <a:srgbClr val="238586"/>
                    </a:solidFill>
                    <a:prstDash val="dash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870585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225" b="1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59" name="圆角矩形 11">
                    <a:extLst>
                      <a:ext uri="{FF2B5EF4-FFF2-40B4-BE49-F238E27FC236}">
                        <a16:creationId xmlns:a16="http://schemas.microsoft.com/office/drawing/2014/main" id="{DB740990-6EED-2A2C-71D9-4C4687348A28}"/>
                      </a:ext>
                    </a:extLst>
                  </p:cNvPr>
                  <p:cNvSpPr/>
                  <p:nvPr/>
                </p:nvSpPr>
                <p:spPr>
                  <a:xfrm>
                    <a:off x="4515245" y="5295228"/>
                    <a:ext cx="1225054" cy="373639"/>
                  </a:xfrm>
                  <a:prstGeom prst="roundRect">
                    <a:avLst>
                      <a:gd name="adj" fmla="val 15394"/>
                    </a:avLst>
                  </a:prstGeom>
                  <a:noFill/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marL="0" marR="0" lvl="0" indent="0" algn="ctr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zh-CN" altLang="en-US" sz="16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边缘设备</a:t>
                    </a:r>
                    <a:endPara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  <p:sp>
              <p:nvSpPr>
                <p:cNvPr id="61" name="圆角矩形 11">
                  <a:extLst>
                    <a:ext uri="{FF2B5EF4-FFF2-40B4-BE49-F238E27FC236}">
                      <a16:creationId xmlns:a16="http://schemas.microsoft.com/office/drawing/2014/main" id="{09C69E33-82D9-30BD-E4F2-1D34B5444A3C}"/>
                    </a:ext>
                  </a:extLst>
                </p:cNvPr>
                <p:cNvSpPr/>
                <p:nvPr/>
              </p:nvSpPr>
              <p:spPr>
                <a:xfrm>
                  <a:off x="2477996" y="2426329"/>
                  <a:ext cx="2420439" cy="363854"/>
                </a:xfrm>
                <a:prstGeom prst="roundRect">
                  <a:avLst/>
                </a:prstGeom>
                <a:solidFill>
                  <a:srgbClr val="238586"/>
                </a:solidFill>
                <a:ln>
                  <a:solidFill>
                    <a:srgbClr val="238586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1600" b="1" dirty="0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管理员</a:t>
                  </a:r>
                </a:p>
              </p:txBody>
            </p:sp>
            <p:sp>
              <p:nvSpPr>
                <p:cNvPr id="62" name="圆角矩形 11">
                  <a:extLst>
                    <a:ext uri="{FF2B5EF4-FFF2-40B4-BE49-F238E27FC236}">
                      <a16:creationId xmlns:a16="http://schemas.microsoft.com/office/drawing/2014/main" id="{1A2BCB55-4BC6-35D1-0790-4A0DBE4D9B51}"/>
                    </a:ext>
                  </a:extLst>
                </p:cNvPr>
                <p:cNvSpPr/>
                <p:nvPr/>
              </p:nvSpPr>
              <p:spPr>
                <a:xfrm>
                  <a:off x="5852698" y="2421212"/>
                  <a:ext cx="2420439" cy="363854"/>
                </a:xfrm>
                <a:prstGeom prst="roundRect">
                  <a:avLst/>
                </a:prstGeom>
                <a:solidFill>
                  <a:srgbClr val="238586"/>
                </a:solidFill>
                <a:ln>
                  <a:solidFill>
                    <a:srgbClr val="238586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1600" b="1" dirty="0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普通用户</a:t>
                  </a:r>
                </a:p>
              </p:txBody>
            </p:sp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B176C5C0-0930-39FE-4474-F76C5AFE110C}"/>
                    </a:ext>
                  </a:extLst>
                </p:cNvPr>
                <p:cNvSpPr txBox="1"/>
                <p:nvPr/>
              </p:nvSpPr>
              <p:spPr>
                <a:xfrm>
                  <a:off x="799441" y="2437763"/>
                  <a:ext cx="8970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zh-CN" altLang="en-US" sz="1800" b="1" dirty="0">
                      <a:highlight>
                        <a:srgbClr val="F7FEFC"/>
                      </a:highlight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应用层</a:t>
                  </a:r>
                </a:p>
              </p:txBody>
            </p:sp>
            <p:sp>
              <p:nvSpPr>
                <p:cNvPr id="66" name="圆角矩形 6">
                  <a:extLst>
                    <a:ext uri="{FF2B5EF4-FFF2-40B4-BE49-F238E27FC236}">
                      <a16:creationId xmlns:a16="http://schemas.microsoft.com/office/drawing/2014/main" id="{4FD45AD2-B0F7-6708-09AD-4F1A882AFFEB}"/>
                    </a:ext>
                  </a:extLst>
                </p:cNvPr>
                <p:cNvSpPr/>
                <p:nvPr/>
              </p:nvSpPr>
              <p:spPr bwMode="auto">
                <a:xfrm>
                  <a:off x="2122577" y="2251002"/>
                  <a:ext cx="6776769" cy="695700"/>
                </a:xfrm>
                <a:prstGeom prst="roundRect">
                  <a:avLst>
                    <a:gd name="adj" fmla="val 0"/>
                  </a:avLst>
                </a:prstGeom>
                <a:noFill/>
                <a:ln w="9525" cap="flat" cmpd="sng" algn="ctr">
                  <a:solidFill>
                    <a:srgbClr val="238586"/>
                  </a:solidFill>
                  <a:prstDash val="dash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87058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25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7" name="梯形 66">
                  <a:extLst>
                    <a:ext uri="{FF2B5EF4-FFF2-40B4-BE49-F238E27FC236}">
                      <a16:creationId xmlns:a16="http://schemas.microsoft.com/office/drawing/2014/main" id="{4F5D22C6-B1C0-EF6B-5B84-10BEABADF06E}"/>
                    </a:ext>
                  </a:extLst>
                </p:cNvPr>
                <p:cNvSpPr/>
                <p:nvPr/>
              </p:nvSpPr>
              <p:spPr bwMode="auto">
                <a:xfrm rot="16200000">
                  <a:off x="1418471" y="5080385"/>
                  <a:ext cx="989574" cy="361020"/>
                </a:xfrm>
                <a:prstGeom prst="trapezoid">
                  <a:avLst>
                    <a:gd name="adj" fmla="val 177201"/>
                  </a:avLst>
                </a:prstGeom>
                <a:gradFill>
                  <a:gsLst>
                    <a:gs pos="0">
                      <a:srgbClr val="4472C4">
                        <a:lumMod val="0"/>
                        <a:lumOff val="100000"/>
                      </a:srgbClr>
                    </a:gs>
                    <a:gs pos="100000">
                      <a:srgbClr val="238586"/>
                    </a:gs>
                  </a:gsLst>
                  <a:lin ang="16500000" scaled="0"/>
                </a:gra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lIns="0" rIns="0"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160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48F5CF44-EBC0-5771-1DB0-97B5631E99FA}"/>
                    </a:ext>
                  </a:extLst>
                </p:cNvPr>
                <p:cNvSpPr txBox="1"/>
                <p:nvPr/>
              </p:nvSpPr>
              <p:spPr>
                <a:xfrm>
                  <a:off x="799439" y="5093251"/>
                  <a:ext cx="8970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zh-CN" altLang="en-US" b="1" dirty="0">
                      <a:highlight>
                        <a:srgbClr val="F7FEFC"/>
                      </a:highlight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设备</a:t>
                  </a:r>
                  <a:r>
                    <a:rPr kumimoji="1" lang="zh-CN" altLang="en-US" sz="1800" b="1" dirty="0">
                      <a:highlight>
                        <a:srgbClr val="F7FEFC"/>
                      </a:highlight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层</a:t>
                  </a:r>
                </a:p>
              </p:txBody>
            </p:sp>
          </p:grpSp>
        </p:grpSp>
        <p:sp>
          <p:nvSpPr>
            <p:cNvPr id="71" name="圆角矩形 11">
              <a:extLst>
                <a:ext uri="{FF2B5EF4-FFF2-40B4-BE49-F238E27FC236}">
                  <a16:creationId xmlns:a16="http://schemas.microsoft.com/office/drawing/2014/main" id="{EAC4F4E2-826A-C009-4B21-2EF95B0D6FC2}"/>
                </a:ext>
              </a:extLst>
            </p:cNvPr>
            <p:cNvSpPr/>
            <p:nvPr/>
          </p:nvSpPr>
          <p:spPr>
            <a:xfrm>
              <a:off x="759455" y="2825493"/>
              <a:ext cx="634683" cy="238702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rgbClr val="238586"/>
              </a:solidFill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边缘数据隔离封装模块</a:t>
              </a: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F8F3B4DF-2F69-25A6-F391-044334D3E735}"/>
              </a:ext>
            </a:extLst>
          </p:cNvPr>
          <p:cNvGrpSpPr/>
          <p:nvPr/>
        </p:nvGrpSpPr>
        <p:grpSpPr>
          <a:xfrm>
            <a:off x="484544" y="82966"/>
            <a:ext cx="9190911" cy="389996"/>
            <a:chOff x="713" y="367"/>
            <a:chExt cx="11412" cy="737"/>
          </a:xfrm>
          <a:solidFill>
            <a:schemeClr val="accent3">
              <a:lumMod val="50000"/>
            </a:schemeClr>
          </a:solidFill>
        </p:grpSpPr>
        <p:sp>
          <p:nvSpPr>
            <p:cNvPr id="80" name="燕尾形 30">
              <a:extLst>
                <a:ext uri="{FF2B5EF4-FFF2-40B4-BE49-F238E27FC236}">
                  <a16:creationId xmlns:a16="http://schemas.microsoft.com/office/drawing/2014/main" id="{2EFD4556-AC91-D16F-0EB0-71CA74C6B04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rot="10800000">
              <a:off x="1443" y="367"/>
              <a:ext cx="2907" cy="737"/>
            </a:xfrm>
            <a:prstGeom prst="chevron">
              <a:avLst>
                <a:gd name="adj" fmla="val 3708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1" name="燕尾形 30">
              <a:extLst>
                <a:ext uri="{FF2B5EF4-FFF2-40B4-BE49-F238E27FC236}">
                  <a16:creationId xmlns:a16="http://schemas.microsoft.com/office/drawing/2014/main" id="{DD99DE5B-D4CC-32BC-5BC8-4BD355937F76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10800000" flipH="1">
              <a:off x="3422" y="367"/>
              <a:ext cx="8703" cy="737"/>
            </a:xfrm>
            <a:prstGeom prst="chevron">
              <a:avLst>
                <a:gd name="adj" fmla="val 3708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2" name="TextBox 17">
              <a:extLst>
                <a:ext uri="{FF2B5EF4-FFF2-40B4-BE49-F238E27FC236}">
                  <a16:creationId xmlns:a16="http://schemas.microsoft.com/office/drawing/2014/main" id="{38BAE278-2E9C-8288-16FD-519E197B30C2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1712" y="367"/>
              <a:ext cx="10184" cy="72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76200" tIns="38100" rIns="76200" bIns="38100" anchor="t">
              <a:spAutoFit/>
            </a:bodyPr>
            <a:lstStyle>
              <a:lvl1pPr marL="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1pPr>
              <a:lvl2pPr marL="4572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2pPr>
              <a:lvl3pPr marL="9144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3pPr>
              <a:lvl4pPr marL="13716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4pPr>
              <a:lvl5pPr marL="18288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5pPr>
            </a:lstStyle>
            <a:p>
              <a:pPr lvl="0"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二、主要研究内容及进展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3" name="任意多边形: 形状 9">
              <a:extLst>
                <a:ext uri="{FF2B5EF4-FFF2-40B4-BE49-F238E27FC236}">
                  <a16:creationId xmlns:a16="http://schemas.microsoft.com/office/drawing/2014/main" id="{F99F63BA-169C-EDAF-A017-FED5574DEAEE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10800000">
              <a:off x="107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4" name="任意多边形: 形状 10">
              <a:extLst>
                <a:ext uri="{FF2B5EF4-FFF2-40B4-BE49-F238E27FC236}">
                  <a16:creationId xmlns:a16="http://schemas.microsoft.com/office/drawing/2014/main" id="{A1177CEE-FADB-E781-D54F-7117AF5B2653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0800000">
              <a:off x="71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原创设计师QQ598969553          _6"/>
          <p:cNvSpPr/>
          <p:nvPr/>
        </p:nvSpPr>
        <p:spPr bwMode="auto">
          <a:xfrm>
            <a:off x="292100" y="622458"/>
            <a:ext cx="4223534" cy="404813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078871"/>
              </a:gs>
              <a:gs pos="0">
                <a:srgbClr val="00A58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algn="ctr"/>
            <a:r>
              <a:rPr lang="zh-CN" altLang="en-US" sz="1835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研究内容</a:t>
            </a:r>
            <a:r>
              <a:rPr lang="en-US" altLang="zh-CN" sz="1835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4.2</a:t>
            </a:r>
            <a:r>
              <a:rPr lang="zh-CN" altLang="en-US" sz="1835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：数据安全访问鉴权模块</a:t>
            </a:r>
          </a:p>
        </p:txBody>
      </p:sp>
      <p:sp>
        <p:nvSpPr>
          <p:cNvPr id="6" name="矩形"/>
          <p:cNvSpPr/>
          <p:nvPr/>
        </p:nvSpPr>
        <p:spPr>
          <a:xfrm>
            <a:off x="292100" y="1115695"/>
            <a:ext cx="9532620" cy="1261745"/>
          </a:xfrm>
          <a:prstGeom prst="rect">
            <a:avLst/>
          </a:prstGeom>
          <a:solidFill>
            <a:srgbClr val="DDF3F1">
              <a:alpha val="70000"/>
            </a:srgbClr>
          </a:solidFill>
          <a:ln w="12700" cap="flat" cmpd="sng" algn="ctr">
            <a:solidFill>
              <a:srgbClr val="238586"/>
            </a:solidFill>
            <a:prstDash val="dash"/>
          </a:ln>
          <a:effectLst/>
        </p:spPr>
        <p:txBody>
          <a:bodyPr anchor="ctr"/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</a:pPr>
            <a:r>
              <a:rPr lang="zh-CN" altLang="en-US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系统通过基于</a:t>
            </a:r>
            <a:r>
              <a:rPr lang="en-US" altLang="zh-CN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JWT</a:t>
            </a:r>
            <a:r>
              <a:rPr lang="zh-CN" altLang="en-US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结构化令牌组件</a:t>
            </a:r>
            <a:r>
              <a:rPr lang="zh-CN" altLang="en-US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，以无状态方式高效承载用户身份与权限。同时，通过集成于</a:t>
            </a:r>
            <a:r>
              <a:rPr lang="en-US" altLang="zh-CN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Nginx</a:t>
            </a:r>
            <a:r>
              <a:rPr lang="zh-CN" altLang="en-US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网关层的动态鉴权组件，在</a:t>
            </a:r>
            <a:r>
              <a:rPr lang="en-US" altLang="zh-CN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WebSocket</a:t>
            </a:r>
            <a:r>
              <a:rPr lang="zh-CN" altLang="en-US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握手阶段对设备连接实施包含参数校验、数据库实时比对的多重验证。上述两类认证流程均受到系统化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威胁防护体系</a:t>
            </a:r>
            <a:r>
              <a:rPr lang="zh-CN" altLang="en-US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的加固。</a:t>
            </a:r>
            <a:endParaRPr lang="zh-CN" altLang="en-US" sz="1800" dirty="0">
              <a:solidFill>
                <a:prstClr val="black">
                  <a:lumMod val="95000"/>
                  <a:lumOff val="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70D15A8-064E-C7A9-D835-90C43E860616}"/>
              </a:ext>
            </a:extLst>
          </p:cNvPr>
          <p:cNvGrpSpPr/>
          <p:nvPr/>
        </p:nvGrpSpPr>
        <p:grpSpPr>
          <a:xfrm>
            <a:off x="484544" y="82966"/>
            <a:ext cx="9190911" cy="389996"/>
            <a:chOff x="713" y="367"/>
            <a:chExt cx="11412" cy="737"/>
          </a:xfrm>
          <a:solidFill>
            <a:schemeClr val="accent3">
              <a:lumMod val="50000"/>
            </a:schemeClr>
          </a:solidFill>
        </p:grpSpPr>
        <p:sp>
          <p:nvSpPr>
            <p:cNvPr id="8" name="燕尾形 30">
              <a:extLst>
                <a:ext uri="{FF2B5EF4-FFF2-40B4-BE49-F238E27FC236}">
                  <a16:creationId xmlns:a16="http://schemas.microsoft.com/office/drawing/2014/main" id="{406DECE6-6C6C-238C-5273-1C5BDA0F5D00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rot="10800000">
              <a:off x="1443" y="367"/>
              <a:ext cx="2907" cy="737"/>
            </a:xfrm>
            <a:prstGeom prst="chevron">
              <a:avLst>
                <a:gd name="adj" fmla="val 3708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2" name="燕尾形 30">
              <a:extLst>
                <a:ext uri="{FF2B5EF4-FFF2-40B4-BE49-F238E27FC236}">
                  <a16:creationId xmlns:a16="http://schemas.microsoft.com/office/drawing/2014/main" id="{23AFF642-A8E6-4732-7AE8-5C543B037AD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rot="10800000" flipH="1">
              <a:off x="3422" y="367"/>
              <a:ext cx="8703" cy="737"/>
            </a:xfrm>
            <a:prstGeom prst="chevron">
              <a:avLst>
                <a:gd name="adj" fmla="val 3708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7">
              <a:extLst>
                <a:ext uri="{FF2B5EF4-FFF2-40B4-BE49-F238E27FC236}">
                  <a16:creationId xmlns:a16="http://schemas.microsoft.com/office/drawing/2014/main" id="{67B5250A-EB83-0044-C787-0D9EE2723AF4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1712" y="367"/>
              <a:ext cx="10184" cy="72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76200" tIns="38100" rIns="76200" bIns="38100" anchor="t">
              <a:spAutoFit/>
            </a:bodyPr>
            <a:lstStyle>
              <a:lvl1pPr marL="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1pPr>
              <a:lvl2pPr marL="4572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2pPr>
              <a:lvl3pPr marL="9144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3pPr>
              <a:lvl4pPr marL="13716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4pPr>
              <a:lvl5pPr marL="18288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5pPr>
            </a:lstStyle>
            <a:p>
              <a:pPr lvl="0"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二、主要研究内容及进展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" name="任意多边形: 形状 9">
              <a:extLst>
                <a:ext uri="{FF2B5EF4-FFF2-40B4-BE49-F238E27FC236}">
                  <a16:creationId xmlns:a16="http://schemas.microsoft.com/office/drawing/2014/main" id="{6DB643B9-E8E7-3A14-E548-D8543C5885DD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10800000">
              <a:off x="107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5" name="任意多边形: 形状 10">
              <a:extLst>
                <a:ext uri="{FF2B5EF4-FFF2-40B4-BE49-F238E27FC236}">
                  <a16:creationId xmlns:a16="http://schemas.microsoft.com/office/drawing/2014/main" id="{953A227C-E8B8-43D9-8DEF-BE4278D6F20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0800000">
              <a:off x="71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9E94B44F-6456-4BF1-E35B-EB94E21E1BCE}"/>
              </a:ext>
            </a:extLst>
          </p:cNvPr>
          <p:cNvGrpSpPr/>
          <p:nvPr/>
        </p:nvGrpSpPr>
        <p:grpSpPr>
          <a:xfrm>
            <a:off x="203107" y="2465864"/>
            <a:ext cx="9877612" cy="3321100"/>
            <a:chOff x="192418" y="2455813"/>
            <a:chExt cx="9877612" cy="3321100"/>
          </a:xfrm>
        </p:grpSpPr>
        <p:grpSp>
          <p:nvGrpSpPr>
            <p:cNvPr id="200" name="组合 199">
              <a:extLst>
                <a:ext uri="{FF2B5EF4-FFF2-40B4-BE49-F238E27FC236}">
                  <a16:creationId xmlns:a16="http://schemas.microsoft.com/office/drawing/2014/main" id="{B3AF1319-1548-6D49-7A12-96E9EB2DDDF6}"/>
                </a:ext>
              </a:extLst>
            </p:cNvPr>
            <p:cNvGrpSpPr/>
            <p:nvPr/>
          </p:nvGrpSpPr>
          <p:grpSpPr>
            <a:xfrm>
              <a:off x="290944" y="2455813"/>
              <a:ext cx="9532620" cy="484304"/>
              <a:chOff x="276310" y="2442233"/>
              <a:chExt cx="9532620" cy="484304"/>
            </a:xfrm>
          </p:grpSpPr>
          <p:sp>
            <p:nvSpPr>
              <p:cNvPr id="48" name="圆角矩形 6">
                <a:extLst>
                  <a:ext uri="{FF2B5EF4-FFF2-40B4-BE49-F238E27FC236}">
                    <a16:creationId xmlns:a16="http://schemas.microsoft.com/office/drawing/2014/main" id="{155C77F9-B481-8FA9-C697-DDD3114D2E37}"/>
                  </a:ext>
                </a:extLst>
              </p:cNvPr>
              <p:cNvSpPr/>
              <p:nvPr/>
            </p:nvSpPr>
            <p:spPr bwMode="auto">
              <a:xfrm>
                <a:off x="276310" y="2442233"/>
                <a:ext cx="9532620" cy="484304"/>
              </a:xfrm>
              <a:prstGeom prst="roundRect">
                <a:avLst>
                  <a:gd name="adj" fmla="val 0"/>
                </a:avLst>
              </a:prstGeom>
              <a:noFill/>
              <a:ln w="9525" cap="flat" cmpd="sng" algn="ctr">
                <a:solidFill>
                  <a:srgbClr val="238586"/>
                </a:solidFill>
                <a:prstDash val="dash"/>
              </a:ln>
              <a:effectLst/>
            </p:spPr>
            <p:txBody>
              <a:bodyPr anchor="ctr"/>
              <a:lstStyle/>
              <a:p>
                <a:pPr marL="0" marR="0" lvl="0" indent="0" algn="ctr" defTabSz="87058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25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" name="圆角矩形 11">
                <a:extLst>
                  <a:ext uri="{FF2B5EF4-FFF2-40B4-BE49-F238E27FC236}">
                    <a16:creationId xmlns:a16="http://schemas.microsoft.com/office/drawing/2014/main" id="{4F96D65D-9CD1-0267-86FA-F119BEE40F43}"/>
                  </a:ext>
                </a:extLst>
              </p:cNvPr>
              <p:cNvSpPr/>
              <p:nvPr/>
            </p:nvSpPr>
            <p:spPr>
              <a:xfrm>
                <a:off x="1570908" y="2494002"/>
                <a:ext cx="1225054" cy="411550"/>
              </a:xfrm>
              <a:prstGeom prst="roundRect">
                <a:avLst>
                  <a:gd name="adj" fmla="val 15394"/>
                </a:avLst>
              </a:prstGeom>
              <a:solidFill>
                <a:srgbClr val="1AA3AA"/>
              </a:solidFill>
              <a:ln>
                <a:solidFill>
                  <a:srgbClr val="238586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审计日志</a:t>
                </a:r>
              </a:p>
            </p:txBody>
          </p:sp>
          <p:sp>
            <p:nvSpPr>
              <p:cNvPr id="50" name="圆角矩形 11">
                <a:extLst>
                  <a:ext uri="{FF2B5EF4-FFF2-40B4-BE49-F238E27FC236}">
                    <a16:creationId xmlns:a16="http://schemas.microsoft.com/office/drawing/2014/main" id="{022182AF-6777-A5C6-A57F-86EE1CCC1640}"/>
                  </a:ext>
                </a:extLst>
              </p:cNvPr>
              <p:cNvSpPr/>
              <p:nvPr/>
            </p:nvSpPr>
            <p:spPr>
              <a:xfrm>
                <a:off x="2984462" y="2494400"/>
                <a:ext cx="1225054" cy="411550"/>
              </a:xfrm>
              <a:prstGeom prst="roundRect">
                <a:avLst>
                  <a:gd name="adj" fmla="val 15394"/>
                </a:avLst>
              </a:prstGeom>
              <a:solidFill>
                <a:srgbClr val="1AA3AA"/>
              </a:solidFill>
              <a:ln>
                <a:solidFill>
                  <a:srgbClr val="238586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机器学习</a:t>
                </a:r>
              </a:p>
            </p:txBody>
          </p:sp>
          <p:sp>
            <p:nvSpPr>
              <p:cNvPr id="51" name="圆角矩形 11">
                <a:extLst>
                  <a:ext uri="{FF2B5EF4-FFF2-40B4-BE49-F238E27FC236}">
                    <a16:creationId xmlns:a16="http://schemas.microsoft.com/office/drawing/2014/main" id="{60E03721-76B2-9746-06BC-AF72EDCB50A0}"/>
                  </a:ext>
                </a:extLst>
              </p:cNvPr>
              <p:cNvSpPr/>
              <p:nvPr/>
            </p:nvSpPr>
            <p:spPr>
              <a:xfrm>
                <a:off x="4445883" y="2487999"/>
                <a:ext cx="1225054" cy="411550"/>
              </a:xfrm>
              <a:prstGeom prst="roundRect">
                <a:avLst>
                  <a:gd name="adj" fmla="val 15394"/>
                </a:avLst>
              </a:prstGeom>
              <a:solidFill>
                <a:srgbClr val="1AA3AA"/>
              </a:solidFill>
              <a:ln>
                <a:solidFill>
                  <a:srgbClr val="238586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传输加密</a:t>
                </a:r>
              </a:p>
            </p:txBody>
          </p:sp>
          <p:sp>
            <p:nvSpPr>
              <p:cNvPr id="52" name="圆角矩形 11">
                <a:extLst>
                  <a:ext uri="{FF2B5EF4-FFF2-40B4-BE49-F238E27FC236}">
                    <a16:creationId xmlns:a16="http://schemas.microsoft.com/office/drawing/2014/main" id="{B54050B2-4C6D-F4F6-3414-7346B4000576}"/>
                  </a:ext>
                </a:extLst>
              </p:cNvPr>
              <p:cNvSpPr/>
              <p:nvPr/>
            </p:nvSpPr>
            <p:spPr>
              <a:xfrm>
                <a:off x="5845652" y="2494400"/>
                <a:ext cx="1225054" cy="411550"/>
              </a:xfrm>
              <a:prstGeom prst="roundRect">
                <a:avLst>
                  <a:gd name="adj" fmla="val 15394"/>
                </a:avLst>
              </a:prstGeom>
              <a:solidFill>
                <a:srgbClr val="1AA3AA"/>
              </a:solidFill>
              <a:ln>
                <a:solidFill>
                  <a:srgbClr val="238586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多层校验</a:t>
                </a:r>
              </a:p>
            </p:txBody>
          </p:sp>
          <p:sp>
            <p:nvSpPr>
              <p:cNvPr id="53" name="圆角矩形 11">
                <a:extLst>
                  <a:ext uri="{FF2B5EF4-FFF2-40B4-BE49-F238E27FC236}">
                    <a16:creationId xmlns:a16="http://schemas.microsoft.com/office/drawing/2014/main" id="{7A71CFFD-CC61-EABE-1602-7AD3588A68FD}"/>
                  </a:ext>
                </a:extLst>
              </p:cNvPr>
              <p:cNvSpPr/>
              <p:nvPr/>
            </p:nvSpPr>
            <p:spPr>
              <a:xfrm>
                <a:off x="7245420" y="2487999"/>
                <a:ext cx="1425297" cy="411550"/>
              </a:xfrm>
              <a:prstGeom prst="roundRect">
                <a:avLst>
                  <a:gd name="adj" fmla="val 15394"/>
                </a:avLst>
              </a:prstGeom>
              <a:solidFill>
                <a:srgbClr val="1AA3AA"/>
              </a:solidFill>
              <a:ln>
                <a:solidFill>
                  <a:srgbClr val="238586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6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生命周期管理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199" name="组合 198">
              <a:extLst>
                <a:ext uri="{FF2B5EF4-FFF2-40B4-BE49-F238E27FC236}">
                  <a16:creationId xmlns:a16="http://schemas.microsoft.com/office/drawing/2014/main" id="{7FEB1111-55B9-8020-448A-6EE80E5C2A0D}"/>
                </a:ext>
              </a:extLst>
            </p:cNvPr>
            <p:cNvGrpSpPr/>
            <p:nvPr/>
          </p:nvGrpSpPr>
          <p:grpSpPr>
            <a:xfrm>
              <a:off x="192418" y="3218159"/>
              <a:ext cx="9877612" cy="2558754"/>
              <a:chOff x="240043" y="3156246"/>
              <a:chExt cx="9877612" cy="2558754"/>
            </a:xfrm>
          </p:grpSpPr>
          <p:sp>
            <p:nvSpPr>
              <p:cNvPr id="4" name="灯片编号占位符 1"/>
              <p:cNvSpPr txBox="1"/>
              <p:nvPr/>
            </p:nvSpPr>
            <p:spPr>
              <a:xfrm>
                <a:off x="6616806" y="5410729"/>
                <a:ext cx="3500849" cy="304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horz" wrap="square" lIns="57148" tIns="28573" rIns="57148" bIns="28573" numCol="1" anchor="t" anchorCtr="0" compatLnSpc="1"/>
              <a:lstStyle>
                <a:defPPr>
                  <a:defRPr lang="zh-CN"/>
                </a:defPPr>
                <a:lvl1pPr marL="0" algn="r" defTabSz="914400" rtl="0" eaLnBrk="1" latinLnBrk="0" hangingPunct="1"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fld id="{883EE7F0-DC5E-409B-BE0A-FF8F3CE65925}" type="slidenum">
                  <a:rPr lang="zh-CN" altLang="zh-CN" sz="1165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fld>
                <a:endParaRPr lang="zh-CN" altLang="zh-CN" sz="1165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28" name="组合 127">
                <a:extLst>
                  <a:ext uri="{FF2B5EF4-FFF2-40B4-BE49-F238E27FC236}">
                    <a16:creationId xmlns:a16="http://schemas.microsoft.com/office/drawing/2014/main" id="{1E45D2B4-1B69-8C6E-0F0C-981362363335}"/>
                  </a:ext>
                </a:extLst>
              </p:cNvPr>
              <p:cNvGrpSpPr/>
              <p:nvPr/>
            </p:nvGrpSpPr>
            <p:grpSpPr>
              <a:xfrm>
                <a:off x="240043" y="3238783"/>
                <a:ext cx="3700313" cy="2009354"/>
                <a:chOff x="484544" y="3036234"/>
                <a:chExt cx="3700313" cy="2009354"/>
              </a:xfrm>
            </p:grpSpPr>
            <p:grpSp>
              <p:nvGrpSpPr>
                <p:cNvPr id="87" name="组合 86">
                  <a:extLst>
                    <a:ext uri="{FF2B5EF4-FFF2-40B4-BE49-F238E27FC236}">
                      <a16:creationId xmlns:a16="http://schemas.microsoft.com/office/drawing/2014/main" id="{8B7688EE-B260-DF2B-3CF3-6A4EFAF304E0}"/>
                    </a:ext>
                  </a:extLst>
                </p:cNvPr>
                <p:cNvGrpSpPr/>
                <p:nvPr/>
              </p:nvGrpSpPr>
              <p:grpSpPr>
                <a:xfrm>
                  <a:off x="670960" y="3138788"/>
                  <a:ext cx="1629941" cy="510639"/>
                  <a:chOff x="670960" y="3138788"/>
                  <a:chExt cx="1629941" cy="510639"/>
                </a:xfrm>
              </p:grpSpPr>
              <p:cxnSp>
                <p:nvCxnSpPr>
                  <p:cNvPr id="29" name="直线箭头连接符 53">
                    <a:extLst>
                      <a:ext uri="{FF2B5EF4-FFF2-40B4-BE49-F238E27FC236}">
                        <a16:creationId xmlns:a16="http://schemas.microsoft.com/office/drawing/2014/main" id="{7BA844A2-7EF2-EFB1-8EC3-CD146420A5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464550" y="3375865"/>
                    <a:ext cx="0" cy="273562"/>
                  </a:xfrm>
                  <a:prstGeom prst="straightConnector1">
                    <a:avLst/>
                  </a:prstGeom>
                  <a:ln>
                    <a:solidFill>
                      <a:srgbClr val="007F7F"/>
                    </a:solidFill>
                    <a:headEnd type="none" w="med" len="med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矩形 35">
                    <a:extLst>
                      <a:ext uri="{FF2B5EF4-FFF2-40B4-BE49-F238E27FC236}">
                        <a16:creationId xmlns:a16="http://schemas.microsoft.com/office/drawing/2014/main" id="{854BDB2C-42B9-F832-CD54-9E3CC30B02F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072467" y="3155425"/>
                    <a:ext cx="801252" cy="2819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7F7F"/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0" tIns="0" rIns="0" bIns="0" numCol="1" rtlCol="0" anchor="t" anchorCtr="0" compatLnSpc="1">
                    <a:spAutoFit/>
                  </a:bodyPr>
                  <a:lstStyle/>
                  <a:p>
                    <a:pPr eaLnBrk="0" hangingPunct="0"/>
                    <a:endParaRPr lang="zh-CN" altLang="en-US" b="0" dirty="0"/>
                  </a:p>
                </p:txBody>
              </p:sp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EE51C410-CE21-3970-AB20-0C89EE413018}"/>
                      </a:ext>
                    </a:extLst>
                  </p:cNvPr>
                  <p:cNvSpPr txBox="1"/>
                  <p:nvPr/>
                </p:nvSpPr>
                <p:spPr>
                  <a:xfrm>
                    <a:off x="670960" y="3138788"/>
                    <a:ext cx="1629941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用户访问</a:t>
                    </a:r>
                    <a:endParaRPr kumimoji="1" lang="zh-CN" altLang="en-US" sz="1200" b="1" dirty="0">
                      <a:solidFill>
                        <a:srgbClr val="C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88" name="组合 87">
                  <a:extLst>
                    <a:ext uri="{FF2B5EF4-FFF2-40B4-BE49-F238E27FC236}">
                      <a16:creationId xmlns:a16="http://schemas.microsoft.com/office/drawing/2014/main" id="{1D616E7B-6CE8-3ACD-7EC2-9462FAE7B547}"/>
                    </a:ext>
                  </a:extLst>
                </p:cNvPr>
                <p:cNvGrpSpPr/>
                <p:nvPr/>
              </p:nvGrpSpPr>
              <p:grpSpPr>
                <a:xfrm>
                  <a:off x="484544" y="3635870"/>
                  <a:ext cx="1944833" cy="510639"/>
                  <a:chOff x="670961" y="3138788"/>
                  <a:chExt cx="1549663" cy="510639"/>
                </a:xfrm>
              </p:grpSpPr>
              <p:cxnSp>
                <p:nvCxnSpPr>
                  <p:cNvPr id="89" name="直线箭头连接符 53">
                    <a:extLst>
                      <a:ext uri="{FF2B5EF4-FFF2-40B4-BE49-F238E27FC236}">
                        <a16:creationId xmlns:a16="http://schemas.microsoft.com/office/drawing/2014/main" id="{49FDD165-DC62-2019-94E2-6AADB84987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464550" y="3375865"/>
                    <a:ext cx="0" cy="273562"/>
                  </a:xfrm>
                  <a:prstGeom prst="straightConnector1">
                    <a:avLst/>
                  </a:prstGeom>
                  <a:ln>
                    <a:solidFill>
                      <a:srgbClr val="007F7F"/>
                    </a:solidFill>
                    <a:headEnd type="none" w="med" len="med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0" name="矩形 89">
                    <a:extLst>
                      <a:ext uri="{FF2B5EF4-FFF2-40B4-BE49-F238E27FC236}">
                        <a16:creationId xmlns:a16="http://schemas.microsoft.com/office/drawing/2014/main" id="{A13AC6A5-A299-FE4D-A77B-1257C217587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43222" y="3155425"/>
                    <a:ext cx="1033869" cy="2819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7F7F"/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0" tIns="0" rIns="0" bIns="0" numCol="1" rtlCol="0" anchor="t" anchorCtr="0" compatLnSpc="1">
                    <a:spAutoFit/>
                  </a:bodyPr>
                  <a:lstStyle/>
                  <a:p>
                    <a:pPr eaLnBrk="0" hangingPunct="0"/>
                    <a:endParaRPr lang="zh-CN" altLang="en-US" b="0" dirty="0"/>
                  </a:p>
                </p:txBody>
              </p:sp>
              <p:sp>
                <p:nvSpPr>
                  <p:cNvPr id="91" name="文本框 90">
                    <a:extLst>
                      <a:ext uri="{FF2B5EF4-FFF2-40B4-BE49-F238E27FC236}">
                        <a16:creationId xmlns:a16="http://schemas.microsoft.com/office/drawing/2014/main" id="{0351A38C-B651-CF81-F8F2-4897F6FD9201}"/>
                      </a:ext>
                    </a:extLst>
                  </p:cNvPr>
                  <p:cNvSpPr txBox="1"/>
                  <p:nvPr/>
                </p:nvSpPr>
                <p:spPr>
                  <a:xfrm>
                    <a:off x="670961" y="3138788"/>
                    <a:ext cx="154966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登录认证接口</a:t>
                    </a:r>
                    <a:endParaRPr kumimoji="1" lang="zh-CN" altLang="en-US" sz="1200" b="1" dirty="0">
                      <a:solidFill>
                        <a:srgbClr val="C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96" name="菱形 95">
                  <a:extLst>
                    <a:ext uri="{FF2B5EF4-FFF2-40B4-BE49-F238E27FC236}">
                      <a16:creationId xmlns:a16="http://schemas.microsoft.com/office/drawing/2014/main" id="{B515474E-B353-DF7D-4253-16E9CA6DB058}"/>
                    </a:ext>
                  </a:extLst>
                </p:cNvPr>
                <p:cNvSpPr/>
                <p:nvPr/>
              </p:nvSpPr>
              <p:spPr bwMode="auto">
                <a:xfrm>
                  <a:off x="941493" y="4191859"/>
                  <a:ext cx="1078016" cy="307777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solidFill>
                    <a:srgbClr val="007F7F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0" tIns="0" rIns="0" bIns="0" numCol="1" rtlCol="0" anchor="t" anchorCtr="0" compatLnSpc="1"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4400" b="0" i="0" u="none" strike="noStrike" cap="none" normalizeH="0" baseline="0">
                    <a:ln>
                      <a:noFill/>
                    </a:ln>
                    <a:solidFill>
                      <a:schemeClr val="accent2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endParaRPr>
                </a:p>
              </p:txBody>
            </p:sp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26CE9CED-C75A-5291-7302-42662D11C950}"/>
                    </a:ext>
                  </a:extLst>
                </p:cNvPr>
                <p:cNvSpPr txBox="1"/>
                <p:nvPr/>
              </p:nvSpPr>
              <p:spPr>
                <a:xfrm>
                  <a:off x="950452" y="4177644"/>
                  <a:ext cx="107801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zh-CN" altLang="en-US" sz="1200" b="1" dirty="0">
                      <a:solidFill>
                        <a:srgbClr val="C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身份验证</a:t>
                  </a:r>
                </a:p>
              </p:txBody>
            </p:sp>
            <p:grpSp>
              <p:nvGrpSpPr>
                <p:cNvPr id="98" name="组合 97">
                  <a:extLst>
                    <a:ext uri="{FF2B5EF4-FFF2-40B4-BE49-F238E27FC236}">
                      <a16:creationId xmlns:a16="http://schemas.microsoft.com/office/drawing/2014/main" id="{E989D15E-7122-364F-C3DD-9A1A7A1550E1}"/>
                    </a:ext>
                  </a:extLst>
                </p:cNvPr>
                <p:cNvGrpSpPr/>
                <p:nvPr/>
              </p:nvGrpSpPr>
              <p:grpSpPr>
                <a:xfrm>
                  <a:off x="491714" y="4747031"/>
                  <a:ext cx="1944833" cy="298557"/>
                  <a:chOff x="670961" y="3138788"/>
                  <a:chExt cx="1549663" cy="298557"/>
                </a:xfrm>
              </p:grpSpPr>
              <p:sp>
                <p:nvSpPr>
                  <p:cNvPr id="100" name="矩形 99">
                    <a:extLst>
                      <a:ext uri="{FF2B5EF4-FFF2-40B4-BE49-F238E27FC236}">
                        <a16:creationId xmlns:a16="http://schemas.microsoft.com/office/drawing/2014/main" id="{EA102AC5-5728-C76F-D699-3D0FE54285E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43222" y="3155425"/>
                    <a:ext cx="1033869" cy="2819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7F7F"/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0" tIns="0" rIns="0" bIns="0" numCol="1" rtlCol="0" anchor="t" anchorCtr="0" compatLnSpc="1">
                    <a:spAutoFit/>
                  </a:bodyPr>
                  <a:lstStyle/>
                  <a:p>
                    <a:pPr eaLnBrk="0" hangingPunct="0"/>
                    <a:endParaRPr lang="zh-CN" altLang="en-US" b="0" dirty="0"/>
                  </a:p>
                </p:txBody>
              </p:sp>
              <p:sp>
                <p:nvSpPr>
                  <p:cNvPr id="101" name="文本框 100">
                    <a:extLst>
                      <a:ext uri="{FF2B5EF4-FFF2-40B4-BE49-F238E27FC236}">
                        <a16:creationId xmlns:a16="http://schemas.microsoft.com/office/drawing/2014/main" id="{76EB4427-5566-C344-2E14-59D451C13E38}"/>
                      </a:ext>
                    </a:extLst>
                  </p:cNvPr>
                  <p:cNvSpPr txBox="1"/>
                  <p:nvPr/>
                </p:nvSpPr>
                <p:spPr>
                  <a:xfrm>
                    <a:off x="670961" y="3138788"/>
                    <a:ext cx="154966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en-US" altLang="zh-CN" sz="1200" b="1" dirty="0" err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JWTtoken</a:t>
                    </a:r>
                    <a:endParaRPr kumimoji="1" lang="zh-CN" altLang="en-US" sz="1200" b="1" dirty="0">
                      <a:solidFill>
                        <a:srgbClr val="C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cxnSp>
              <p:nvCxnSpPr>
                <p:cNvPr id="102" name="直线箭头连接符 53">
                  <a:extLst>
                    <a:ext uri="{FF2B5EF4-FFF2-40B4-BE49-F238E27FC236}">
                      <a16:creationId xmlns:a16="http://schemas.microsoft.com/office/drawing/2014/main" id="{B68F5F05-E936-E021-8756-19E6504EB08B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487524" y="4499636"/>
                  <a:ext cx="0" cy="273562"/>
                </a:xfrm>
                <a:prstGeom prst="straightConnector1">
                  <a:avLst/>
                </a:prstGeom>
                <a:ln>
                  <a:solidFill>
                    <a:srgbClr val="007F7F"/>
                  </a:solidFill>
                  <a:headEnd type="none" w="med" len="med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D7E74BA3-B3BF-D614-41A0-359549AA6A23}"/>
                    </a:ext>
                  </a:extLst>
                </p:cNvPr>
                <p:cNvSpPr txBox="1"/>
                <p:nvPr/>
              </p:nvSpPr>
              <p:spPr>
                <a:xfrm>
                  <a:off x="1430802" y="4485421"/>
                  <a:ext cx="605099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zh-CN" altLang="en-US" sz="900" b="1" dirty="0">
                      <a:solidFill>
                        <a:srgbClr val="C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成功</a:t>
                  </a:r>
                </a:p>
              </p:txBody>
            </p:sp>
            <p:cxnSp>
              <p:nvCxnSpPr>
                <p:cNvPr id="104" name="直线箭头连接符 59">
                  <a:extLst>
                    <a:ext uri="{FF2B5EF4-FFF2-40B4-BE49-F238E27FC236}">
                      <a16:creationId xmlns:a16="http://schemas.microsoft.com/office/drawing/2014/main" id="{032D09F9-A6F2-CB3C-432B-D78F24839A4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131332" y="4899389"/>
                  <a:ext cx="441854" cy="0"/>
                </a:xfrm>
                <a:prstGeom prst="straightConnector1">
                  <a:avLst/>
                </a:prstGeom>
                <a:ln>
                  <a:solidFill>
                    <a:srgbClr val="007F7F"/>
                  </a:solidFill>
                  <a:headEnd type="none" w="med" len="med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0" name="组合 109">
                  <a:extLst>
                    <a:ext uri="{FF2B5EF4-FFF2-40B4-BE49-F238E27FC236}">
                      <a16:creationId xmlns:a16="http://schemas.microsoft.com/office/drawing/2014/main" id="{FCC6E4AF-7D84-1F13-0B20-471AE509179C}"/>
                    </a:ext>
                  </a:extLst>
                </p:cNvPr>
                <p:cNvGrpSpPr/>
                <p:nvPr/>
              </p:nvGrpSpPr>
              <p:grpSpPr>
                <a:xfrm>
                  <a:off x="2240024" y="4478730"/>
                  <a:ext cx="1944833" cy="555283"/>
                  <a:chOff x="670961" y="2882062"/>
                  <a:chExt cx="1549663" cy="555283"/>
                </a:xfrm>
              </p:grpSpPr>
              <p:cxnSp>
                <p:nvCxnSpPr>
                  <p:cNvPr id="111" name="直线箭头连接符 53">
                    <a:extLst>
                      <a:ext uri="{FF2B5EF4-FFF2-40B4-BE49-F238E27FC236}">
                        <a16:creationId xmlns:a16="http://schemas.microsoft.com/office/drawing/2014/main" id="{BBBD84A7-A88E-CE54-AB8A-08EAFEC35F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1464550" y="2882062"/>
                    <a:ext cx="0" cy="271958"/>
                  </a:xfrm>
                  <a:prstGeom prst="straightConnector1">
                    <a:avLst/>
                  </a:prstGeom>
                  <a:ln>
                    <a:solidFill>
                      <a:srgbClr val="007F7F"/>
                    </a:solidFill>
                    <a:headEnd type="none" w="med" len="med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2" name="矩形 111">
                    <a:extLst>
                      <a:ext uri="{FF2B5EF4-FFF2-40B4-BE49-F238E27FC236}">
                        <a16:creationId xmlns:a16="http://schemas.microsoft.com/office/drawing/2014/main" id="{B34B35AE-56D1-0D2F-CD45-4946A25F9ED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43222" y="3155425"/>
                    <a:ext cx="1033869" cy="2819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7F7F"/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0" tIns="0" rIns="0" bIns="0" numCol="1" rtlCol="0" anchor="t" anchorCtr="0" compatLnSpc="1">
                    <a:spAutoFit/>
                  </a:bodyPr>
                  <a:lstStyle/>
                  <a:p>
                    <a:pPr eaLnBrk="0" hangingPunct="0"/>
                    <a:endParaRPr lang="zh-CN" altLang="en-US" b="0" dirty="0"/>
                  </a:p>
                </p:txBody>
              </p:sp>
              <p:sp>
                <p:nvSpPr>
                  <p:cNvPr id="113" name="文本框 112">
                    <a:extLst>
                      <a:ext uri="{FF2B5EF4-FFF2-40B4-BE49-F238E27FC236}">
                        <a16:creationId xmlns:a16="http://schemas.microsoft.com/office/drawing/2014/main" id="{44BA7D21-82CD-12DE-4C0D-0E4C836998C8}"/>
                      </a:ext>
                    </a:extLst>
                  </p:cNvPr>
                  <p:cNvSpPr txBox="1"/>
                  <p:nvPr/>
                </p:nvSpPr>
                <p:spPr>
                  <a:xfrm>
                    <a:off x="670961" y="3138788"/>
                    <a:ext cx="154966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前端存储</a:t>
                    </a:r>
                  </a:p>
                </p:txBody>
              </p:sp>
            </p:grpSp>
            <p:grpSp>
              <p:nvGrpSpPr>
                <p:cNvPr id="116" name="组合 115">
                  <a:extLst>
                    <a:ext uri="{FF2B5EF4-FFF2-40B4-BE49-F238E27FC236}">
                      <a16:creationId xmlns:a16="http://schemas.microsoft.com/office/drawing/2014/main" id="{C2C46AD3-B2A6-644E-B23B-ABCF9B97246E}"/>
                    </a:ext>
                  </a:extLst>
                </p:cNvPr>
                <p:cNvGrpSpPr/>
                <p:nvPr/>
              </p:nvGrpSpPr>
              <p:grpSpPr>
                <a:xfrm>
                  <a:off x="2233104" y="3924010"/>
                  <a:ext cx="1944833" cy="555283"/>
                  <a:chOff x="670961" y="2882062"/>
                  <a:chExt cx="1549663" cy="555283"/>
                </a:xfrm>
              </p:grpSpPr>
              <p:cxnSp>
                <p:nvCxnSpPr>
                  <p:cNvPr id="117" name="直线箭头连接符 53">
                    <a:extLst>
                      <a:ext uri="{FF2B5EF4-FFF2-40B4-BE49-F238E27FC236}">
                        <a16:creationId xmlns:a16="http://schemas.microsoft.com/office/drawing/2014/main" id="{262E89BD-5863-A84A-1F21-A0B3B117F7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1464550" y="2882062"/>
                    <a:ext cx="0" cy="271958"/>
                  </a:xfrm>
                  <a:prstGeom prst="straightConnector1">
                    <a:avLst/>
                  </a:prstGeom>
                  <a:ln>
                    <a:solidFill>
                      <a:srgbClr val="007F7F"/>
                    </a:solidFill>
                    <a:headEnd type="none" w="med" len="med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8" name="矩形 117">
                    <a:extLst>
                      <a:ext uri="{FF2B5EF4-FFF2-40B4-BE49-F238E27FC236}">
                        <a16:creationId xmlns:a16="http://schemas.microsoft.com/office/drawing/2014/main" id="{4BCEC10B-2966-5530-5DDE-2B95AF0470A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43222" y="3155425"/>
                    <a:ext cx="1033869" cy="2819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7F7F"/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0" tIns="0" rIns="0" bIns="0" numCol="1" rtlCol="0" anchor="t" anchorCtr="0" compatLnSpc="1">
                    <a:spAutoFit/>
                  </a:bodyPr>
                  <a:lstStyle/>
                  <a:p>
                    <a:pPr eaLnBrk="0" hangingPunct="0"/>
                    <a:endParaRPr lang="zh-CN" altLang="en-US" b="0" dirty="0"/>
                  </a:p>
                </p:txBody>
              </p:sp>
              <p:sp>
                <p:nvSpPr>
                  <p:cNvPr id="119" name="文本框 118">
                    <a:extLst>
                      <a:ext uri="{FF2B5EF4-FFF2-40B4-BE49-F238E27FC236}">
                        <a16:creationId xmlns:a16="http://schemas.microsoft.com/office/drawing/2014/main" id="{7FC233C6-3A24-F1F8-F263-1D68D9073CCF}"/>
                      </a:ext>
                    </a:extLst>
                  </p:cNvPr>
                  <p:cNvSpPr txBox="1"/>
                  <p:nvPr/>
                </p:nvSpPr>
                <p:spPr>
                  <a:xfrm>
                    <a:off x="670961" y="3138788"/>
                    <a:ext cx="154966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请求拦截</a:t>
                    </a:r>
                  </a:p>
                </p:txBody>
              </p:sp>
            </p:grpSp>
            <p:grpSp>
              <p:nvGrpSpPr>
                <p:cNvPr id="120" name="组合 119">
                  <a:extLst>
                    <a:ext uri="{FF2B5EF4-FFF2-40B4-BE49-F238E27FC236}">
                      <a16:creationId xmlns:a16="http://schemas.microsoft.com/office/drawing/2014/main" id="{96E473EE-4CB3-9279-4D44-74D7D709A358}"/>
                    </a:ext>
                  </a:extLst>
                </p:cNvPr>
                <p:cNvGrpSpPr/>
                <p:nvPr/>
              </p:nvGrpSpPr>
              <p:grpSpPr>
                <a:xfrm>
                  <a:off x="2215100" y="3345289"/>
                  <a:ext cx="1944833" cy="555283"/>
                  <a:chOff x="670961" y="2882062"/>
                  <a:chExt cx="1549663" cy="555283"/>
                </a:xfrm>
              </p:grpSpPr>
              <p:cxnSp>
                <p:nvCxnSpPr>
                  <p:cNvPr id="121" name="直线箭头连接符 53">
                    <a:extLst>
                      <a:ext uri="{FF2B5EF4-FFF2-40B4-BE49-F238E27FC236}">
                        <a16:creationId xmlns:a16="http://schemas.microsoft.com/office/drawing/2014/main" id="{D01BA6D7-8130-5FC8-2439-3BE2026878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1464550" y="2882062"/>
                    <a:ext cx="0" cy="271958"/>
                  </a:xfrm>
                  <a:prstGeom prst="straightConnector1">
                    <a:avLst/>
                  </a:prstGeom>
                  <a:ln>
                    <a:solidFill>
                      <a:srgbClr val="007F7F"/>
                    </a:solidFill>
                    <a:headEnd type="none" w="med" len="med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矩形 121">
                    <a:extLst>
                      <a:ext uri="{FF2B5EF4-FFF2-40B4-BE49-F238E27FC236}">
                        <a16:creationId xmlns:a16="http://schemas.microsoft.com/office/drawing/2014/main" id="{60C18264-6212-9755-07C3-E8EE428F666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43222" y="3155425"/>
                    <a:ext cx="1033869" cy="2819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7F7F"/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0" tIns="0" rIns="0" bIns="0" numCol="1" rtlCol="0" anchor="t" anchorCtr="0" compatLnSpc="1">
                    <a:spAutoFit/>
                  </a:bodyPr>
                  <a:lstStyle/>
                  <a:p>
                    <a:pPr eaLnBrk="0" hangingPunct="0"/>
                    <a:endParaRPr lang="zh-CN" altLang="en-US" b="0" dirty="0"/>
                  </a:p>
                </p:txBody>
              </p:sp>
              <p:sp>
                <p:nvSpPr>
                  <p:cNvPr id="123" name="文本框 122">
                    <a:extLst>
                      <a:ext uri="{FF2B5EF4-FFF2-40B4-BE49-F238E27FC236}">
                        <a16:creationId xmlns:a16="http://schemas.microsoft.com/office/drawing/2014/main" id="{DECD645F-3144-F00E-DE95-7E109A8673A1}"/>
                      </a:ext>
                    </a:extLst>
                  </p:cNvPr>
                  <p:cNvSpPr txBox="1"/>
                  <p:nvPr/>
                </p:nvSpPr>
                <p:spPr>
                  <a:xfrm>
                    <a:off x="670961" y="3138788"/>
                    <a:ext cx="154966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校验令牌</a:t>
                    </a:r>
                  </a:p>
                </p:txBody>
              </p:sp>
            </p:grpSp>
            <p:grpSp>
              <p:nvGrpSpPr>
                <p:cNvPr id="124" name="组合 123">
                  <a:extLst>
                    <a:ext uri="{FF2B5EF4-FFF2-40B4-BE49-F238E27FC236}">
                      <a16:creationId xmlns:a16="http://schemas.microsoft.com/office/drawing/2014/main" id="{C3353ECF-9473-28E2-CD72-78C504705B9B}"/>
                    </a:ext>
                  </a:extLst>
                </p:cNvPr>
                <p:cNvGrpSpPr/>
                <p:nvPr/>
              </p:nvGrpSpPr>
              <p:grpSpPr>
                <a:xfrm>
                  <a:off x="2215099" y="3036234"/>
                  <a:ext cx="1944833" cy="298557"/>
                  <a:chOff x="670961" y="3138788"/>
                  <a:chExt cx="1549663" cy="298557"/>
                </a:xfrm>
              </p:grpSpPr>
              <p:sp>
                <p:nvSpPr>
                  <p:cNvPr id="126" name="矩形 125">
                    <a:extLst>
                      <a:ext uri="{FF2B5EF4-FFF2-40B4-BE49-F238E27FC236}">
                        <a16:creationId xmlns:a16="http://schemas.microsoft.com/office/drawing/2014/main" id="{FF36B932-9474-867D-BC10-1516FE2BCFD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43222" y="3155425"/>
                    <a:ext cx="1033869" cy="2819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7F7F"/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0" tIns="0" rIns="0" bIns="0" numCol="1" rtlCol="0" anchor="t" anchorCtr="0" compatLnSpc="1">
                    <a:spAutoFit/>
                  </a:bodyPr>
                  <a:lstStyle/>
                  <a:p>
                    <a:pPr eaLnBrk="0" hangingPunct="0"/>
                    <a:endParaRPr lang="zh-CN" altLang="en-US" b="0" dirty="0"/>
                  </a:p>
                </p:txBody>
              </p:sp>
              <p:sp>
                <p:nvSpPr>
                  <p:cNvPr id="127" name="文本框 126">
                    <a:extLst>
                      <a:ext uri="{FF2B5EF4-FFF2-40B4-BE49-F238E27FC236}">
                        <a16:creationId xmlns:a16="http://schemas.microsoft.com/office/drawing/2014/main" id="{4F3A70FC-0137-1526-BB04-114E38C4A12F}"/>
                      </a:ext>
                    </a:extLst>
                  </p:cNvPr>
                  <p:cNvSpPr txBox="1"/>
                  <p:nvPr/>
                </p:nvSpPr>
                <p:spPr>
                  <a:xfrm>
                    <a:off x="670961" y="3138788"/>
                    <a:ext cx="154966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业务</a:t>
                    </a:r>
                    <a:r>
                      <a:rPr kumimoji="1"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API</a:t>
                    </a:r>
                    <a:endParaRPr kumimoji="1" lang="zh-CN" altLang="en-US" sz="12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33" name="组合 132">
                <a:extLst>
                  <a:ext uri="{FF2B5EF4-FFF2-40B4-BE49-F238E27FC236}">
                    <a16:creationId xmlns:a16="http://schemas.microsoft.com/office/drawing/2014/main" id="{09FACFD1-51E8-9274-0EC6-6D78EBF7856A}"/>
                  </a:ext>
                </a:extLst>
              </p:cNvPr>
              <p:cNvGrpSpPr/>
              <p:nvPr/>
            </p:nvGrpSpPr>
            <p:grpSpPr>
              <a:xfrm>
                <a:off x="4408936" y="3156246"/>
                <a:ext cx="1167673" cy="2397460"/>
                <a:chOff x="4321648" y="4996160"/>
                <a:chExt cx="2558407" cy="484304"/>
              </a:xfrm>
            </p:grpSpPr>
            <p:sp>
              <p:nvSpPr>
                <p:cNvPr id="129" name="圆角矩形 6">
                  <a:extLst>
                    <a:ext uri="{FF2B5EF4-FFF2-40B4-BE49-F238E27FC236}">
                      <a16:creationId xmlns:a16="http://schemas.microsoft.com/office/drawing/2014/main" id="{CE6D753F-C9CB-A8E4-311B-B321B8AC8E42}"/>
                    </a:ext>
                  </a:extLst>
                </p:cNvPr>
                <p:cNvSpPr/>
                <p:nvPr/>
              </p:nvSpPr>
              <p:spPr bwMode="auto">
                <a:xfrm>
                  <a:off x="4321648" y="4996160"/>
                  <a:ext cx="2558407" cy="484304"/>
                </a:xfrm>
                <a:prstGeom prst="roundRect">
                  <a:avLst>
                    <a:gd name="adj" fmla="val 0"/>
                  </a:avLst>
                </a:prstGeom>
                <a:noFill/>
                <a:ln w="9525" cap="flat" cmpd="sng" algn="ctr">
                  <a:solidFill>
                    <a:srgbClr val="238586"/>
                  </a:solidFill>
                  <a:prstDash val="dash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87058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25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30" name="圆角矩形 11">
                  <a:extLst>
                    <a:ext uri="{FF2B5EF4-FFF2-40B4-BE49-F238E27FC236}">
                      <a16:creationId xmlns:a16="http://schemas.microsoft.com/office/drawing/2014/main" id="{D5C8CB2F-790E-0E49-3C23-0C7F2CA776F7}"/>
                    </a:ext>
                  </a:extLst>
                </p:cNvPr>
                <p:cNvSpPr/>
                <p:nvPr/>
              </p:nvSpPr>
              <p:spPr>
                <a:xfrm>
                  <a:off x="4538650" y="5374263"/>
                  <a:ext cx="2156392" cy="63371"/>
                </a:xfrm>
                <a:prstGeom prst="roundRect">
                  <a:avLst>
                    <a:gd name="adj" fmla="val 15394"/>
                  </a:avLst>
                </a:prstGeom>
                <a:solidFill>
                  <a:srgbClr val="1AA3AA"/>
                </a:solidFill>
                <a:ln>
                  <a:solidFill>
                    <a:srgbClr val="238586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认证服务器</a:t>
                  </a:r>
                </a:p>
              </p:txBody>
            </p:sp>
            <p:sp>
              <p:nvSpPr>
                <p:cNvPr id="131" name="圆角矩形 11">
                  <a:extLst>
                    <a:ext uri="{FF2B5EF4-FFF2-40B4-BE49-F238E27FC236}">
                      <a16:creationId xmlns:a16="http://schemas.microsoft.com/office/drawing/2014/main" id="{920CB9D5-1D0D-BA0D-58DD-9D89C6B2DF95}"/>
                    </a:ext>
                  </a:extLst>
                </p:cNvPr>
                <p:cNvSpPr/>
                <p:nvPr/>
              </p:nvSpPr>
              <p:spPr>
                <a:xfrm>
                  <a:off x="4535302" y="5053436"/>
                  <a:ext cx="2131097" cy="62105"/>
                </a:xfrm>
                <a:prstGeom prst="roundRect">
                  <a:avLst>
                    <a:gd name="adj" fmla="val 15394"/>
                  </a:avLst>
                </a:prstGeom>
                <a:solidFill>
                  <a:srgbClr val="1AA3AA"/>
                </a:solidFill>
                <a:ln>
                  <a:solidFill>
                    <a:srgbClr val="238586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SQL</a:t>
                  </a:r>
                  <a:r>
                    <a:rPr kumimoji="0" lang="zh-CN" alt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数据库</a:t>
                  </a:r>
                </a:p>
              </p:txBody>
            </p:sp>
            <p:sp>
              <p:nvSpPr>
                <p:cNvPr id="132" name="圆角矩形 11">
                  <a:extLst>
                    <a:ext uri="{FF2B5EF4-FFF2-40B4-BE49-F238E27FC236}">
                      <a16:creationId xmlns:a16="http://schemas.microsoft.com/office/drawing/2014/main" id="{42711A53-4B42-D9EF-611C-7E41F1D0BF51}"/>
                    </a:ext>
                  </a:extLst>
                </p:cNvPr>
                <p:cNvSpPr/>
                <p:nvPr/>
              </p:nvSpPr>
              <p:spPr>
                <a:xfrm>
                  <a:off x="4520112" y="5211062"/>
                  <a:ext cx="2156395" cy="56032"/>
                </a:xfrm>
                <a:prstGeom prst="roundRect">
                  <a:avLst>
                    <a:gd name="adj" fmla="val 15394"/>
                  </a:avLst>
                </a:prstGeom>
                <a:solidFill>
                  <a:srgbClr val="1AA3AA"/>
                </a:solidFill>
                <a:ln>
                  <a:solidFill>
                    <a:srgbClr val="238586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Nginx</a:t>
                  </a:r>
                  <a:r>
                    <a:rPr kumimoji="0" lang="zh-CN" alt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网关</a:t>
                  </a:r>
                </a:p>
              </p:txBody>
            </p:sp>
          </p:grpSp>
          <p:cxnSp>
            <p:nvCxnSpPr>
              <p:cNvPr id="134" name="直线箭头连接符 53">
                <a:extLst>
                  <a:ext uri="{FF2B5EF4-FFF2-40B4-BE49-F238E27FC236}">
                    <a16:creationId xmlns:a16="http://schemas.microsoft.com/office/drawing/2014/main" id="{959F2FF5-CF90-C976-6D57-516328B87313}"/>
                  </a:ext>
                </a:extLst>
              </p:cNvPr>
              <p:cNvCxnSpPr>
                <a:cxnSpLocks/>
                <a:endCxn id="130" idx="0"/>
              </p:cNvCxnSpPr>
              <p:nvPr/>
            </p:nvCxnSpPr>
            <p:spPr bwMode="auto">
              <a:xfrm>
                <a:off x="3616283" y="3933449"/>
                <a:ext cx="1383790" cy="1094528"/>
              </a:xfrm>
              <a:prstGeom prst="straightConnector1">
                <a:avLst/>
              </a:prstGeom>
              <a:ln>
                <a:solidFill>
                  <a:srgbClr val="007F7F"/>
                </a:solidFill>
                <a:headEnd type="none" w="med" len="me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直线箭头连接符 53">
                <a:extLst>
                  <a:ext uri="{FF2B5EF4-FFF2-40B4-BE49-F238E27FC236}">
                    <a16:creationId xmlns:a16="http://schemas.microsoft.com/office/drawing/2014/main" id="{0532EC05-C8DD-EB86-E2D2-9BF2E2358A81}"/>
                  </a:ext>
                </a:extLst>
              </p:cNvPr>
              <p:cNvCxnSpPr>
                <a:cxnSpLocks/>
                <a:stCxn id="101" idx="2"/>
                <a:endCxn id="130" idx="1"/>
              </p:cNvCxnSpPr>
              <p:nvPr/>
            </p:nvCxnSpPr>
            <p:spPr bwMode="auto">
              <a:xfrm flipV="1">
                <a:off x="1219630" y="5184831"/>
                <a:ext cx="3288347" cy="41748"/>
              </a:xfrm>
              <a:prstGeom prst="straightConnector1">
                <a:avLst/>
              </a:prstGeom>
              <a:ln>
                <a:solidFill>
                  <a:srgbClr val="007F7F"/>
                </a:solidFill>
                <a:headEnd type="none" w="med" len="me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39" name="组合 138">
                <a:extLst>
                  <a:ext uri="{FF2B5EF4-FFF2-40B4-BE49-F238E27FC236}">
                    <a16:creationId xmlns:a16="http://schemas.microsoft.com/office/drawing/2014/main" id="{814948E3-BE6E-8912-188F-076E7E5CE172}"/>
                  </a:ext>
                </a:extLst>
              </p:cNvPr>
              <p:cNvGrpSpPr/>
              <p:nvPr/>
            </p:nvGrpSpPr>
            <p:grpSpPr>
              <a:xfrm>
                <a:off x="6170876" y="3248957"/>
                <a:ext cx="3700313" cy="1907980"/>
                <a:chOff x="484544" y="3137608"/>
                <a:chExt cx="3700313" cy="1907980"/>
              </a:xfrm>
            </p:grpSpPr>
            <p:grpSp>
              <p:nvGrpSpPr>
                <p:cNvPr id="140" name="组合 139">
                  <a:extLst>
                    <a:ext uri="{FF2B5EF4-FFF2-40B4-BE49-F238E27FC236}">
                      <a16:creationId xmlns:a16="http://schemas.microsoft.com/office/drawing/2014/main" id="{F7230B50-B5D6-1B46-2DBF-AE627177BD6B}"/>
                    </a:ext>
                  </a:extLst>
                </p:cNvPr>
                <p:cNvGrpSpPr/>
                <p:nvPr/>
              </p:nvGrpSpPr>
              <p:grpSpPr>
                <a:xfrm>
                  <a:off x="836761" y="3137608"/>
                  <a:ext cx="1238505" cy="511819"/>
                  <a:chOff x="836761" y="3137608"/>
                  <a:chExt cx="1238505" cy="511819"/>
                </a:xfrm>
              </p:grpSpPr>
              <p:cxnSp>
                <p:nvCxnSpPr>
                  <p:cNvPr id="168" name="直线箭头连接符 53">
                    <a:extLst>
                      <a:ext uri="{FF2B5EF4-FFF2-40B4-BE49-F238E27FC236}">
                        <a16:creationId xmlns:a16="http://schemas.microsoft.com/office/drawing/2014/main" id="{B9237E38-0DDF-8521-812E-8A4E7ACEA6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464550" y="3375865"/>
                    <a:ext cx="0" cy="273562"/>
                  </a:xfrm>
                  <a:prstGeom prst="straightConnector1">
                    <a:avLst/>
                  </a:prstGeom>
                  <a:ln>
                    <a:solidFill>
                      <a:srgbClr val="007F7F"/>
                    </a:solidFill>
                    <a:headEnd type="none" w="med" len="med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9" name="矩形 168">
                    <a:extLst>
                      <a:ext uri="{FF2B5EF4-FFF2-40B4-BE49-F238E27FC236}">
                        <a16:creationId xmlns:a16="http://schemas.microsoft.com/office/drawing/2014/main" id="{087FCC0A-904C-A067-2D66-41C8B67C603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21134" y="3137608"/>
                    <a:ext cx="1069761" cy="2819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7F7F"/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0" tIns="0" rIns="0" bIns="0" numCol="1" rtlCol="0" anchor="t" anchorCtr="0" compatLnSpc="1">
                    <a:spAutoFit/>
                  </a:bodyPr>
                  <a:lstStyle/>
                  <a:p>
                    <a:pPr eaLnBrk="0" hangingPunct="0"/>
                    <a:endParaRPr lang="zh-CN" altLang="en-US" b="0" dirty="0"/>
                  </a:p>
                </p:txBody>
              </p:sp>
              <p:sp>
                <p:nvSpPr>
                  <p:cNvPr id="170" name="文本框 169">
                    <a:extLst>
                      <a:ext uri="{FF2B5EF4-FFF2-40B4-BE49-F238E27FC236}">
                        <a16:creationId xmlns:a16="http://schemas.microsoft.com/office/drawing/2014/main" id="{A782CB3E-837F-A554-072C-6A9F8616CAE9}"/>
                      </a:ext>
                    </a:extLst>
                  </p:cNvPr>
                  <p:cNvSpPr txBox="1"/>
                  <p:nvPr/>
                </p:nvSpPr>
                <p:spPr>
                  <a:xfrm>
                    <a:off x="836761" y="3142254"/>
                    <a:ext cx="123850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设备请求链接</a:t>
                    </a:r>
                    <a:endParaRPr kumimoji="1" lang="zh-CN" altLang="en-US" sz="1200" b="1" dirty="0">
                      <a:solidFill>
                        <a:srgbClr val="C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41" name="组合 140">
                  <a:extLst>
                    <a:ext uri="{FF2B5EF4-FFF2-40B4-BE49-F238E27FC236}">
                      <a16:creationId xmlns:a16="http://schemas.microsoft.com/office/drawing/2014/main" id="{E84F5E60-A08F-35D0-9EBA-813692B143B1}"/>
                    </a:ext>
                  </a:extLst>
                </p:cNvPr>
                <p:cNvGrpSpPr/>
                <p:nvPr/>
              </p:nvGrpSpPr>
              <p:grpSpPr>
                <a:xfrm>
                  <a:off x="484544" y="3635870"/>
                  <a:ext cx="1944833" cy="510639"/>
                  <a:chOff x="670961" y="3138788"/>
                  <a:chExt cx="1549663" cy="510639"/>
                </a:xfrm>
              </p:grpSpPr>
              <p:cxnSp>
                <p:nvCxnSpPr>
                  <p:cNvPr id="165" name="直线箭头连接符 53">
                    <a:extLst>
                      <a:ext uri="{FF2B5EF4-FFF2-40B4-BE49-F238E27FC236}">
                        <a16:creationId xmlns:a16="http://schemas.microsoft.com/office/drawing/2014/main" id="{81959645-AD49-242B-08A2-491A2FF8BE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464550" y="3375865"/>
                    <a:ext cx="0" cy="273562"/>
                  </a:xfrm>
                  <a:prstGeom prst="straightConnector1">
                    <a:avLst/>
                  </a:prstGeom>
                  <a:ln>
                    <a:solidFill>
                      <a:srgbClr val="007F7F"/>
                    </a:solidFill>
                    <a:headEnd type="none" w="med" len="med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6" name="矩形 165">
                    <a:extLst>
                      <a:ext uri="{FF2B5EF4-FFF2-40B4-BE49-F238E27FC236}">
                        <a16:creationId xmlns:a16="http://schemas.microsoft.com/office/drawing/2014/main" id="{1B9CBF8C-C38D-24B0-37FA-F7EBAF7A4E9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43222" y="3155425"/>
                    <a:ext cx="1033869" cy="2819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7F7F"/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0" tIns="0" rIns="0" bIns="0" numCol="1" rtlCol="0" anchor="t" anchorCtr="0" compatLnSpc="1">
                    <a:spAutoFit/>
                  </a:bodyPr>
                  <a:lstStyle/>
                  <a:p>
                    <a:pPr eaLnBrk="0" hangingPunct="0"/>
                    <a:endParaRPr lang="zh-CN" altLang="en-US" b="0" dirty="0"/>
                  </a:p>
                </p:txBody>
              </p:sp>
              <p:sp>
                <p:nvSpPr>
                  <p:cNvPr id="167" name="文本框 166">
                    <a:extLst>
                      <a:ext uri="{FF2B5EF4-FFF2-40B4-BE49-F238E27FC236}">
                        <a16:creationId xmlns:a16="http://schemas.microsoft.com/office/drawing/2014/main" id="{9DC3F3ED-73AB-62A1-8B80-F7C5D3AA2BE4}"/>
                      </a:ext>
                    </a:extLst>
                  </p:cNvPr>
                  <p:cNvSpPr txBox="1"/>
                  <p:nvPr/>
                </p:nvSpPr>
                <p:spPr>
                  <a:xfrm>
                    <a:off x="670961" y="3138788"/>
                    <a:ext cx="154966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Nginx</a:t>
                    </a:r>
                    <a:r>
                      <a:rPr kumimoji="1"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网关层</a:t>
                    </a:r>
                    <a:endParaRPr kumimoji="1" lang="zh-CN" altLang="en-US" sz="1200" b="1" dirty="0">
                      <a:solidFill>
                        <a:srgbClr val="C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42" name="菱形 141">
                  <a:extLst>
                    <a:ext uri="{FF2B5EF4-FFF2-40B4-BE49-F238E27FC236}">
                      <a16:creationId xmlns:a16="http://schemas.microsoft.com/office/drawing/2014/main" id="{746F69A7-F317-6D42-110F-7C92F978545F}"/>
                    </a:ext>
                  </a:extLst>
                </p:cNvPr>
                <p:cNvSpPr/>
                <p:nvPr/>
              </p:nvSpPr>
              <p:spPr bwMode="auto">
                <a:xfrm>
                  <a:off x="941493" y="4191859"/>
                  <a:ext cx="1078016" cy="307777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solidFill>
                    <a:srgbClr val="007F7F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0" tIns="0" rIns="0" bIns="0" numCol="1" rtlCol="0" anchor="t" anchorCtr="0" compatLnSpc="1"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4400" b="0" i="0" u="none" strike="noStrike" cap="none" normalizeH="0" baseline="0">
                    <a:ln>
                      <a:noFill/>
                    </a:ln>
                    <a:solidFill>
                      <a:schemeClr val="accent2"/>
                    </a:solidFill>
                    <a:effectLst/>
                    <a:latin typeface="Arial" panose="020B0604020202020204" pitchFamily="34" charset="0"/>
                    <a:ea typeface="黑体" panose="02010609060101010101" charset="-122"/>
                  </a:endParaRPr>
                </a:p>
              </p:txBody>
            </p:sp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7B260C6D-34D2-C9DE-D3D0-A531ED357289}"/>
                    </a:ext>
                  </a:extLst>
                </p:cNvPr>
                <p:cNvSpPr txBox="1"/>
                <p:nvPr/>
              </p:nvSpPr>
              <p:spPr>
                <a:xfrm>
                  <a:off x="950452" y="4177644"/>
                  <a:ext cx="107801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zh-CN" altLang="en-US" sz="1200" b="1" dirty="0">
                      <a:solidFill>
                        <a:srgbClr val="C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参数校验</a:t>
                  </a:r>
                </a:p>
              </p:txBody>
            </p:sp>
            <p:grpSp>
              <p:nvGrpSpPr>
                <p:cNvPr id="144" name="组合 143">
                  <a:extLst>
                    <a:ext uri="{FF2B5EF4-FFF2-40B4-BE49-F238E27FC236}">
                      <a16:creationId xmlns:a16="http://schemas.microsoft.com/office/drawing/2014/main" id="{3B97E900-9E04-9DA5-2E5C-DF78BE76BADF}"/>
                    </a:ext>
                  </a:extLst>
                </p:cNvPr>
                <p:cNvGrpSpPr/>
                <p:nvPr/>
              </p:nvGrpSpPr>
              <p:grpSpPr>
                <a:xfrm>
                  <a:off x="491714" y="4747031"/>
                  <a:ext cx="1944833" cy="298557"/>
                  <a:chOff x="670961" y="3138788"/>
                  <a:chExt cx="1549663" cy="298557"/>
                </a:xfrm>
              </p:grpSpPr>
              <p:sp>
                <p:nvSpPr>
                  <p:cNvPr id="163" name="矩形 162">
                    <a:extLst>
                      <a:ext uri="{FF2B5EF4-FFF2-40B4-BE49-F238E27FC236}">
                        <a16:creationId xmlns:a16="http://schemas.microsoft.com/office/drawing/2014/main" id="{9FE7466F-8697-059B-2D60-BEF67E2ECAE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43222" y="3155425"/>
                    <a:ext cx="1033869" cy="2819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7F7F"/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0" tIns="0" rIns="0" bIns="0" numCol="1" rtlCol="0" anchor="t" anchorCtr="0" compatLnSpc="1">
                    <a:spAutoFit/>
                  </a:bodyPr>
                  <a:lstStyle/>
                  <a:p>
                    <a:pPr eaLnBrk="0" hangingPunct="0"/>
                    <a:endParaRPr lang="zh-CN" altLang="en-US" b="0" dirty="0"/>
                  </a:p>
                </p:txBody>
              </p:sp>
              <p:sp>
                <p:nvSpPr>
                  <p:cNvPr id="164" name="文本框 163">
                    <a:extLst>
                      <a:ext uri="{FF2B5EF4-FFF2-40B4-BE49-F238E27FC236}">
                        <a16:creationId xmlns:a16="http://schemas.microsoft.com/office/drawing/2014/main" id="{95FB9F04-D761-7636-848A-13C52B93424F}"/>
                      </a:ext>
                    </a:extLst>
                  </p:cNvPr>
                  <p:cNvSpPr txBox="1"/>
                  <p:nvPr/>
                </p:nvSpPr>
                <p:spPr>
                  <a:xfrm>
                    <a:off x="670961" y="3138788"/>
                    <a:ext cx="154966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数据库查询连接池</a:t>
                    </a:r>
                  </a:p>
                </p:txBody>
              </p:sp>
            </p:grpSp>
            <p:cxnSp>
              <p:nvCxnSpPr>
                <p:cNvPr id="145" name="直线箭头连接符 53">
                  <a:extLst>
                    <a:ext uri="{FF2B5EF4-FFF2-40B4-BE49-F238E27FC236}">
                      <a16:creationId xmlns:a16="http://schemas.microsoft.com/office/drawing/2014/main" id="{A787B5E2-1A3E-B63D-680C-5719D81F2ED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487524" y="4499636"/>
                  <a:ext cx="0" cy="273562"/>
                </a:xfrm>
                <a:prstGeom prst="straightConnector1">
                  <a:avLst/>
                </a:prstGeom>
                <a:ln>
                  <a:solidFill>
                    <a:srgbClr val="007F7F"/>
                  </a:solidFill>
                  <a:headEnd type="none" w="med" len="med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80E7CE98-B3FA-E635-B6EC-6FBCABF21552}"/>
                    </a:ext>
                  </a:extLst>
                </p:cNvPr>
                <p:cNvSpPr txBox="1"/>
                <p:nvPr/>
              </p:nvSpPr>
              <p:spPr>
                <a:xfrm>
                  <a:off x="1430802" y="4485421"/>
                  <a:ext cx="605099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zh-CN" altLang="en-US" sz="900" b="1" dirty="0">
                      <a:solidFill>
                        <a:srgbClr val="C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成功</a:t>
                  </a:r>
                </a:p>
              </p:txBody>
            </p:sp>
            <p:cxnSp>
              <p:nvCxnSpPr>
                <p:cNvPr id="147" name="直线箭头连接符 59">
                  <a:extLst>
                    <a:ext uri="{FF2B5EF4-FFF2-40B4-BE49-F238E27FC236}">
                      <a16:creationId xmlns:a16="http://schemas.microsoft.com/office/drawing/2014/main" id="{8FE8C43B-F88C-4657-757A-9F0A35A7494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131332" y="4899389"/>
                  <a:ext cx="441854" cy="0"/>
                </a:xfrm>
                <a:prstGeom prst="straightConnector1">
                  <a:avLst/>
                </a:prstGeom>
                <a:ln>
                  <a:solidFill>
                    <a:srgbClr val="007F7F"/>
                  </a:solidFill>
                  <a:headEnd type="none" w="med" len="med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48" name="组合 147">
                  <a:extLst>
                    <a:ext uri="{FF2B5EF4-FFF2-40B4-BE49-F238E27FC236}">
                      <a16:creationId xmlns:a16="http://schemas.microsoft.com/office/drawing/2014/main" id="{1C868C2E-BCF4-F101-42B5-819B2435E3F7}"/>
                    </a:ext>
                  </a:extLst>
                </p:cNvPr>
                <p:cNvGrpSpPr/>
                <p:nvPr/>
              </p:nvGrpSpPr>
              <p:grpSpPr>
                <a:xfrm>
                  <a:off x="2240024" y="4478730"/>
                  <a:ext cx="1944833" cy="555283"/>
                  <a:chOff x="670961" y="2882062"/>
                  <a:chExt cx="1549663" cy="555283"/>
                </a:xfrm>
              </p:grpSpPr>
              <p:cxnSp>
                <p:nvCxnSpPr>
                  <p:cNvPr id="160" name="直线箭头连接符 53">
                    <a:extLst>
                      <a:ext uri="{FF2B5EF4-FFF2-40B4-BE49-F238E27FC236}">
                        <a16:creationId xmlns:a16="http://schemas.microsoft.com/office/drawing/2014/main" id="{017294A7-D6AE-3819-E37D-B1FE97343F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1464550" y="2882062"/>
                    <a:ext cx="0" cy="271958"/>
                  </a:xfrm>
                  <a:prstGeom prst="straightConnector1">
                    <a:avLst/>
                  </a:prstGeom>
                  <a:ln>
                    <a:solidFill>
                      <a:srgbClr val="007F7F"/>
                    </a:solidFill>
                    <a:headEnd type="none" w="med" len="med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1" name="矩形 160">
                    <a:extLst>
                      <a:ext uri="{FF2B5EF4-FFF2-40B4-BE49-F238E27FC236}">
                        <a16:creationId xmlns:a16="http://schemas.microsoft.com/office/drawing/2014/main" id="{0295787B-A27E-A523-2417-B6EEA0B8BC0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43222" y="3155425"/>
                    <a:ext cx="1033869" cy="2819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7F7F"/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0" tIns="0" rIns="0" bIns="0" numCol="1" rtlCol="0" anchor="t" anchorCtr="0" compatLnSpc="1">
                    <a:spAutoFit/>
                  </a:bodyPr>
                  <a:lstStyle/>
                  <a:p>
                    <a:pPr eaLnBrk="0" hangingPunct="0"/>
                    <a:endParaRPr lang="zh-CN" altLang="en-US" b="0" dirty="0"/>
                  </a:p>
                </p:txBody>
              </p:sp>
              <p:sp>
                <p:nvSpPr>
                  <p:cNvPr id="162" name="文本框 161">
                    <a:extLst>
                      <a:ext uri="{FF2B5EF4-FFF2-40B4-BE49-F238E27FC236}">
                        <a16:creationId xmlns:a16="http://schemas.microsoft.com/office/drawing/2014/main" id="{D403C176-B5CF-800E-4F7A-194553D46DE2}"/>
                      </a:ext>
                    </a:extLst>
                  </p:cNvPr>
                  <p:cNvSpPr txBox="1"/>
                  <p:nvPr/>
                </p:nvSpPr>
                <p:spPr>
                  <a:xfrm>
                    <a:off x="670961" y="3138788"/>
                    <a:ext cx="154966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令牌对比验证</a:t>
                    </a:r>
                  </a:p>
                </p:txBody>
              </p:sp>
            </p:grpSp>
            <p:cxnSp>
              <p:nvCxnSpPr>
                <p:cNvPr id="157" name="直线箭头连接符 53">
                  <a:extLst>
                    <a:ext uri="{FF2B5EF4-FFF2-40B4-BE49-F238E27FC236}">
                      <a16:creationId xmlns:a16="http://schemas.microsoft.com/office/drawing/2014/main" id="{816E191C-2871-4611-64A1-82948C7EE815}"/>
                    </a:ext>
                  </a:extLst>
                </p:cNvPr>
                <p:cNvCxnSpPr>
                  <a:cxnSpLocks/>
                  <a:endCxn id="156" idx="2"/>
                </p:cNvCxnSpPr>
                <p:nvPr/>
              </p:nvCxnSpPr>
              <p:spPr bwMode="auto">
                <a:xfrm flipH="1" flipV="1">
                  <a:off x="2754963" y="3620879"/>
                  <a:ext cx="474099" cy="575089"/>
                </a:xfrm>
                <a:prstGeom prst="straightConnector1">
                  <a:avLst/>
                </a:prstGeom>
                <a:ln>
                  <a:solidFill>
                    <a:srgbClr val="007F7F"/>
                  </a:solidFill>
                  <a:headEnd type="none" w="med" len="med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50" name="组合 149">
                  <a:extLst>
                    <a:ext uri="{FF2B5EF4-FFF2-40B4-BE49-F238E27FC236}">
                      <a16:creationId xmlns:a16="http://schemas.microsoft.com/office/drawing/2014/main" id="{D0C8784F-8FE6-FA85-E94F-F051DE11B4ED}"/>
                    </a:ext>
                  </a:extLst>
                </p:cNvPr>
                <p:cNvGrpSpPr/>
                <p:nvPr/>
              </p:nvGrpSpPr>
              <p:grpSpPr>
                <a:xfrm>
                  <a:off x="2092257" y="3342825"/>
                  <a:ext cx="2011410" cy="287085"/>
                  <a:chOff x="573079" y="2879598"/>
                  <a:chExt cx="1602712" cy="287085"/>
                </a:xfrm>
              </p:grpSpPr>
              <p:sp>
                <p:nvSpPr>
                  <p:cNvPr id="155" name="矩形 154">
                    <a:extLst>
                      <a:ext uri="{FF2B5EF4-FFF2-40B4-BE49-F238E27FC236}">
                        <a16:creationId xmlns:a16="http://schemas.microsoft.com/office/drawing/2014/main" id="{820442DB-240A-B505-C807-23E4E36F7C7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92198" y="2884763"/>
                    <a:ext cx="588037" cy="2819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7F7F"/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0" tIns="0" rIns="0" bIns="0" numCol="1" rtlCol="0" anchor="t" anchorCtr="0" compatLnSpc="1">
                    <a:spAutoFit/>
                  </a:bodyPr>
                  <a:lstStyle/>
                  <a:p>
                    <a:pPr eaLnBrk="0" hangingPunct="0"/>
                    <a:endParaRPr lang="zh-CN" altLang="en-US" b="0" dirty="0"/>
                  </a:p>
                </p:txBody>
              </p:sp>
              <p:sp>
                <p:nvSpPr>
                  <p:cNvPr id="156" name="文本框 155">
                    <a:extLst>
                      <a:ext uri="{FF2B5EF4-FFF2-40B4-BE49-F238E27FC236}">
                        <a16:creationId xmlns:a16="http://schemas.microsoft.com/office/drawing/2014/main" id="{B3AB6300-4F8E-FB96-B30B-65F89DD32C7A}"/>
                      </a:ext>
                    </a:extLst>
                  </p:cNvPr>
                  <p:cNvSpPr txBox="1"/>
                  <p:nvPr/>
                </p:nvSpPr>
                <p:spPr>
                  <a:xfrm>
                    <a:off x="573079" y="2880653"/>
                    <a:ext cx="1056102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建立链接</a:t>
                    </a:r>
                  </a:p>
                </p:txBody>
              </p:sp>
              <p:sp>
                <p:nvSpPr>
                  <p:cNvPr id="189" name="矩形 188">
                    <a:extLst>
                      <a:ext uri="{FF2B5EF4-FFF2-40B4-BE49-F238E27FC236}">
                        <a16:creationId xmlns:a16="http://schemas.microsoft.com/office/drawing/2014/main" id="{7897EEC9-87EA-75C4-9A54-BE1654A3E88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587754" y="2879598"/>
                    <a:ext cx="588037" cy="2819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7F7F"/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0" tIns="0" rIns="0" bIns="0" numCol="1" rtlCol="0" anchor="t" anchorCtr="0" compatLnSpc="1">
                    <a:spAutoFit/>
                  </a:bodyPr>
                  <a:lstStyle/>
                  <a:p>
                    <a:pPr eaLnBrk="0" hangingPunct="0"/>
                    <a:endParaRPr lang="zh-CN" altLang="en-US" b="0" dirty="0"/>
                  </a:p>
                </p:txBody>
              </p:sp>
            </p:grpSp>
          </p:grpSp>
          <p:cxnSp>
            <p:nvCxnSpPr>
              <p:cNvPr id="178" name="直线箭头连接符 53">
                <a:extLst>
                  <a:ext uri="{FF2B5EF4-FFF2-40B4-BE49-F238E27FC236}">
                    <a16:creationId xmlns:a16="http://schemas.microsoft.com/office/drawing/2014/main" id="{58081052-5010-B723-2115-4C5D41C29605}"/>
                  </a:ext>
                </a:extLst>
              </p:cNvPr>
              <p:cNvCxnSpPr>
                <a:cxnSpLocks/>
                <a:endCxn id="170" idx="1"/>
              </p:cNvCxnSpPr>
              <p:nvPr/>
            </p:nvCxnSpPr>
            <p:spPr bwMode="auto">
              <a:xfrm>
                <a:off x="3596989" y="3389162"/>
                <a:ext cx="2926104" cy="2941"/>
              </a:xfrm>
              <a:prstGeom prst="straightConnector1">
                <a:avLst/>
              </a:prstGeom>
              <a:ln>
                <a:solidFill>
                  <a:srgbClr val="007F7F"/>
                </a:solidFill>
                <a:headEnd type="none" w="med" len="me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3" name="直线箭头连接符 53">
                <a:extLst>
                  <a:ext uri="{FF2B5EF4-FFF2-40B4-BE49-F238E27FC236}">
                    <a16:creationId xmlns:a16="http://schemas.microsoft.com/office/drawing/2014/main" id="{DA3CA46B-FD82-7777-F6BB-E38207E45C55}"/>
                  </a:ext>
                </a:extLst>
              </p:cNvPr>
              <p:cNvCxnSpPr>
                <a:cxnSpLocks/>
                <a:endCxn id="132" idx="3"/>
              </p:cNvCxnSpPr>
              <p:nvPr/>
            </p:nvCxnSpPr>
            <p:spPr bwMode="auto">
              <a:xfrm flipH="1">
                <a:off x="5483708" y="3882931"/>
                <a:ext cx="1015587" cy="475837"/>
              </a:xfrm>
              <a:prstGeom prst="straightConnector1">
                <a:avLst/>
              </a:prstGeom>
              <a:ln>
                <a:solidFill>
                  <a:srgbClr val="007F7F"/>
                </a:solidFill>
                <a:headEnd type="none" w="med" len="me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5" name="直线箭头连接符 53">
                <a:extLst>
                  <a:ext uri="{FF2B5EF4-FFF2-40B4-BE49-F238E27FC236}">
                    <a16:creationId xmlns:a16="http://schemas.microsoft.com/office/drawing/2014/main" id="{E8733B9B-EE7A-6F51-8552-7F0239F06B18}"/>
                  </a:ext>
                </a:extLst>
              </p:cNvPr>
              <p:cNvCxnSpPr>
                <a:cxnSpLocks/>
                <a:endCxn id="131" idx="3"/>
              </p:cNvCxnSpPr>
              <p:nvPr/>
            </p:nvCxnSpPr>
            <p:spPr bwMode="auto">
              <a:xfrm flipH="1" flipV="1">
                <a:off x="5479095" y="3593501"/>
                <a:ext cx="1036376" cy="1411366"/>
              </a:xfrm>
              <a:prstGeom prst="straightConnector1">
                <a:avLst/>
              </a:prstGeom>
              <a:ln>
                <a:solidFill>
                  <a:srgbClr val="007F7F"/>
                </a:solidFill>
                <a:headEnd type="none" w="med" len="me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7" name="菱形 186">
                <a:extLst>
                  <a:ext uri="{FF2B5EF4-FFF2-40B4-BE49-F238E27FC236}">
                    <a16:creationId xmlns:a16="http://schemas.microsoft.com/office/drawing/2014/main" id="{445C97BE-91C8-3BFB-DC12-A9E67108FB63}"/>
                  </a:ext>
                </a:extLst>
              </p:cNvPr>
              <p:cNvSpPr/>
              <p:nvPr/>
            </p:nvSpPr>
            <p:spPr bwMode="auto">
              <a:xfrm>
                <a:off x="8376033" y="4294580"/>
                <a:ext cx="1078016" cy="307777"/>
              </a:xfrm>
              <a:prstGeom prst="diamond">
                <a:avLst/>
              </a:prstGeom>
              <a:solidFill>
                <a:schemeClr val="bg1"/>
              </a:solidFill>
              <a:ln>
                <a:solidFill>
                  <a:srgbClr val="007F7F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rtlCol="0" anchor="t" anchorCtr="0" compatLnSpc="1"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4400" b="0" i="0" u="none" strike="noStrike" cap="none" normalizeH="0" baseline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panose="020B0604020202020204" pitchFamily="34" charset="0"/>
                  <a:ea typeface="黑体" panose="02010609060101010101" charset="-122"/>
                </a:endParaRPr>
              </a:p>
            </p:txBody>
          </p:sp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11B1CAF9-808A-C8AE-DDA8-8CA8F202CDB4}"/>
                  </a:ext>
                </a:extLst>
              </p:cNvPr>
              <p:cNvSpPr txBox="1"/>
              <p:nvPr/>
            </p:nvSpPr>
            <p:spPr>
              <a:xfrm>
                <a:off x="8389304" y="4312977"/>
                <a:ext cx="10780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2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综合评估</a:t>
                </a:r>
              </a:p>
            </p:txBody>
          </p:sp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B21547B2-E006-78A8-9887-AA5D8B91ACDB}"/>
                  </a:ext>
                </a:extLst>
              </p:cNvPr>
              <p:cNvSpPr txBox="1"/>
              <p:nvPr/>
            </p:nvSpPr>
            <p:spPr>
              <a:xfrm>
                <a:off x="8791343" y="3456634"/>
                <a:ext cx="132541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拒绝链接</a:t>
                </a:r>
              </a:p>
            </p:txBody>
          </p:sp>
          <p:cxnSp>
            <p:nvCxnSpPr>
              <p:cNvPr id="193" name="直线箭头连接符 53">
                <a:extLst>
                  <a:ext uri="{FF2B5EF4-FFF2-40B4-BE49-F238E27FC236}">
                    <a16:creationId xmlns:a16="http://schemas.microsoft.com/office/drawing/2014/main" id="{86DAD093-36B5-B2B7-783E-871DEA4E4DDF}"/>
                  </a:ext>
                </a:extLst>
              </p:cNvPr>
              <p:cNvCxnSpPr>
                <a:cxnSpLocks/>
                <a:stCxn id="188" idx="0"/>
                <a:endCxn id="191" idx="2"/>
              </p:cNvCxnSpPr>
              <p:nvPr/>
            </p:nvCxnSpPr>
            <p:spPr bwMode="auto">
              <a:xfrm flipV="1">
                <a:off x="8928312" y="3733633"/>
                <a:ext cx="525737" cy="579344"/>
              </a:xfrm>
              <a:prstGeom prst="straightConnector1">
                <a:avLst/>
              </a:prstGeom>
              <a:ln>
                <a:solidFill>
                  <a:srgbClr val="007F7F"/>
                </a:solidFill>
                <a:headEnd type="none" w="med" len="me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AC269A25-BE79-4DDB-5F34-A997C13C4829}"/>
                  </a:ext>
                </a:extLst>
              </p:cNvPr>
              <p:cNvSpPr txBox="1"/>
              <p:nvPr/>
            </p:nvSpPr>
            <p:spPr>
              <a:xfrm>
                <a:off x="8179745" y="3927304"/>
                <a:ext cx="60509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9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通过</a:t>
                </a:r>
              </a:p>
            </p:txBody>
          </p:sp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7E7E5F6E-B9B0-4BFF-32E0-9A07B59C4997}"/>
                  </a:ext>
                </a:extLst>
              </p:cNvPr>
              <p:cNvSpPr txBox="1"/>
              <p:nvPr/>
            </p:nvSpPr>
            <p:spPr>
              <a:xfrm>
                <a:off x="9087620" y="3949462"/>
                <a:ext cx="60509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9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失败</a:t>
                </a:r>
              </a:p>
            </p:txBody>
          </p:sp>
        </p:grpSp>
        <p:sp>
          <p:nvSpPr>
            <p:cNvPr id="202" name="箭头: 下 3">
              <a:extLst>
                <a:ext uri="{FF2B5EF4-FFF2-40B4-BE49-F238E27FC236}">
                  <a16:creationId xmlns:a16="http://schemas.microsoft.com/office/drawing/2014/main" id="{06E5FF1E-CCE8-C060-3074-8FA6B0F668FC}"/>
                </a:ext>
              </a:extLst>
            </p:cNvPr>
            <p:cNvSpPr/>
            <p:nvPr/>
          </p:nvSpPr>
          <p:spPr bwMode="auto">
            <a:xfrm>
              <a:off x="1844860" y="3016429"/>
              <a:ext cx="419802" cy="223696"/>
            </a:xfrm>
            <a:prstGeom prst="downArrow">
              <a:avLst>
                <a:gd name="adj1" fmla="val 56563"/>
                <a:gd name="adj2" fmla="val 5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203" name="箭头: 下 3">
              <a:extLst>
                <a:ext uri="{FF2B5EF4-FFF2-40B4-BE49-F238E27FC236}">
                  <a16:creationId xmlns:a16="http://schemas.microsoft.com/office/drawing/2014/main" id="{F3C58BD4-D26A-CBA7-36F8-EFC18AA2D57E}"/>
                </a:ext>
              </a:extLst>
            </p:cNvPr>
            <p:cNvSpPr/>
            <p:nvPr/>
          </p:nvSpPr>
          <p:spPr bwMode="auto">
            <a:xfrm>
              <a:off x="8238193" y="2981788"/>
              <a:ext cx="419802" cy="223696"/>
            </a:xfrm>
            <a:prstGeom prst="downArrow">
              <a:avLst>
                <a:gd name="adj1" fmla="val 56563"/>
                <a:gd name="adj2" fmla="val 5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204" name="圆角矩形 11">
              <a:extLst>
                <a:ext uri="{FF2B5EF4-FFF2-40B4-BE49-F238E27FC236}">
                  <a16:creationId xmlns:a16="http://schemas.microsoft.com/office/drawing/2014/main" id="{C208188C-78FD-676F-10C6-A97CB9843AB1}"/>
                </a:ext>
              </a:extLst>
            </p:cNvPr>
            <p:cNvSpPr/>
            <p:nvPr/>
          </p:nvSpPr>
          <p:spPr>
            <a:xfrm>
              <a:off x="377000" y="2537111"/>
              <a:ext cx="1074619" cy="320436"/>
            </a:xfrm>
            <a:prstGeom prst="roundRect">
              <a:avLst>
                <a:gd name="adj" fmla="val 15394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rgbClr val="238586"/>
              </a:solidFill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威胁防护组件</a:t>
              </a:r>
            </a:p>
          </p:txBody>
        </p:sp>
        <p:sp>
          <p:nvSpPr>
            <p:cNvPr id="205" name="圆角矩形 11">
              <a:extLst>
                <a:ext uri="{FF2B5EF4-FFF2-40B4-BE49-F238E27FC236}">
                  <a16:creationId xmlns:a16="http://schemas.microsoft.com/office/drawing/2014/main" id="{19C0A3DD-2210-3BE2-9F4A-4250BCE3BD8D}"/>
                </a:ext>
              </a:extLst>
            </p:cNvPr>
            <p:cNvSpPr/>
            <p:nvPr/>
          </p:nvSpPr>
          <p:spPr>
            <a:xfrm>
              <a:off x="366606" y="3036762"/>
              <a:ext cx="1074619" cy="320436"/>
            </a:xfrm>
            <a:prstGeom prst="roundRect">
              <a:avLst>
                <a:gd name="adj" fmla="val 15394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rgbClr val="238586"/>
              </a:solidFill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令牌认证组件</a:t>
              </a:r>
            </a:p>
          </p:txBody>
        </p:sp>
        <p:sp>
          <p:nvSpPr>
            <p:cNvPr id="206" name="圆角矩形 11">
              <a:extLst>
                <a:ext uri="{FF2B5EF4-FFF2-40B4-BE49-F238E27FC236}">
                  <a16:creationId xmlns:a16="http://schemas.microsoft.com/office/drawing/2014/main" id="{42F23B81-E089-F815-F034-3A8B7DEED598}"/>
                </a:ext>
              </a:extLst>
            </p:cNvPr>
            <p:cNvSpPr/>
            <p:nvPr/>
          </p:nvSpPr>
          <p:spPr>
            <a:xfrm>
              <a:off x="8766718" y="3055714"/>
              <a:ext cx="1074619" cy="320436"/>
            </a:xfrm>
            <a:prstGeom prst="roundRect">
              <a:avLst>
                <a:gd name="adj" fmla="val 15394"/>
              </a:avLst>
            </a:prstGeom>
            <a:solidFill>
              <a:schemeClr val="bg2">
                <a:lumMod val="25000"/>
              </a:schemeClr>
            </a:solidFill>
            <a:ln>
              <a:solidFill>
                <a:srgbClr val="238586"/>
              </a:solidFill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动态鉴权组件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F183D-2191-63F7-FB28-DAE73F52F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46">
            <a:extLst>
              <a:ext uri="{FF2B5EF4-FFF2-40B4-BE49-F238E27FC236}">
                <a16:creationId xmlns:a16="http://schemas.microsoft.com/office/drawing/2014/main" id="{EECE2249-2D45-D3A7-69B4-8DA4A52837D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1859" y="5011657"/>
            <a:ext cx="9570816" cy="534008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本项目采用分层的微服务架构，围绕集成算法协同部署与测试框架构建，形成从数据采集到算法应用再到结果可视化的全链路解决方案。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4B689E-246D-5F5D-628D-7926391A9BF5}"/>
              </a:ext>
            </a:extLst>
          </p:cNvPr>
          <p:cNvSpPr txBox="1">
            <a:spLocks noGrp="1"/>
          </p:cNvSpPr>
          <p:nvPr>
            <p:custDataLst>
              <p:tags r:id="rId2"/>
            </p:custDataLst>
          </p:nvPr>
        </p:nvSpPr>
        <p:spPr bwMode="auto">
          <a:xfrm>
            <a:off x="9737805" y="5318125"/>
            <a:ext cx="587375" cy="396875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6200" tIns="38100" rIns="76200" bIns="38100" numCol="1" rtlCol="0" anchor="t" anchorCtr="0" compatLnSpc="1"/>
          <a:lstStyle>
            <a:defPPr>
              <a:defRPr lang="zh-CN"/>
            </a:defPPr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90" b="1" i="0" u="none" kern="1200" baseline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1" i="0" u="none" kern="1200" baseline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1" i="0" u="none" kern="1200" baseline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1" i="0" u="none" kern="1200" baseline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1" i="0" u="none" kern="1200" baseline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1" i="0" u="none" kern="1200" baseline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1" i="0" u="none" kern="1200" baseline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1" i="0" u="none" kern="1200" baseline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1" i="0" u="none" kern="1200" baseline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0C7C43D2-4DD7-4CE3-8C02-FC94374DCCEC}" type="slidenum">
              <a:rPr lang="en-US" altLang="zh-CN" sz="2000"/>
              <a:t>5</a:t>
            </a:fld>
            <a:endParaRPr lang="en-US" altLang="zh-CN" sz="20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157BF5C-9B21-EFCD-04CF-DBA3FF54900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789889" y="4652492"/>
            <a:ext cx="3698346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333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系统部分板块功能</a:t>
            </a:r>
            <a:endParaRPr lang="zh-CN" altLang="en-US" sz="1333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A255BD0-0B78-434E-1C86-96139BBB0A20}"/>
              </a:ext>
            </a:extLst>
          </p:cNvPr>
          <p:cNvGrpSpPr/>
          <p:nvPr/>
        </p:nvGrpSpPr>
        <p:grpSpPr>
          <a:xfrm>
            <a:off x="5222810" y="1231438"/>
            <a:ext cx="4773240" cy="3338436"/>
            <a:chOff x="6351718" y="1559558"/>
            <a:chExt cx="5727888" cy="3774957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E3EC0C04-616F-9D2D-1015-04CDB19BB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624360" y="1629568"/>
              <a:ext cx="2549248" cy="1478915"/>
            </a:xfrm>
            <a:prstGeom prst="rect">
              <a:avLst/>
            </a:prstGeom>
          </p:spPr>
        </p:pic>
        <p:pic>
          <p:nvPicPr>
            <p:cNvPr id="14" name="图片 13" descr="图形用户界面, 应用程序&#10;&#10;AI 生成的内容可能不正确。">
              <a:extLst>
                <a:ext uri="{FF2B5EF4-FFF2-40B4-BE49-F238E27FC236}">
                  <a16:creationId xmlns:a16="http://schemas.microsoft.com/office/drawing/2014/main" id="{9459EBBD-58E0-9702-841C-A40419ED1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9324789" y="1650605"/>
              <a:ext cx="2549248" cy="1434980"/>
            </a:xfrm>
            <a:prstGeom prst="rect">
              <a:avLst/>
            </a:prstGeom>
          </p:spPr>
        </p:pic>
        <p:pic>
          <p:nvPicPr>
            <p:cNvPr id="17" name="图片 16" descr="图形用户界面, 应用程序&#10;&#10;AI 生成的内容可能不正确。">
              <a:extLst>
                <a:ext uri="{FF2B5EF4-FFF2-40B4-BE49-F238E27FC236}">
                  <a16:creationId xmlns:a16="http://schemas.microsoft.com/office/drawing/2014/main" id="{9EE74381-5978-2545-479F-8D5A0E1D0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9393654" y="3365500"/>
              <a:ext cx="2489101" cy="1596923"/>
            </a:xfrm>
            <a:prstGeom prst="rect">
              <a:avLst/>
            </a:prstGeom>
          </p:spPr>
        </p:pic>
        <p:pic>
          <p:nvPicPr>
            <p:cNvPr id="19" name="图片 18" descr="图形用户界面, 应用程序&#10;&#10;AI 生成的内容可能不正确。">
              <a:extLst>
                <a:ext uri="{FF2B5EF4-FFF2-40B4-BE49-F238E27FC236}">
                  <a16:creationId xmlns:a16="http://schemas.microsoft.com/office/drawing/2014/main" id="{9FCE5875-B333-39BC-9974-C3A662DB3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6624360" y="3365500"/>
              <a:ext cx="2586109" cy="1596073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61806AC-F741-055C-D492-3FFDC0BACE63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6947866" y="3066345"/>
              <a:ext cx="1902236" cy="295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数据管理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D71EAF5-FF84-F533-2A67-ECDAD704301B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6966296" y="4947393"/>
              <a:ext cx="1902236" cy="295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实时画面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5CC34DB-1DE6-E45E-FAD4-6040E438C6B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9687086" y="3066344"/>
              <a:ext cx="1902236" cy="295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中控分析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39C8D2B-E7C8-755D-139C-B87158B6804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9738828" y="4981195"/>
              <a:ext cx="1902236" cy="295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数据标注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2951CF67-A106-F5B9-BB4B-C69B763C8061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351718" y="1559558"/>
              <a:ext cx="5727888" cy="3774957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  <a:prstDash val="lg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Ins="149754" bIns="120121">
              <a:noAutofit/>
            </a:bodyPr>
            <a:lstStyle/>
            <a:p>
              <a:pPr algn="l">
                <a:lnSpc>
                  <a:spcPct val="150000"/>
                </a:lnSpc>
              </a:pPr>
              <a:endPara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0" name="文本框 59">
            <a:extLst>
              <a:ext uri="{FF2B5EF4-FFF2-40B4-BE49-F238E27FC236}">
                <a16:creationId xmlns:a16="http://schemas.microsoft.com/office/drawing/2014/main" id="{F791C0B5-FD09-1976-7712-7E3693A63DD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33447" y="4636317"/>
            <a:ext cx="3698346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333" dirty="0">
                <a:latin typeface="Times New Roman" panose="02020603050405020304" pitchFamily="18" charset="0"/>
                <a:ea typeface="微软雅黑" panose="020B0503020204020204" pitchFamily="34" charset="-122"/>
              </a:rPr>
              <a:t>算法协同部署与测试框架</a:t>
            </a:r>
          </a:p>
        </p:txBody>
      </p:sp>
      <p:sp>
        <p:nvSpPr>
          <p:cNvPr id="4" name="原创设计师QQ598969553          _6">
            <a:extLst>
              <a:ext uri="{FF2B5EF4-FFF2-40B4-BE49-F238E27FC236}">
                <a16:creationId xmlns:a16="http://schemas.microsoft.com/office/drawing/2014/main" id="{4FDD611C-89AC-9663-BCAF-43E62E6D67C9}"/>
              </a:ext>
            </a:extLst>
          </p:cNvPr>
          <p:cNvSpPr/>
          <p:nvPr/>
        </p:nvSpPr>
        <p:spPr bwMode="auto">
          <a:xfrm>
            <a:off x="388366" y="649794"/>
            <a:ext cx="4315673" cy="404813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078871"/>
              </a:gs>
              <a:gs pos="0">
                <a:srgbClr val="00A58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algn="ctr"/>
            <a:r>
              <a:rPr lang="zh-CN" altLang="en-US" sz="1835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研究内容</a:t>
            </a:r>
            <a:r>
              <a:rPr lang="en-US" altLang="zh-CN" sz="1835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4.3</a:t>
            </a:r>
            <a:r>
              <a:rPr lang="zh-CN" altLang="en-US" sz="1835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：系统管理模块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2644BF5-E3E3-3DF9-73E8-6E10B12A40B8}"/>
              </a:ext>
            </a:extLst>
          </p:cNvPr>
          <p:cNvGrpSpPr/>
          <p:nvPr/>
        </p:nvGrpSpPr>
        <p:grpSpPr>
          <a:xfrm>
            <a:off x="484544" y="82966"/>
            <a:ext cx="9190911" cy="389996"/>
            <a:chOff x="713" y="367"/>
            <a:chExt cx="11412" cy="737"/>
          </a:xfrm>
          <a:solidFill>
            <a:schemeClr val="accent3">
              <a:lumMod val="50000"/>
            </a:schemeClr>
          </a:solidFill>
        </p:grpSpPr>
        <p:sp>
          <p:nvSpPr>
            <p:cNvPr id="12" name="燕尾形 30">
              <a:extLst>
                <a:ext uri="{FF2B5EF4-FFF2-40B4-BE49-F238E27FC236}">
                  <a16:creationId xmlns:a16="http://schemas.microsoft.com/office/drawing/2014/main" id="{1E3CD5B0-2900-AC34-7273-CB02646CCB31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rot="10800000">
              <a:off x="1443" y="367"/>
              <a:ext cx="2907" cy="737"/>
            </a:xfrm>
            <a:prstGeom prst="chevron">
              <a:avLst>
                <a:gd name="adj" fmla="val 3708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燕尾形 30">
              <a:extLst>
                <a:ext uri="{FF2B5EF4-FFF2-40B4-BE49-F238E27FC236}">
                  <a16:creationId xmlns:a16="http://schemas.microsoft.com/office/drawing/2014/main" id="{BCDB7846-E48F-A30A-CFC6-2CCAFCBF7005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 rot="10800000" flipH="1">
              <a:off x="3422" y="367"/>
              <a:ext cx="8703" cy="737"/>
            </a:xfrm>
            <a:prstGeom prst="chevron">
              <a:avLst>
                <a:gd name="adj" fmla="val 3708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7">
              <a:extLst>
                <a:ext uri="{FF2B5EF4-FFF2-40B4-BE49-F238E27FC236}">
                  <a16:creationId xmlns:a16="http://schemas.microsoft.com/office/drawing/2014/main" id="{C1D5BA23-3B12-B96D-48ED-C42EF1C45408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1712" y="367"/>
              <a:ext cx="10184" cy="72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76200" tIns="38100" rIns="76200" bIns="38100" anchor="t">
              <a:spAutoFit/>
            </a:bodyPr>
            <a:lstStyle>
              <a:lvl1pPr marL="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1pPr>
              <a:lvl2pPr marL="4572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2pPr>
              <a:lvl3pPr marL="9144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3pPr>
              <a:lvl4pPr marL="13716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4pPr>
              <a:lvl5pPr marL="1828800" indent="0" algn="l" rtl="0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sz="1800" b="0" i="0" u="none" baseline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defRPr>
              </a:lvl5pPr>
            </a:lstStyle>
            <a:p>
              <a:pPr lvl="0"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二、主要研究内容及进展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8" name="任意多边形: 形状 9">
              <a:extLst>
                <a:ext uri="{FF2B5EF4-FFF2-40B4-BE49-F238E27FC236}">
                  <a16:creationId xmlns:a16="http://schemas.microsoft.com/office/drawing/2014/main" id="{67BFAF3F-1954-5ADD-A569-3ECD0720229C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0800000">
              <a:off x="107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任意多边形: 形状 10">
              <a:extLst>
                <a:ext uri="{FF2B5EF4-FFF2-40B4-BE49-F238E27FC236}">
                  <a16:creationId xmlns:a16="http://schemas.microsoft.com/office/drawing/2014/main" id="{A98A5DF3-EBD5-53B4-C322-D41E6EFC666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rot="10800000">
              <a:off x="713" y="367"/>
              <a:ext cx="437" cy="737"/>
            </a:xfrm>
            <a:custGeom>
              <a:avLst/>
              <a:gdLst>
                <a:gd name="connsiteX0" fmla="*/ 104108 w 277642"/>
                <a:gd name="connsiteY0" fmla="*/ 468000 h 468000"/>
                <a:gd name="connsiteX1" fmla="*/ 0 w 277642"/>
                <a:gd name="connsiteY1" fmla="*/ 468000 h 468000"/>
                <a:gd name="connsiteX2" fmla="*/ 173534 w 277642"/>
                <a:gd name="connsiteY2" fmla="*/ 234000 h 468000"/>
                <a:gd name="connsiteX3" fmla="*/ 0 w 277642"/>
                <a:gd name="connsiteY3" fmla="*/ 0 h 468000"/>
                <a:gd name="connsiteX4" fmla="*/ 104108 w 277642"/>
                <a:gd name="connsiteY4" fmla="*/ 0 h 468000"/>
                <a:gd name="connsiteX5" fmla="*/ 277642 w 277642"/>
                <a:gd name="connsiteY5" fmla="*/ 234000 h 468000"/>
                <a:gd name="connsiteX6" fmla="*/ 104108 w 277642"/>
                <a:gd name="connsiteY6" fmla="*/ 468000 h 46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642" h="468000">
                  <a:moveTo>
                    <a:pt x="104108" y="468000"/>
                  </a:moveTo>
                  <a:lnTo>
                    <a:pt x="0" y="468000"/>
                  </a:lnTo>
                  <a:lnTo>
                    <a:pt x="173534" y="234000"/>
                  </a:lnTo>
                  <a:lnTo>
                    <a:pt x="0" y="0"/>
                  </a:lnTo>
                  <a:lnTo>
                    <a:pt x="104108" y="0"/>
                  </a:lnTo>
                  <a:lnTo>
                    <a:pt x="277642" y="234000"/>
                  </a:lnTo>
                  <a:lnTo>
                    <a:pt x="104108" y="46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576D5A7E-6041-5DC8-72A7-9DD901F532A0}"/>
              </a:ext>
            </a:extLst>
          </p:cNvPr>
          <p:cNvGrpSpPr/>
          <p:nvPr/>
        </p:nvGrpSpPr>
        <p:grpSpPr>
          <a:xfrm>
            <a:off x="71660" y="1231438"/>
            <a:ext cx="5049695" cy="3326993"/>
            <a:chOff x="30305" y="1424076"/>
            <a:chExt cx="5049695" cy="3134355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3DF23431-E8C8-50B0-A830-3655BF3C6F2E}"/>
                </a:ext>
              </a:extLst>
            </p:cNvPr>
            <p:cNvGrpSpPr/>
            <p:nvPr/>
          </p:nvGrpSpPr>
          <p:grpSpPr>
            <a:xfrm>
              <a:off x="73289" y="1424076"/>
              <a:ext cx="5006711" cy="476163"/>
              <a:chOff x="73289" y="1424076"/>
              <a:chExt cx="5006711" cy="476163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DB732648-91BB-36CE-17E8-3FB60DD49FAE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1097928" y="1424077"/>
                <a:ext cx="3982072" cy="476162"/>
              </a:xfrm>
              <a:prstGeom prst="rect">
                <a:avLst/>
              </a:prstGeom>
              <a:noFill/>
              <a:ln w="25400">
                <a:solidFill>
                  <a:schemeClr val="accent1"/>
                </a:solidFill>
                <a:prstDash val="lgDash"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Ins="149754" bIns="120121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endPara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98A47AB-BD67-F9E9-CC5C-D6C8993F2537}"/>
                  </a:ext>
                </a:extLst>
              </p:cNvPr>
              <p:cNvSpPr txBox="1"/>
              <p:nvPr/>
            </p:nvSpPr>
            <p:spPr>
              <a:xfrm>
                <a:off x="1657350" y="1424076"/>
                <a:ext cx="32798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响应式设计、组件化开发、实时数据流推送、状态同步机制</a:t>
                </a: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280E02C-7040-2844-50F5-256B9E976819}"/>
                  </a:ext>
                </a:extLst>
              </p:cNvPr>
              <p:cNvSpPr txBox="1"/>
              <p:nvPr/>
            </p:nvSpPr>
            <p:spPr>
              <a:xfrm>
                <a:off x="73289" y="1499949"/>
                <a:ext cx="10926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前端服务层</a:t>
                </a:r>
                <a:endPara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endParaRPr>
              </a:p>
            </p:txBody>
          </p:sp>
          <p:pic>
            <p:nvPicPr>
              <p:cNvPr id="33" name="图片 32" descr="徽标&#10;&#10;AI 生成的内容可能不正确。">
                <a:extLst>
                  <a:ext uri="{FF2B5EF4-FFF2-40B4-BE49-F238E27FC236}">
                    <a16:creationId xmlns:a16="http://schemas.microsoft.com/office/drawing/2014/main" id="{86EA3F78-D40A-20B4-8891-00D89884CF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05031" y="1447222"/>
                <a:ext cx="413229" cy="413229"/>
              </a:xfrm>
              <a:prstGeom prst="rect">
                <a:avLst/>
              </a:prstGeom>
            </p:spPr>
          </p:pic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8C9C409A-A40D-9F3F-FB47-213FB9A26DB6}"/>
                </a:ext>
              </a:extLst>
            </p:cNvPr>
            <p:cNvGrpSpPr/>
            <p:nvPr/>
          </p:nvGrpSpPr>
          <p:grpSpPr>
            <a:xfrm>
              <a:off x="73289" y="2111092"/>
              <a:ext cx="5006711" cy="476163"/>
              <a:chOff x="73289" y="2044414"/>
              <a:chExt cx="5006711" cy="476163"/>
            </a:xfrm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D8012C13-4E03-14AE-4286-B3910B253688}"/>
                  </a:ext>
                </a:extLst>
              </p:cNvPr>
              <p:cNvGrpSpPr/>
              <p:nvPr/>
            </p:nvGrpSpPr>
            <p:grpSpPr>
              <a:xfrm>
                <a:off x="73289" y="2044414"/>
                <a:ext cx="5006711" cy="476163"/>
                <a:chOff x="73289" y="1424076"/>
                <a:chExt cx="5006711" cy="476163"/>
              </a:xfrm>
            </p:grpSpPr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B7D92329-D20C-441A-125C-2A9307E36218}"/>
                    </a:ext>
                  </a:extLst>
                </p:cNvPr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097928" y="1424077"/>
                  <a:ext cx="3982072" cy="476162"/>
                </a:xfrm>
                <a:prstGeom prst="rect">
                  <a:avLst/>
                </a:prstGeom>
                <a:noFill/>
                <a:ln w="25400">
                  <a:solidFill>
                    <a:schemeClr val="accent1"/>
                  </a:solidFill>
                  <a:prstDash val="lgDash"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wrap="square" rIns="149754" bIns="120121">
                  <a:no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endParaRPr kumimoji="1"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938E3716-32E1-EC98-FFF2-1C1ADECA2A3F}"/>
                    </a:ext>
                  </a:extLst>
                </p:cNvPr>
                <p:cNvSpPr txBox="1"/>
                <p:nvPr/>
              </p:nvSpPr>
              <p:spPr>
                <a:xfrm>
                  <a:off x="1657350" y="1424076"/>
                  <a:ext cx="327984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b="1" dirty="0"/>
                    <a:t>模块化设计、</a:t>
                  </a:r>
                  <a:r>
                    <a:rPr lang="en-US" altLang="zh-CN" sz="1200" b="1" dirty="0"/>
                    <a:t>OAuth 2.0</a:t>
                  </a:r>
                  <a:r>
                    <a:rPr lang="zh-CN" altLang="en-US" sz="1200" b="1" dirty="0"/>
                    <a:t>认证、</a:t>
                  </a:r>
                  <a:r>
                    <a:rPr lang="en-US" altLang="zh-CN" sz="1200" b="1" dirty="0"/>
                    <a:t>JWT</a:t>
                  </a:r>
                  <a:r>
                    <a:rPr lang="zh-CN" altLang="en-US" sz="1200" b="1" dirty="0"/>
                    <a:t>安全协议、</a:t>
                  </a:r>
                  <a:r>
                    <a:rPr lang="en-US" altLang="zh-CN" sz="1200" b="1" dirty="0"/>
                    <a:t>RBAC</a:t>
                  </a:r>
                  <a:r>
                    <a:rPr lang="zh-CN" altLang="en-US" sz="1200" b="1" dirty="0"/>
                    <a:t>权限模型、异步消息队列、分布式部署</a:t>
                  </a:r>
                </a:p>
              </p:txBody>
            </p:sp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7C95B790-C40F-3EC5-5854-7D15215C36E1}"/>
                    </a:ext>
                  </a:extLst>
                </p:cNvPr>
                <p:cNvSpPr txBox="1"/>
                <p:nvPr/>
              </p:nvSpPr>
              <p:spPr>
                <a:xfrm>
                  <a:off x="73289" y="1499949"/>
                  <a:ext cx="109265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后端服务层</a:t>
                  </a:r>
                  <a:endPara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endParaRPr>
                </a:p>
              </p:txBody>
            </p:sp>
          </p:grpSp>
          <p:pic>
            <p:nvPicPr>
              <p:cNvPr id="42" name="图片 41" descr="图片包含 图标&#10;&#10;AI 生成的内容可能不正确。">
                <a:extLst>
                  <a:ext uri="{FF2B5EF4-FFF2-40B4-BE49-F238E27FC236}">
                    <a16:creationId xmlns:a16="http://schemas.microsoft.com/office/drawing/2014/main" id="{DB5F52AC-A4D7-E511-B31A-83DD08858A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03495" y="2044414"/>
                <a:ext cx="416301" cy="416301"/>
              </a:xfrm>
              <a:prstGeom prst="rect">
                <a:avLst/>
              </a:prstGeom>
            </p:spPr>
          </p:pic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B4DF4E6E-C6E5-E53B-DDCD-78C46B54C610}"/>
                </a:ext>
              </a:extLst>
            </p:cNvPr>
            <p:cNvGrpSpPr/>
            <p:nvPr/>
          </p:nvGrpSpPr>
          <p:grpSpPr>
            <a:xfrm>
              <a:off x="49101" y="2838758"/>
              <a:ext cx="5030899" cy="726603"/>
              <a:chOff x="49101" y="2766285"/>
              <a:chExt cx="5030899" cy="765736"/>
            </a:xfrm>
          </p:grpSpPr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CFF0949-EE34-D8CD-FC80-3AAE8D7CA290}"/>
                  </a:ext>
                </a:extLst>
              </p:cNvPr>
              <p:cNvGrpSpPr/>
              <p:nvPr/>
            </p:nvGrpSpPr>
            <p:grpSpPr>
              <a:xfrm>
                <a:off x="49101" y="2766285"/>
                <a:ext cx="5030899" cy="765736"/>
                <a:chOff x="73289" y="1424077"/>
                <a:chExt cx="5006711" cy="765736"/>
              </a:xfrm>
            </p:grpSpPr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id="{6F313A1B-3AAA-BAA3-C7A2-3D4833EB2E49}"/>
                    </a:ext>
                  </a:extLst>
                </p:cNvPr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097928" y="1424077"/>
                  <a:ext cx="3982072" cy="765736"/>
                </a:xfrm>
                <a:prstGeom prst="rect">
                  <a:avLst/>
                </a:prstGeom>
                <a:noFill/>
                <a:ln w="25400">
                  <a:solidFill>
                    <a:schemeClr val="accent1"/>
                  </a:solidFill>
                  <a:prstDash val="lgDash"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wrap="square" rIns="149754" bIns="120121">
                  <a:no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endParaRPr kumimoji="1"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29C5A34F-B175-745F-D16D-55A0A1B6D253}"/>
                    </a:ext>
                  </a:extLst>
                </p:cNvPr>
                <p:cNvSpPr txBox="1"/>
                <p:nvPr/>
              </p:nvSpPr>
              <p:spPr>
                <a:xfrm>
                  <a:off x="1657350" y="1505805"/>
                  <a:ext cx="327984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b="1" dirty="0"/>
                    <a:t>Node.js </a:t>
                  </a:r>
                  <a:r>
                    <a:rPr lang="zh-CN" altLang="en-US" sz="1200" b="1" dirty="0"/>
                    <a:t>事件驱动、非阻塞</a:t>
                  </a:r>
                  <a:r>
                    <a:rPr lang="en-US" altLang="zh-CN" sz="1200" b="1" dirty="0"/>
                    <a:t>I/O</a:t>
                  </a:r>
                  <a:r>
                    <a:rPr lang="zh-CN" altLang="en-US" sz="1200" b="1" dirty="0"/>
                    <a:t>、</a:t>
                  </a:r>
                  <a:r>
                    <a:rPr lang="en-US" altLang="zh-CN" sz="1200" b="1" dirty="0" err="1"/>
                    <a:t>FFmpeg</a:t>
                  </a:r>
                  <a:r>
                    <a:rPr lang="zh-CN" altLang="en-US" sz="1200" b="1" dirty="0"/>
                    <a:t>多媒体处理、</a:t>
                  </a:r>
                  <a:r>
                    <a:rPr lang="en-US" altLang="zh-CN" sz="1200" b="1" dirty="0"/>
                    <a:t>RTSP</a:t>
                  </a:r>
                  <a:r>
                    <a:rPr lang="zh-CN" altLang="en-US" sz="1200" b="1" dirty="0"/>
                    <a:t>转</a:t>
                  </a:r>
                  <a:r>
                    <a:rPr lang="en-US" altLang="zh-CN" sz="1200" b="1" dirty="0"/>
                    <a:t>WebSocket</a:t>
                  </a:r>
                  <a:r>
                    <a:rPr lang="zh-CN" altLang="en-US" sz="1200" b="1" dirty="0"/>
                    <a:t>、帧缓存、自适应码率、连接池</a:t>
                  </a:r>
                </a:p>
              </p:txBody>
            </p:sp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358D08EE-6456-99E1-9D48-6293A1E1ADEC}"/>
                    </a:ext>
                  </a:extLst>
                </p:cNvPr>
                <p:cNvSpPr txBox="1"/>
                <p:nvPr/>
              </p:nvSpPr>
              <p:spPr>
                <a:xfrm>
                  <a:off x="73289" y="1499949"/>
                  <a:ext cx="109265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流媒体服务层</a:t>
                  </a:r>
                  <a:endPara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endParaRPr>
                </a:p>
              </p:txBody>
            </p:sp>
          </p:grpSp>
          <p:pic>
            <p:nvPicPr>
              <p:cNvPr id="62" name="图片 61" descr="图标&#10;&#10;AI 生成的内容可能不正确。">
                <a:extLst>
                  <a:ext uri="{FF2B5EF4-FFF2-40B4-BE49-F238E27FC236}">
                    <a16:creationId xmlns:a16="http://schemas.microsoft.com/office/drawing/2014/main" id="{B773B64D-95F9-F63A-F2EE-2673231E75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40011" y="2958750"/>
                <a:ext cx="444623" cy="444623"/>
              </a:xfrm>
              <a:prstGeom prst="rect">
                <a:avLst/>
              </a:prstGeom>
            </p:spPr>
          </p:pic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00F7C79A-4BA0-317E-7064-F5CDE5F31EBC}"/>
                </a:ext>
              </a:extLst>
            </p:cNvPr>
            <p:cNvGrpSpPr/>
            <p:nvPr/>
          </p:nvGrpSpPr>
          <p:grpSpPr>
            <a:xfrm>
              <a:off x="30305" y="3813543"/>
              <a:ext cx="5039851" cy="744888"/>
              <a:chOff x="64380" y="1424077"/>
              <a:chExt cx="5015620" cy="765736"/>
            </a:xfrm>
          </p:grpSpPr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3E19DEFD-439D-C75A-34C9-15AEB46E62EE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1097928" y="1424077"/>
                <a:ext cx="3982072" cy="765736"/>
              </a:xfrm>
              <a:prstGeom prst="rect">
                <a:avLst/>
              </a:prstGeom>
              <a:noFill/>
              <a:ln w="25400">
                <a:solidFill>
                  <a:schemeClr val="accent1"/>
                </a:solidFill>
                <a:prstDash val="lgDash"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Ins="149754" bIns="120121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endPara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9DFB41E1-3E5A-55AA-A6FD-F0F86A5C2E51}"/>
                  </a:ext>
                </a:extLst>
              </p:cNvPr>
              <p:cNvSpPr txBox="1"/>
              <p:nvPr/>
            </p:nvSpPr>
            <p:spPr>
              <a:xfrm>
                <a:off x="1657350" y="1505805"/>
                <a:ext cx="32798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/>
                  <a:t>MySQL </a:t>
                </a:r>
                <a:r>
                  <a:rPr lang="zh-CN" altLang="en-US" sz="1200" b="1" dirty="0"/>
                  <a:t>主从复制、读写分离、分区表时序存储、全文索引检索、内存引擎高频访问、数据版本管理、审计追踪。</a:t>
                </a:r>
              </a:p>
            </p:txBody>
          </p: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012F680F-B3F0-286F-931C-629064CF2322}"/>
                  </a:ext>
                </a:extLst>
              </p:cNvPr>
              <p:cNvSpPr txBox="1"/>
              <p:nvPr/>
            </p:nvSpPr>
            <p:spPr>
              <a:xfrm>
                <a:off x="64380" y="1675081"/>
                <a:ext cx="10926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数据存储层</a:t>
                </a:r>
                <a:endPara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endParaRPr>
              </a:p>
            </p:txBody>
          </p:sp>
        </p:grpSp>
        <p:pic>
          <p:nvPicPr>
            <p:cNvPr id="90" name="图片 89" descr="图标&#10;&#10;AI 生成的内容可能不正确。">
              <a:extLst>
                <a:ext uri="{FF2B5EF4-FFF2-40B4-BE49-F238E27FC236}">
                  <a16:creationId xmlns:a16="http://schemas.microsoft.com/office/drawing/2014/main" id="{11AEC2A2-4FB8-AC9C-4475-AEE733184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6477" y="4018461"/>
              <a:ext cx="500873" cy="391307"/>
            </a:xfrm>
            <a:prstGeom prst="rect">
              <a:avLst/>
            </a:prstGeom>
          </p:spPr>
        </p:pic>
        <p:sp>
          <p:nvSpPr>
            <p:cNvPr id="96" name="箭头: 下 3">
              <a:extLst>
                <a:ext uri="{FF2B5EF4-FFF2-40B4-BE49-F238E27FC236}">
                  <a16:creationId xmlns:a16="http://schemas.microsoft.com/office/drawing/2014/main" id="{87E64E81-D264-5A40-4740-F22349747904}"/>
                </a:ext>
              </a:extLst>
            </p:cNvPr>
            <p:cNvSpPr/>
            <p:nvPr/>
          </p:nvSpPr>
          <p:spPr bwMode="auto">
            <a:xfrm rot="10800000">
              <a:off x="2914988" y="3597053"/>
              <a:ext cx="419802" cy="210744"/>
            </a:xfrm>
            <a:prstGeom prst="downArrow">
              <a:avLst>
                <a:gd name="adj1" fmla="val 56563"/>
                <a:gd name="adj2" fmla="val 5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97" name="箭头: 下 3">
              <a:extLst>
                <a:ext uri="{FF2B5EF4-FFF2-40B4-BE49-F238E27FC236}">
                  <a16:creationId xmlns:a16="http://schemas.microsoft.com/office/drawing/2014/main" id="{0463341E-BB4F-07CF-4BA6-30FA9468BB27}"/>
                </a:ext>
              </a:extLst>
            </p:cNvPr>
            <p:cNvSpPr/>
            <p:nvPr/>
          </p:nvSpPr>
          <p:spPr bwMode="auto">
            <a:xfrm rot="10800000">
              <a:off x="2914988" y="2597159"/>
              <a:ext cx="419802" cy="210744"/>
            </a:xfrm>
            <a:prstGeom prst="downArrow">
              <a:avLst>
                <a:gd name="adj1" fmla="val 56563"/>
                <a:gd name="adj2" fmla="val 5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98" name="箭头: 下 3">
              <a:extLst>
                <a:ext uri="{FF2B5EF4-FFF2-40B4-BE49-F238E27FC236}">
                  <a16:creationId xmlns:a16="http://schemas.microsoft.com/office/drawing/2014/main" id="{9B7C4B33-B49B-87EC-93C3-F81F4CFEDDC1}"/>
                </a:ext>
              </a:extLst>
            </p:cNvPr>
            <p:cNvSpPr/>
            <p:nvPr/>
          </p:nvSpPr>
          <p:spPr bwMode="auto">
            <a:xfrm rot="10800000">
              <a:off x="2914988" y="1894808"/>
              <a:ext cx="419802" cy="210744"/>
            </a:xfrm>
            <a:prstGeom prst="downArrow">
              <a:avLst>
                <a:gd name="adj1" fmla="val 56563"/>
                <a:gd name="adj2" fmla="val 5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3244665"/>
      </p:ext>
    </p:extLst>
  </p:cSld>
  <p:clrMapOvr>
    <a:masterClrMapping/>
  </p:clrMapOvr>
  <p:transition advTm="71234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839</Words>
  <Application>Microsoft Office PowerPoint</Application>
  <PresentationFormat>自定义</PresentationFormat>
  <Paragraphs>151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等线</vt:lpstr>
      <vt:lpstr>等线 Light</vt:lpstr>
      <vt:lpstr>微软雅黑</vt:lpstr>
      <vt:lpstr>Arial</vt:lpstr>
      <vt:lpstr>Calibri</vt:lpstr>
      <vt:lpstr>Times New Roman</vt:lpstr>
      <vt:lpstr>Wingdings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quantumbolt</dc:creator>
  <cp:lastModifiedBy>乔乔 乔</cp:lastModifiedBy>
  <cp:revision>989</cp:revision>
  <dcterms:created xsi:type="dcterms:W3CDTF">2025-01-13T07:49:00Z</dcterms:created>
  <dcterms:modified xsi:type="dcterms:W3CDTF">2025-12-24T04:00:22Z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5C6451747A5E4E22AA03427DCD4073D5_13</vt:lpwstr>
  </property>
  <property fmtid="{D5CDD505-2E9C-101B-9397-08002B2CF9AE}" pid="3" name="KSOProductBuildVer">
    <vt:lpwstr>2052-12.1.0.24034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2025-01-25T01:22:27Z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30a1ebda-d5de-48ad-bafd-6e6f22989ea1</vt:lpwstr>
  </property>
  <property fmtid="{D5CDD505-2E9C-101B-9397-08002B2CF9AE}" pid="9" name="MSIP_Label_defa4170-0d19-0005-0004-bc88714345d2_ActionId">
    <vt:lpwstr>3b5b0779-6ed6-4ab9-8291-1e035123d15a</vt:lpwstr>
  </property>
  <property fmtid="{D5CDD505-2E9C-101B-9397-08002B2CF9AE}" pid="10" name="MSIP_Label_defa4170-0d19-0005-0004-bc88714345d2_ContentBits">
    <vt:lpwstr>0</vt:lpwstr>
  </property>
</Properties>
</file>