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69" r:id="rId4"/>
    <p:sldMasterId id="2147483682" r:id="rId5"/>
  </p:sldMasterIdLst>
  <p:notesMasterIdLst>
    <p:notesMasterId r:id="rId21"/>
  </p:notesMasterIdLst>
  <p:handoutMasterIdLst>
    <p:handoutMasterId r:id="rId22"/>
  </p:handoutMasterIdLst>
  <p:sldIdLst>
    <p:sldId id="2357" r:id="rId6"/>
    <p:sldId id="257" r:id="rId7"/>
    <p:sldId id="277" r:id="rId8"/>
    <p:sldId id="276" r:id="rId9"/>
    <p:sldId id="278" r:id="rId10"/>
    <p:sldId id="265" r:id="rId11"/>
    <p:sldId id="258" r:id="rId12"/>
    <p:sldId id="279" r:id="rId13"/>
    <p:sldId id="280" r:id="rId14"/>
    <p:sldId id="259" r:id="rId15"/>
    <p:sldId id="2358" r:id="rId16"/>
    <p:sldId id="2359" r:id="rId17"/>
    <p:sldId id="2360" r:id="rId18"/>
    <p:sldId id="273" r:id="rId19"/>
    <p:sldId id="272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9797"/>
    <a:srgbClr val="FF3B3B"/>
    <a:srgbClr val="FDEA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>
        <p:scale>
          <a:sx n="70" d="100"/>
          <a:sy n="70" d="100"/>
        </p:scale>
        <p:origin x="1032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9895C9-E69D-41EB-AD5C-4BF8C88FF5D4}" type="doc">
      <dgm:prSet loTypeId="urn:microsoft.com/office/officeart/2008/layout/LinedLis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7780599-A0C4-4A5C-BDDB-2E640D8DA859}">
      <dgm:prSet/>
      <dgm:spPr/>
      <dgm:t>
        <a:bodyPr/>
        <a:lstStyle/>
        <a:p>
          <a:r>
            <a:rPr lang="zh-CN" b="1" dirty="0"/>
            <a:t>弹性算力底座</a:t>
          </a:r>
          <a:r>
            <a:rPr lang="zh-CN" dirty="0"/>
            <a:t>：多实例</a:t>
          </a:r>
          <a:r>
            <a:rPr lang="zh-CN" altLang="en-US" dirty="0"/>
            <a:t>通过</a:t>
          </a:r>
          <a:r>
            <a:rPr lang="en-US" altLang="zh-CN" dirty="0"/>
            <a:t>k8s</a:t>
          </a:r>
          <a:r>
            <a:rPr lang="zh-CN" altLang="en-US" dirty="0"/>
            <a:t>容器化池子达成</a:t>
          </a:r>
          <a:r>
            <a:rPr lang="en-US" dirty="0"/>
            <a:t>Hadoop </a:t>
          </a:r>
          <a:r>
            <a:rPr lang="zh-CN" dirty="0"/>
            <a:t>集群，能灵活适配</a:t>
          </a:r>
          <a:r>
            <a:rPr lang="zh-CN" altLang="en-US" dirty="0"/>
            <a:t>高频数据库操作</a:t>
          </a:r>
          <a:r>
            <a:rPr lang="zh-CN" dirty="0"/>
            <a:t>等高算力场景的资源需求，实现算力的弹性调度与高效支撑。</a:t>
          </a:r>
        </a:p>
      </dgm:t>
    </dgm:pt>
    <dgm:pt modelId="{94C7E856-3AB3-4DDB-BE84-D5473DF369D5}" type="parTrans" cxnId="{E4FBA948-C8C1-4863-A01A-DA0C26D091D9}">
      <dgm:prSet/>
      <dgm:spPr/>
      <dgm:t>
        <a:bodyPr/>
        <a:lstStyle/>
        <a:p>
          <a:endParaRPr lang="zh-CN" altLang="en-US"/>
        </a:p>
      </dgm:t>
    </dgm:pt>
    <dgm:pt modelId="{5BDC6BA0-536E-4FED-9BE8-83AF2B29F34F}" type="sibTrans" cxnId="{E4FBA948-C8C1-4863-A01A-DA0C26D091D9}">
      <dgm:prSet/>
      <dgm:spPr/>
      <dgm:t>
        <a:bodyPr/>
        <a:lstStyle/>
        <a:p>
          <a:endParaRPr lang="zh-CN" altLang="en-US"/>
        </a:p>
      </dgm:t>
    </dgm:pt>
    <dgm:pt modelId="{C0312130-ADBB-4C15-92D5-99366E2574F5}">
      <dgm:prSet/>
      <dgm:spPr/>
      <dgm:t>
        <a:bodyPr/>
        <a:lstStyle/>
        <a:p>
          <a:r>
            <a:rPr lang="zh-CN" b="1" dirty="0"/>
            <a:t>数据分层精准适配</a:t>
          </a:r>
          <a:r>
            <a:rPr lang="zh-CN" dirty="0"/>
            <a:t>：针对不同类型数据匹配专属引擎 </a:t>
          </a:r>
          <a:r>
            <a:rPr lang="en-US" dirty="0"/>
            <a:t>——MySQL </a:t>
          </a:r>
          <a:r>
            <a:rPr lang="zh-CN" dirty="0"/>
            <a:t>承载高并发的会员 </a:t>
          </a:r>
          <a:r>
            <a:rPr lang="en-US" dirty="0"/>
            <a:t>/ </a:t>
          </a:r>
          <a:r>
            <a:rPr lang="zh-CN" dirty="0"/>
            <a:t>支付等业务系统；</a:t>
          </a:r>
          <a:r>
            <a:rPr lang="en-US" dirty="0" err="1"/>
            <a:t>ElasticSearch</a:t>
          </a:r>
          <a:r>
            <a:rPr lang="en-US" dirty="0"/>
            <a:t> </a:t>
          </a:r>
          <a:r>
            <a:rPr lang="zh-CN" dirty="0"/>
            <a:t>处理博客复杂结构数据与 </a:t>
          </a:r>
          <a:r>
            <a:rPr lang="en-US" dirty="0"/>
            <a:t>AI/AIGC </a:t>
          </a:r>
          <a:r>
            <a:rPr lang="zh-CN" dirty="0"/>
            <a:t>内容的搜索；</a:t>
          </a:r>
          <a:r>
            <a:rPr lang="en-US" dirty="0" err="1"/>
            <a:t>MinIO</a:t>
          </a:r>
          <a:r>
            <a:rPr lang="en-US" dirty="0"/>
            <a:t> </a:t>
          </a:r>
          <a:r>
            <a:rPr lang="zh-CN" dirty="0"/>
            <a:t>作为对象存储管理媒体资源与大模型</a:t>
          </a:r>
          <a:r>
            <a:rPr lang="zh-CN" altLang="en-US" dirty="0"/>
            <a:t>权重</a:t>
          </a:r>
          <a:r>
            <a:rPr lang="zh-CN" dirty="0"/>
            <a:t>，让各模块性能精准匹配业务场景。</a:t>
          </a:r>
        </a:p>
      </dgm:t>
    </dgm:pt>
    <dgm:pt modelId="{B14FC84F-B0F2-434C-9ABC-3997609D0A50}" type="parTrans" cxnId="{CC166853-8A22-427F-B2A1-5D94F30FA054}">
      <dgm:prSet/>
      <dgm:spPr/>
      <dgm:t>
        <a:bodyPr/>
        <a:lstStyle/>
        <a:p>
          <a:endParaRPr lang="zh-CN" altLang="en-US"/>
        </a:p>
      </dgm:t>
    </dgm:pt>
    <dgm:pt modelId="{36351116-C224-4E27-96F6-94FF20083D0E}" type="sibTrans" cxnId="{CC166853-8A22-427F-B2A1-5D94F30FA054}">
      <dgm:prSet/>
      <dgm:spPr/>
      <dgm:t>
        <a:bodyPr/>
        <a:lstStyle/>
        <a:p>
          <a:endParaRPr lang="zh-CN" altLang="en-US"/>
        </a:p>
      </dgm:t>
    </dgm:pt>
    <dgm:pt modelId="{AADFF67E-F359-4260-BC99-05ECEB73296B}">
      <dgm:prSet/>
      <dgm:spPr/>
      <dgm:t>
        <a:bodyPr/>
        <a:lstStyle/>
        <a:p>
          <a:r>
            <a:rPr lang="zh-CN" b="1" dirty="0"/>
            <a:t>流批协同的数智链路</a:t>
          </a:r>
          <a:r>
            <a:rPr lang="zh-CN" dirty="0"/>
            <a:t>：通过 </a:t>
          </a:r>
          <a:r>
            <a:rPr lang="en-US" dirty="0"/>
            <a:t>Canal </a:t>
          </a:r>
          <a:r>
            <a:rPr lang="zh-CN" dirty="0"/>
            <a:t>实现数据实时同步、</a:t>
          </a:r>
          <a:r>
            <a:rPr lang="en-US" dirty="0" err="1"/>
            <a:t>ZooKeeper</a:t>
          </a:r>
          <a:r>
            <a:rPr lang="en-US" dirty="0"/>
            <a:t> </a:t>
          </a:r>
          <a:r>
            <a:rPr lang="zh-CN" dirty="0"/>
            <a:t>保障分布式协调，同时对接 </a:t>
          </a:r>
          <a:r>
            <a:rPr lang="en-US" dirty="0"/>
            <a:t>Hive </a:t>
          </a:r>
          <a:r>
            <a:rPr lang="zh-CN" dirty="0"/>
            <a:t>完成离线热点数据 </a:t>
          </a:r>
          <a:r>
            <a:rPr lang="en-US" dirty="0"/>
            <a:t>/ </a:t>
          </a:r>
          <a:r>
            <a:rPr lang="zh-CN" dirty="0"/>
            <a:t>日志分析，既支撑实时业务响应，又能挖掘离线数据价值。</a:t>
          </a:r>
        </a:p>
      </dgm:t>
    </dgm:pt>
    <dgm:pt modelId="{42D84E77-E0B4-4676-952A-44CAC2065D09}" type="parTrans" cxnId="{80669EC2-4403-4775-970A-787DF8C4DDBD}">
      <dgm:prSet/>
      <dgm:spPr/>
      <dgm:t>
        <a:bodyPr/>
        <a:lstStyle/>
        <a:p>
          <a:endParaRPr lang="zh-CN" altLang="en-US"/>
        </a:p>
      </dgm:t>
    </dgm:pt>
    <dgm:pt modelId="{A336EB3D-87D3-46B5-BAA2-31D9249993E0}" type="sibTrans" cxnId="{80669EC2-4403-4775-970A-787DF8C4DDBD}">
      <dgm:prSet/>
      <dgm:spPr/>
      <dgm:t>
        <a:bodyPr/>
        <a:lstStyle/>
        <a:p>
          <a:endParaRPr lang="zh-CN" altLang="en-US"/>
        </a:p>
      </dgm:t>
    </dgm:pt>
    <dgm:pt modelId="{556916CA-DD1E-49BB-B6C6-32A14C71B761}">
      <dgm:prSet/>
      <dgm:spPr/>
      <dgm:t>
        <a:bodyPr/>
        <a:lstStyle/>
        <a:p>
          <a:r>
            <a:rPr lang="zh-CN" b="1" dirty="0"/>
            <a:t>松耦合高可用架构</a:t>
          </a:r>
          <a:r>
            <a:rPr lang="zh-CN" dirty="0"/>
            <a:t>：借助 </a:t>
          </a:r>
          <a:r>
            <a:rPr lang="en-US" dirty="0"/>
            <a:t>Kafka </a:t>
          </a:r>
          <a:r>
            <a:rPr lang="zh-CN" dirty="0"/>
            <a:t>实现前后端与内部组件的消息解耦，降低模块依赖风险，提升系统整体的稳定性与扩展灵活性。</a:t>
          </a:r>
        </a:p>
      </dgm:t>
    </dgm:pt>
    <dgm:pt modelId="{35825C87-3CD0-441F-992C-F74997451A7F}" type="parTrans" cxnId="{92FF6AC7-41BE-463F-AF0B-D13409938C2E}">
      <dgm:prSet/>
      <dgm:spPr/>
      <dgm:t>
        <a:bodyPr/>
        <a:lstStyle/>
        <a:p>
          <a:endParaRPr lang="zh-CN" altLang="en-US"/>
        </a:p>
      </dgm:t>
    </dgm:pt>
    <dgm:pt modelId="{76381581-351A-490B-A647-B65154FD115E}" type="sibTrans" cxnId="{92FF6AC7-41BE-463F-AF0B-D13409938C2E}">
      <dgm:prSet/>
      <dgm:spPr/>
      <dgm:t>
        <a:bodyPr/>
        <a:lstStyle/>
        <a:p>
          <a:endParaRPr lang="zh-CN" altLang="en-US"/>
        </a:p>
      </dgm:t>
    </dgm:pt>
    <dgm:pt modelId="{512567CE-0510-49BC-9C6D-731AA4ECFE04}" type="pres">
      <dgm:prSet presAssocID="{879895C9-E69D-41EB-AD5C-4BF8C88FF5D4}" presName="vert0" presStyleCnt="0">
        <dgm:presLayoutVars>
          <dgm:dir/>
          <dgm:animOne val="branch"/>
          <dgm:animLvl val="lvl"/>
        </dgm:presLayoutVars>
      </dgm:prSet>
      <dgm:spPr/>
    </dgm:pt>
    <dgm:pt modelId="{B2B6A9A6-500A-4074-B78B-F9DE23B34FCC}" type="pres">
      <dgm:prSet presAssocID="{A7780599-A0C4-4A5C-BDDB-2E640D8DA859}" presName="thickLine" presStyleLbl="alignNode1" presStyleIdx="0" presStyleCnt="4"/>
      <dgm:spPr/>
    </dgm:pt>
    <dgm:pt modelId="{CF54802C-7E22-43E4-9902-2D3E1A6FCDF1}" type="pres">
      <dgm:prSet presAssocID="{A7780599-A0C4-4A5C-BDDB-2E640D8DA859}" presName="horz1" presStyleCnt="0"/>
      <dgm:spPr/>
    </dgm:pt>
    <dgm:pt modelId="{3EB4807B-DEB4-4273-A140-BBC7E65927EF}" type="pres">
      <dgm:prSet presAssocID="{A7780599-A0C4-4A5C-BDDB-2E640D8DA859}" presName="tx1" presStyleLbl="revTx" presStyleIdx="0" presStyleCnt="4" custScaleY="27046"/>
      <dgm:spPr/>
    </dgm:pt>
    <dgm:pt modelId="{26C02C09-CD34-4F94-837B-3C08A54D3D66}" type="pres">
      <dgm:prSet presAssocID="{A7780599-A0C4-4A5C-BDDB-2E640D8DA859}" presName="vert1" presStyleCnt="0"/>
      <dgm:spPr/>
    </dgm:pt>
    <dgm:pt modelId="{9C6712E3-4DDC-4112-A3AA-6F56DF7DFEAF}" type="pres">
      <dgm:prSet presAssocID="{C0312130-ADBB-4C15-92D5-99366E2574F5}" presName="thickLine" presStyleLbl="alignNode1" presStyleIdx="1" presStyleCnt="4"/>
      <dgm:spPr/>
    </dgm:pt>
    <dgm:pt modelId="{F72B6388-7DE9-42C1-BDA6-EE9A83BA131D}" type="pres">
      <dgm:prSet presAssocID="{C0312130-ADBB-4C15-92D5-99366E2574F5}" presName="horz1" presStyleCnt="0"/>
      <dgm:spPr/>
    </dgm:pt>
    <dgm:pt modelId="{91CC284D-6554-4B5D-8DE5-0796BDE12384}" type="pres">
      <dgm:prSet presAssocID="{C0312130-ADBB-4C15-92D5-99366E2574F5}" presName="tx1" presStyleLbl="revTx" presStyleIdx="1" presStyleCnt="4" custScaleY="40089"/>
      <dgm:spPr/>
    </dgm:pt>
    <dgm:pt modelId="{8A399328-8A75-4F5A-A5F1-AEC10DB9D54B}" type="pres">
      <dgm:prSet presAssocID="{C0312130-ADBB-4C15-92D5-99366E2574F5}" presName="vert1" presStyleCnt="0"/>
      <dgm:spPr/>
    </dgm:pt>
    <dgm:pt modelId="{47EA6272-A81C-4D3B-B667-B021DE5DED76}" type="pres">
      <dgm:prSet presAssocID="{AADFF67E-F359-4260-BC99-05ECEB73296B}" presName="thickLine" presStyleLbl="alignNode1" presStyleIdx="2" presStyleCnt="4"/>
      <dgm:spPr/>
    </dgm:pt>
    <dgm:pt modelId="{600634FC-B888-448C-B789-4A0F9CBEB73F}" type="pres">
      <dgm:prSet presAssocID="{AADFF67E-F359-4260-BC99-05ECEB73296B}" presName="horz1" presStyleCnt="0"/>
      <dgm:spPr/>
    </dgm:pt>
    <dgm:pt modelId="{55549ACA-4B30-4FEA-ACF2-10F0D24962D5}" type="pres">
      <dgm:prSet presAssocID="{AADFF67E-F359-4260-BC99-05ECEB73296B}" presName="tx1" presStyleLbl="revTx" presStyleIdx="2" presStyleCnt="4" custScaleY="29586"/>
      <dgm:spPr/>
    </dgm:pt>
    <dgm:pt modelId="{05777107-1844-4781-BE63-014A7CE31C8C}" type="pres">
      <dgm:prSet presAssocID="{AADFF67E-F359-4260-BC99-05ECEB73296B}" presName="vert1" presStyleCnt="0"/>
      <dgm:spPr/>
    </dgm:pt>
    <dgm:pt modelId="{70922AA7-1466-4F2C-A39F-3660B382D47E}" type="pres">
      <dgm:prSet presAssocID="{556916CA-DD1E-49BB-B6C6-32A14C71B761}" presName="thickLine" presStyleLbl="alignNode1" presStyleIdx="3" presStyleCnt="4"/>
      <dgm:spPr/>
    </dgm:pt>
    <dgm:pt modelId="{2F83D90B-0FF5-4403-A3F0-F7AA7B41E93B}" type="pres">
      <dgm:prSet presAssocID="{556916CA-DD1E-49BB-B6C6-32A14C71B761}" presName="horz1" presStyleCnt="0"/>
      <dgm:spPr/>
    </dgm:pt>
    <dgm:pt modelId="{B90B675E-A78F-4EAE-AF9A-F2E125B93A0E}" type="pres">
      <dgm:prSet presAssocID="{556916CA-DD1E-49BB-B6C6-32A14C71B761}" presName="tx1" presStyleLbl="revTx" presStyleIdx="3" presStyleCnt="4" custScaleY="24528"/>
      <dgm:spPr/>
    </dgm:pt>
    <dgm:pt modelId="{7BB74766-A801-49D3-A097-B4EA376174A0}" type="pres">
      <dgm:prSet presAssocID="{556916CA-DD1E-49BB-B6C6-32A14C71B761}" presName="vert1" presStyleCnt="0"/>
      <dgm:spPr/>
    </dgm:pt>
  </dgm:ptLst>
  <dgm:cxnLst>
    <dgm:cxn modelId="{DD96820C-E79F-45F5-AA2C-4BA0961CDF84}" type="presOf" srcId="{556916CA-DD1E-49BB-B6C6-32A14C71B761}" destId="{B90B675E-A78F-4EAE-AF9A-F2E125B93A0E}" srcOrd="0" destOrd="0" presId="urn:microsoft.com/office/officeart/2008/layout/LinedList"/>
    <dgm:cxn modelId="{E4FBA948-C8C1-4863-A01A-DA0C26D091D9}" srcId="{879895C9-E69D-41EB-AD5C-4BF8C88FF5D4}" destId="{A7780599-A0C4-4A5C-BDDB-2E640D8DA859}" srcOrd="0" destOrd="0" parTransId="{94C7E856-3AB3-4DDB-BE84-D5473DF369D5}" sibTransId="{5BDC6BA0-536E-4FED-9BE8-83AF2B29F34F}"/>
    <dgm:cxn modelId="{D856756D-5883-4D5C-BC46-D6791F2DC7FD}" type="presOf" srcId="{A7780599-A0C4-4A5C-BDDB-2E640D8DA859}" destId="{3EB4807B-DEB4-4273-A140-BBC7E65927EF}" srcOrd="0" destOrd="0" presId="urn:microsoft.com/office/officeart/2008/layout/LinedList"/>
    <dgm:cxn modelId="{CC166853-8A22-427F-B2A1-5D94F30FA054}" srcId="{879895C9-E69D-41EB-AD5C-4BF8C88FF5D4}" destId="{C0312130-ADBB-4C15-92D5-99366E2574F5}" srcOrd="1" destOrd="0" parTransId="{B14FC84F-B0F2-434C-9ABC-3997609D0A50}" sibTransId="{36351116-C224-4E27-96F6-94FF20083D0E}"/>
    <dgm:cxn modelId="{179BA556-35FC-424B-A8FC-981E8560E20B}" type="presOf" srcId="{879895C9-E69D-41EB-AD5C-4BF8C88FF5D4}" destId="{512567CE-0510-49BC-9C6D-731AA4ECFE04}" srcOrd="0" destOrd="0" presId="urn:microsoft.com/office/officeart/2008/layout/LinedList"/>
    <dgm:cxn modelId="{7E44A77B-47CB-421F-8F36-3E324FD68C5A}" type="presOf" srcId="{C0312130-ADBB-4C15-92D5-99366E2574F5}" destId="{91CC284D-6554-4B5D-8DE5-0796BDE12384}" srcOrd="0" destOrd="0" presId="urn:microsoft.com/office/officeart/2008/layout/LinedList"/>
    <dgm:cxn modelId="{B2515581-05F6-4D56-A29B-81C1487D1555}" type="presOf" srcId="{AADFF67E-F359-4260-BC99-05ECEB73296B}" destId="{55549ACA-4B30-4FEA-ACF2-10F0D24962D5}" srcOrd="0" destOrd="0" presId="urn:microsoft.com/office/officeart/2008/layout/LinedList"/>
    <dgm:cxn modelId="{80669EC2-4403-4775-970A-787DF8C4DDBD}" srcId="{879895C9-E69D-41EB-AD5C-4BF8C88FF5D4}" destId="{AADFF67E-F359-4260-BC99-05ECEB73296B}" srcOrd="2" destOrd="0" parTransId="{42D84E77-E0B4-4676-952A-44CAC2065D09}" sibTransId="{A336EB3D-87D3-46B5-BAA2-31D9249993E0}"/>
    <dgm:cxn modelId="{92FF6AC7-41BE-463F-AF0B-D13409938C2E}" srcId="{879895C9-E69D-41EB-AD5C-4BF8C88FF5D4}" destId="{556916CA-DD1E-49BB-B6C6-32A14C71B761}" srcOrd="3" destOrd="0" parTransId="{35825C87-3CD0-441F-992C-F74997451A7F}" sibTransId="{76381581-351A-490B-A647-B65154FD115E}"/>
    <dgm:cxn modelId="{75A9D38C-A2F5-4A38-80CC-D95BD3A73DB7}" type="presParOf" srcId="{512567CE-0510-49BC-9C6D-731AA4ECFE04}" destId="{B2B6A9A6-500A-4074-B78B-F9DE23B34FCC}" srcOrd="0" destOrd="0" presId="urn:microsoft.com/office/officeart/2008/layout/LinedList"/>
    <dgm:cxn modelId="{9A9B9963-03A6-4C6B-9476-19487569F3C6}" type="presParOf" srcId="{512567CE-0510-49BC-9C6D-731AA4ECFE04}" destId="{CF54802C-7E22-43E4-9902-2D3E1A6FCDF1}" srcOrd="1" destOrd="0" presId="urn:microsoft.com/office/officeart/2008/layout/LinedList"/>
    <dgm:cxn modelId="{FA867CD8-1E91-4760-A406-BFAAB00C182F}" type="presParOf" srcId="{CF54802C-7E22-43E4-9902-2D3E1A6FCDF1}" destId="{3EB4807B-DEB4-4273-A140-BBC7E65927EF}" srcOrd="0" destOrd="0" presId="urn:microsoft.com/office/officeart/2008/layout/LinedList"/>
    <dgm:cxn modelId="{B515781F-4DBE-4516-B82D-EED8105541E6}" type="presParOf" srcId="{CF54802C-7E22-43E4-9902-2D3E1A6FCDF1}" destId="{26C02C09-CD34-4F94-837B-3C08A54D3D66}" srcOrd="1" destOrd="0" presId="urn:microsoft.com/office/officeart/2008/layout/LinedList"/>
    <dgm:cxn modelId="{AF2E8AA6-AEBF-4DA4-83E6-10B4BCBA7F22}" type="presParOf" srcId="{512567CE-0510-49BC-9C6D-731AA4ECFE04}" destId="{9C6712E3-4DDC-4112-A3AA-6F56DF7DFEAF}" srcOrd="2" destOrd="0" presId="urn:microsoft.com/office/officeart/2008/layout/LinedList"/>
    <dgm:cxn modelId="{0EA16A3C-07E7-44C5-9AC0-433AD6969C87}" type="presParOf" srcId="{512567CE-0510-49BC-9C6D-731AA4ECFE04}" destId="{F72B6388-7DE9-42C1-BDA6-EE9A83BA131D}" srcOrd="3" destOrd="0" presId="urn:microsoft.com/office/officeart/2008/layout/LinedList"/>
    <dgm:cxn modelId="{A2250748-B539-43C4-9536-77DE394EBD6E}" type="presParOf" srcId="{F72B6388-7DE9-42C1-BDA6-EE9A83BA131D}" destId="{91CC284D-6554-4B5D-8DE5-0796BDE12384}" srcOrd="0" destOrd="0" presId="urn:microsoft.com/office/officeart/2008/layout/LinedList"/>
    <dgm:cxn modelId="{F72CDAC3-1179-4746-A143-0ADBF3D71E88}" type="presParOf" srcId="{F72B6388-7DE9-42C1-BDA6-EE9A83BA131D}" destId="{8A399328-8A75-4F5A-A5F1-AEC10DB9D54B}" srcOrd="1" destOrd="0" presId="urn:microsoft.com/office/officeart/2008/layout/LinedList"/>
    <dgm:cxn modelId="{85261D26-DDDE-41BE-ACA5-8014A2256639}" type="presParOf" srcId="{512567CE-0510-49BC-9C6D-731AA4ECFE04}" destId="{47EA6272-A81C-4D3B-B667-B021DE5DED76}" srcOrd="4" destOrd="0" presId="urn:microsoft.com/office/officeart/2008/layout/LinedList"/>
    <dgm:cxn modelId="{DABA5C62-F4F8-43AD-B3D1-EFD42A1FC9B1}" type="presParOf" srcId="{512567CE-0510-49BC-9C6D-731AA4ECFE04}" destId="{600634FC-B888-448C-B789-4A0F9CBEB73F}" srcOrd="5" destOrd="0" presId="urn:microsoft.com/office/officeart/2008/layout/LinedList"/>
    <dgm:cxn modelId="{15D0F69E-38A5-42D5-BF75-C3D5E5CA0245}" type="presParOf" srcId="{600634FC-B888-448C-B789-4A0F9CBEB73F}" destId="{55549ACA-4B30-4FEA-ACF2-10F0D24962D5}" srcOrd="0" destOrd="0" presId="urn:microsoft.com/office/officeart/2008/layout/LinedList"/>
    <dgm:cxn modelId="{091A9771-D1C5-4435-99DD-9C3A2EADD668}" type="presParOf" srcId="{600634FC-B888-448C-B789-4A0F9CBEB73F}" destId="{05777107-1844-4781-BE63-014A7CE31C8C}" srcOrd="1" destOrd="0" presId="urn:microsoft.com/office/officeart/2008/layout/LinedList"/>
    <dgm:cxn modelId="{D388B576-2B49-4286-98A1-406F8E561C63}" type="presParOf" srcId="{512567CE-0510-49BC-9C6D-731AA4ECFE04}" destId="{70922AA7-1466-4F2C-A39F-3660B382D47E}" srcOrd="6" destOrd="0" presId="urn:microsoft.com/office/officeart/2008/layout/LinedList"/>
    <dgm:cxn modelId="{905FBE73-B7D4-47E3-84C1-6A42F6A50762}" type="presParOf" srcId="{512567CE-0510-49BC-9C6D-731AA4ECFE04}" destId="{2F83D90B-0FF5-4403-A3F0-F7AA7B41E93B}" srcOrd="7" destOrd="0" presId="urn:microsoft.com/office/officeart/2008/layout/LinedList"/>
    <dgm:cxn modelId="{210D0969-D6EF-438E-B1D8-63ADAFC023AB}" type="presParOf" srcId="{2F83D90B-0FF5-4403-A3F0-F7AA7B41E93B}" destId="{B90B675E-A78F-4EAE-AF9A-F2E125B93A0E}" srcOrd="0" destOrd="0" presId="urn:microsoft.com/office/officeart/2008/layout/LinedList"/>
    <dgm:cxn modelId="{21C467A2-0C03-49C3-8939-C6F7E3F03BBB}" type="presParOf" srcId="{2F83D90B-0FF5-4403-A3F0-F7AA7B41E93B}" destId="{7BB74766-A801-49D3-A097-B4EA376174A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6898CC-477D-4415-95BF-B3774FE5C97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744EB36-12BA-459C-9509-8F87371E83BF}">
      <dgm:prSet/>
      <dgm:spPr>
        <a:solidFill>
          <a:schemeClr val="bg1"/>
        </a:solidFill>
      </dgm:spPr>
      <dgm:t>
        <a:bodyPr/>
        <a:lstStyle/>
        <a:p>
          <a:r>
            <a:rPr lang="zh-CN" b="1" dirty="0">
              <a:solidFill>
                <a:schemeClr val="tx1">
                  <a:lumMod val="95000"/>
                  <a:lumOff val="5000"/>
                </a:schemeClr>
              </a:solidFill>
            </a:rPr>
            <a:t>数据不通</a:t>
          </a:r>
          <a:r>
            <a:rPr lang="zh-CN" dirty="0">
              <a:solidFill>
                <a:schemeClr val="tx1">
                  <a:lumMod val="95000"/>
                  <a:lumOff val="5000"/>
                </a:schemeClr>
              </a:solidFill>
            </a:rPr>
            <a:t>：用户行为、订单、库存等数据分散隔离，无法形成统一视图。</a:t>
          </a:r>
        </a:p>
      </dgm:t>
    </dgm:pt>
    <dgm:pt modelId="{1D4A7A46-B49E-49DA-BE25-80CC3AB2D3F7}" type="parTrans" cxnId="{DC177174-BE24-4AEC-B0D7-340771FD510B}">
      <dgm:prSet/>
      <dgm:spPr/>
      <dgm:t>
        <a:bodyPr/>
        <a:lstStyle/>
        <a:p>
          <a:endParaRPr lang="zh-CN" altLang="en-US"/>
        </a:p>
      </dgm:t>
    </dgm:pt>
    <dgm:pt modelId="{2D057C3A-AF07-4723-9316-AC127964FADA}" type="sibTrans" cxnId="{DC177174-BE24-4AEC-B0D7-340771FD510B}">
      <dgm:prSet/>
      <dgm:spPr/>
      <dgm:t>
        <a:bodyPr/>
        <a:lstStyle/>
        <a:p>
          <a:endParaRPr lang="zh-CN" altLang="en-US"/>
        </a:p>
      </dgm:t>
    </dgm:pt>
    <dgm:pt modelId="{BE87C580-4F8F-47BC-9D1C-3907F8C8942D}">
      <dgm:prSet/>
      <dgm:spPr/>
      <dgm:t>
        <a:bodyPr/>
        <a:lstStyle/>
        <a:p>
          <a:r>
            <a:rPr lang="zh-CN" b="1" dirty="0"/>
            <a:t>重复建设</a:t>
          </a:r>
          <a:r>
            <a:rPr lang="zh-CN" dirty="0"/>
            <a:t>：相同的数据需求（如用户画像）在不同后端重复开发，效率低下。</a:t>
          </a:r>
        </a:p>
      </dgm:t>
    </dgm:pt>
    <dgm:pt modelId="{86ED55D7-0E1E-4246-8185-D06CDC37658A}" type="parTrans" cxnId="{26920BA4-8BA8-4C9A-8653-6FD6D50351EB}">
      <dgm:prSet/>
      <dgm:spPr/>
      <dgm:t>
        <a:bodyPr/>
        <a:lstStyle/>
        <a:p>
          <a:endParaRPr lang="zh-CN" altLang="en-US"/>
        </a:p>
      </dgm:t>
    </dgm:pt>
    <dgm:pt modelId="{B59EB89F-6968-4118-99D4-072103D122F5}" type="sibTrans" cxnId="{26920BA4-8BA8-4C9A-8653-6FD6D50351EB}">
      <dgm:prSet/>
      <dgm:spPr/>
      <dgm:t>
        <a:bodyPr/>
        <a:lstStyle/>
        <a:p>
          <a:endParaRPr lang="zh-CN" altLang="en-US"/>
        </a:p>
      </dgm:t>
    </dgm:pt>
    <dgm:pt modelId="{8FE8E2D2-587C-43D9-B27F-42323D6B8B87}">
      <dgm:prSet/>
      <dgm:spPr/>
      <dgm:t>
        <a:bodyPr/>
        <a:lstStyle/>
        <a:p>
          <a:r>
            <a:rPr lang="zh-CN" b="1" dirty="0"/>
            <a:t>创新缓慢</a:t>
          </a:r>
          <a:r>
            <a:rPr lang="zh-CN" dirty="0"/>
            <a:t>：任何新的前端应用（如一个新营销活动页面）都需要后端从头开发接口，响应业务变化慢。</a:t>
          </a:r>
        </a:p>
      </dgm:t>
    </dgm:pt>
    <dgm:pt modelId="{1CE1FDEA-48DB-4305-BB58-A4587CA895A4}" type="parTrans" cxnId="{743E8DD6-34A9-414B-ADD2-85A7607AA92D}">
      <dgm:prSet/>
      <dgm:spPr/>
      <dgm:t>
        <a:bodyPr/>
        <a:lstStyle/>
        <a:p>
          <a:endParaRPr lang="zh-CN" altLang="en-US"/>
        </a:p>
      </dgm:t>
    </dgm:pt>
    <dgm:pt modelId="{21EDE4A0-F92F-4066-9DFA-BC8744EBCBE8}" type="sibTrans" cxnId="{743E8DD6-34A9-414B-ADD2-85A7607AA92D}">
      <dgm:prSet/>
      <dgm:spPr/>
      <dgm:t>
        <a:bodyPr/>
        <a:lstStyle/>
        <a:p>
          <a:endParaRPr lang="zh-CN" altLang="en-US"/>
        </a:p>
      </dgm:t>
    </dgm:pt>
    <dgm:pt modelId="{257B3E5E-71AF-44D1-AB18-AD5520D0E53A}" type="pres">
      <dgm:prSet presAssocID="{376898CC-477D-4415-95BF-B3774FE5C973}" presName="vert0" presStyleCnt="0">
        <dgm:presLayoutVars>
          <dgm:dir/>
          <dgm:animOne val="branch"/>
          <dgm:animLvl val="lvl"/>
        </dgm:presLayoutVars>
      </dgm:prSet>
      <dgm:spPr/>
    </dgm:pt>
    <dgm:pt modelId="{EBA65DBD-2366-4633-AD5D-05627385EC39}" type="pres">
      <dgm:prSet presAssocID="{9744EB36-12BA-459C-9509-8F87371E83BF}" presName="thickLine" presStyleLbl="alignNode1" presStyleIdx="0" presStyleCnt="3"/>
      <dgm:spPr/>
    </dgm:pt>
    <dgm:pt modelId="{B7A511FD-563B-4627-BFC2-7EEF6B5FBA3D}" type="pres">
      <dgm:prSet presAssocID="{9744EB36-12BA-459C-9509-8F87371E83BF}" presName="horz1" presStyleCnt="0"/>
      <dgm:spPr/>
    </dgm:pt>
    <dgm:pt modelId="{651D42A8-9AF1-4BEA-B79D-7761AE3A59F3}" type="pres">
      <dgm:prSet presAssocID="{9744EB36-12BA-459C-9509-8F87371E83BF}" presName="tx1" presStyleLbl="revTx" presStyleIdx="0" presStyleCnt="3"/>
      <dgm:spPr/>
    </dgm:pt>
    <dgm:pt modelId="{4E5FA0EC-2DB2-47F0-B00B-D470F414273A}" type="pres">
      <dgm:prSet presAssocID="{9744EB36-12BA-459C-9509-8F87371E83BF}" presName="vert1" presStyleCnt="0"/>
      <dgm:spPr/>
    </dgm:pt>
    <dgm:pt modelId="{B2443463-7500-4E36-A841-66699E868D1C}" type="pres">
      <dgm:prSet presAssocID="{BE87C580-4F8F-47BC-9D1C-3907F8C8942D}" presName="thickLine" presStyleLbl="alignNode1" presStyleIdx="1" presStyleCnt="3"/>
      <dgm:spPr/>
    </dgm:pt>
    <dgm:pt modelId="{949854E7-E5E7-4EC5-B34F-1ABB3EE0C04A}" type="pres">
      <dgm:prSet presAssocID="{BE87C580-4F8F-47BC-9D1C-3907F8C8942D}" presName="horz1" presStyleCnt="0"/>
      <dgm:spPr/>
    </dgm:pt>
    <dgm:pt modelId="{CBD08CE2-2530-400D-9D86-2A680101F541}" type="pres">
      <dgm:prSet presAssocID="{BE87C580-4F8F-47BC-9D1C-3907F8C8942D}" presName="tx1" presStyleLbl="revTx" presStyleIdx="1" presStyleCnt="3"/>
      <dgm:spPr/>
    </dgm:pt>
    <dgm:pt modelId="{84A5FF40-75D5-44B4-9BBF-585033E566A7}" type="pres">
      <dgm:prSet presAssocID="{BE87C580-4F8F-47BC-9D1C-3907F8C8942D}" presName="vert1" presStyleCnt="0"/>
      <dgm:spPr/>
    </dgm:pt>
    <dgm:pt modelId="{887857E5-D8ED-4A06-A1F0-0A2AE9FE3C81}" type="pres">
      <dgm:prSet presAssocID="{8FE8E2D2-587C-43D9-B27F-42323D6B8B87}" presName="thickLine" presStyleLbl="alignNode1" presStyleIdx="2" presStyleCnt="3"/>
      <dgm:spPr/>
    </dgm:pt>
    <dgm:pt modelId="{F9232A96-0753-4DEB-AF31-D1120EFB1C28}" type="pres">
      <dgm:prSet presAssocID="{8FE8E2D2-587C-43D9-B27F-42323D6B8B87}" presName="horz1" presStyleCnt="0"/>
      <dgm:spPr/>
    </dgm:pt>
    <dgm:pt modelId="{3EE8D757-9F38-4608-A67B-90C9F6409530}" type="pres">
      <dgm:prSet presAssocID="{8FE8E2D2-587C-43D9-B27F-42323D6B8B87}" presName="tx1" presStyleLbl="revTx" presStyleIdx="2" presStyleCnt="3"/>
      <dgm:spPr/>
    </dgm:pt>
    <dgm:pt modelId="{215AD6B2-4ACE-4293-979C-C10CE4908121}" type="pres">
      <dgm:prSet presAssocID="{8FE8E2D2-587C-43D9-B27F-42323D6B8B87}" presName="vert1" presStyleCnt="0"/>
      <dgm:spPr/>
    </dgm:pt>
  </dgm:ptLst>
  <dgm:cxnLst>
    <dgm:cxn modelId="{1881BC0A-0539-4159-A4CD-CA60C12D7811}" type="presOf" srcId="{8FE8E2D2-587C-43D9-B27F-42323D6B8B87}" destId="{3EE8D757-9F38-4608-A67B-90C9F6409530}" srcOrd="0" destOrd="0" presId="urn:microsoft.com/office/officeart/2008/layout/LinedList"/>
    <dgm:cxn modelId="{DC177174-BE24-4AEC-B0D7-340771FD510B}" srcId="{376898CC-477D-4415-95BF-B3774FE5C973}" destId="{9744EB36-12BA-459C-9509-8F87371E83BF}" srcOrd="0" destOrd="0" parTransId="{1D4A7A46-B49E-49DA-BE25-80CC3AB2D3F7}" sibTransId="{2D057C3A-AF07-4723-9316-AC127964FADA}"/>
    <dgm:cxn modelId="{59813C7C-4674-4D55-97E6-44E91BC4F6F6}" type="presOf" srcId="{9744EB36-12BA-459C-9509-8F87371E83BF}" destId="{651D42A8-9AF1-4BEA-B79D-7761AE3A59F3}" srcOrd="0" destOrd="0" presId="urn:microsoft.com/office/officeart/2008/layout/LinedList"/>
    <dgm:cxn modelId="{6BDD3C7D-9CED-4A28-96DE-928DBA19E348}" type="presOf" srcId="{BE87C580-4F8F-47BC-9D1C-3907F8C8942D}" destId="{CBD08CE2-2530-400D-9D86-2A680101F541}" srcOrd="0" destOrd="0" presId="urn:microsoft.com/office/officeart/2008/layout/LinedList"/>
    <dgm:cxn modelId="{FBA3C28D-6E6D-40D2-B41F-6FA352A8F751}" type="presOf" srcId="{376898CC-477D-4415-95BF-B3774FE5C973}" destId="{257B3E5E-71AF-44D1-AB18-AD5520D0E53A}" srcOrd="0" destOrd="0" presId="urn:microsoft.com/office/officeart/2008/layout/LinedList"/>
    <dgm:cxn modelId="{26920BA4-8BA8-4C9A-8653-6FD6D50351EB}" srcId="{376898CC-477D-4415-95BF-B3774FE5C973}" destId="{BE87C580-4F8F-47BC-9D1C-3907F8C8942D}" srcOrd="1" destOrd="0" parTransId="{86ED55D7-0E1E-4246-8185-D06CDC37658A}" sibTransId="{B59EB89F-6968-4118-99D4-072103D122F5}"/>
    <dgm:cxn modelId="{743E8DD6-34A9-414B-ADD2-85A7607AA92D}" srcId="{376898CC-477D-4415-95BF-B3774FE5C973}" destId="{8FE8E2D2-587C-43D9-B27F-42323D6B8B87}" srcOrd="2" destOrd="0" parTransId="{1CE1FDEA-48DB-4305-BB58-A4587CA895A4}" sibTransId="{21EDE4A0-F92F-4066-9DFA-BC8744EBCBE8}"/>
    <dgm:cxn modelId="{0960BAC6-25A7-4BA0-BBDE-BAAC4756B839}" type="presParOf" srcId="{257B3E5E-71AF-44D1-AB18-AD5520D0E53A}" destId="{EBA65DBD-2366-4633-AD5D-05627385EC39}" srcOrd="0" destOrd="0" presId="urn:microsoft.com/office/officeart/2008/layout/LinedList"/>
    <dgm:cxn modelId="{329D7D01-38AB-4AD8-954C-B2F04C725BB4}" type="presParOf" srcId="{257B3E5E-71AF-44D1-AB18-AD5520D0E53A}" destId="{B7A511FD-563B-4627-BFC2-7EEF6B5FBA3D}" srcOrd="1" destOrd="0" presId="urn:microsoft.com/office/officeart/2008/layout/LinedList"/>
    <dgm:cxn modelId="{B59B9B1D-B328-4566-A024-6F7D36728260}" type="presParOf" srcId="{B7A511FD-563B-4627-BFC2-7EEF6B5FBA3D}" destId="{651D42A8-9AF1-4BEA-B79D-7761AE3A59F3}" srcOrd="0" destOrd="0" presId="urn:microsoft.com/office/officeart/2008/layout/LinedList"/>
    <dgm:cxn modelId="{67359F66-C9F2-4B30-9117-E21EA6F31408}" type="presParOf" srcId="{B7A511FD-563B-4627-BFC2-7EEF6B5FBA3D}" destId="{4E5FA0EC-2DB2-47F0-B00B-D470F414273A}" srcOrd="1" destOrd="0" presId="urn:microsoft.com/office/officeart/2008/layout/LinedList"/>
    <dgm:cxn modelId="{F20F3672-4381-4F37-ABF5-FBEE8A179192}" type="presParOf" srcId="{257B3E5E-71AF-44D1-AB18-AD5520D0E53A}" destId="{B2443463-7500-4E36-A841-66699E868D1C}" srcOrd="2" destOrd="0" presId="urn:microsoft.com/office/officeart/2008/layout/LinedList"/>
    <dgm:cxn modelId="{7049DBFD-1B0C-40CF-B15D-1ABF5238BF16}" type="presParOf" srcId="{257B3E5E-71AF-44D1-AB18-AD5520D0E53A}" destId="{949854E7-E5E7-4EC5-B34F-1ABB3EE0C04A}" srcOrd="3" destOrd="0" presId="urn:microsoft.com/office/officeart/2008/layout/LinedList"/>
    <dgm:cxn modelId="{29E718C2-4D78-4D3E-BA35-CB2A4BB2347E}" type="presParOf" srcId="{949854E7-E5E7-4EC5-B34F-1ABB3EE0C04A}" destId="{CBD08CE2-2530-400D-9D86-2A680101F541}" srcOrd="0" destOrd="0" presId="urn:microsoft.com/office/officeart/2008/layout/LinedList"/>
    <dgm:cxn modelId="{01A01BEE-9143-4EC3-80EB-38E8E64B0314}" type="presParOf" srcId="{949854E7-E5E7-4EC5-B34F-1ABB3EE0C04A}" destId="{84A5FF40-75D5-44B4-9BBF-585033E566A7}" srcOrd="1" destOrd="0" presId="urn:microsoft.com/office/officeart/2008/layout/LinedList"/>
    <dgm:cxn modelId="{CBBA357D-99AB-483F-8FED-3160BA18EEC4}" type="presParOf" srcId="{257B3E5E-71AF-44D1-AB18-AD5520D0E53A}" destId="{887857E5-D8ED-4A06-A1F0-0A2AE9FE3C81}" srcOrd="4" destOrd="0" presId="urn:microsoft.com/office/officeart/2008/layout/LinedList"/>
    <dgm:cxn modelId="{D151B9BE-7D78-4CD1-86DE-033DBDF663B5}" type="presParOf" srcId="{257B3E5E-71AF-44D1-AB18-AD5520D0E53A}" destId="{F9232A96-0753-4DEB-AF31-D1120EFB1C28}" srcOrd="5" destOrd="0" presId="urn:microsoft.com/office/officeart/2008/layout/LinedList"/>
    <dgm:cxn modelId="{43246772-B5A8-4FD0-810B-6B677FEF1265}" type="presParOf" srcId="{F9232A96-0753-4DEB-AF31-D1120EFB1C28}" destId="{3EE8D757-9F38-4608-A67B-90C9F6409530}" srcOrd="0" destOrd="0" presId="urn:microsoft.com/office/officeart/2008/layout/LinedList"/>
    <dgm:cxn modelId="{DCA4461B-6090-4198-A878-1FCA113CD89F}" type="presParOf" srcId="{F9232A96-0753-4DEB-AF31-D1120EFB1C28}" destId="{215AD6B2-4ACE-4293-979C-C10CE490812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B6A9A6-500A-4074-B78B-F9DE23B34FCC}">
      <dsp:nvSpPr>
        <dsp:cNvPr id="0" name=""/>
        <dsp:cNvSpPr/>
      </dsp:nvSpPr>
      <dsp:spPr>
        <a:xfrm>
          <a:off x="0" y="1643"/>
          <a:ext cx="3303494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EB4807B-DEB4-4273-A140-BBC7E65927EF}">
      <dsp:nvSpPr>
        <dsp:cNvPr id="0" name=""/>
        <dsp:cNvSpPr/>
      </dsp:nvSpPr>
      <dsp:spPr>
        <a:xfrm>
          <a:off x="0" y="1643"/>
          <a:ext cx="3303494" cy="11396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400" b="1" kern="1200" dirty="0"/>
            <a:t>弹性算力底座</a:t>
          </a:r>
          <a:r>
            <a:rPr lang="zh-CN" sz="1400" kern="1200" dirty="0"/>
            <a:t>：多实例</a:t>
          </a:r>
          <a:r>
            <a:rPr lang="zh-CN" altLang="en-US" sz="1400" kern="1200" dirty="0"/>
            <a:t>通过</a:t>
          </a:r>
          <a:r>
            <a:rPr lang="en-US" altLang="zh-CN" sz="1400" kern="1200" dirty="0"/>
            <a:t>k8s</a:t>
          </a:r>
          <a:r>
            <a:rPr lang="zh-CN" altLang="en-US" sz="1400" kern="1200" dirty="0"/>
            <a:t>容器化池子达成</a:t>
          </a:r>
          <a:r>
            <a:rPr lang="en-US" sz="1400" kern="1200" dirty="0"/>
            <a:t>Hadoop </a:t>
          </a:r>
          <a:r>
            <a:rPr lang="zh-CN" sz="1400" kern="1200" dirty="0"/>
            <a:t>集群，能灵活适配</a:t>
          </a:r>
          <a:r>
            <a:rPr lang="zh-CN" altLang="en-US" sz="1400" kern="1200" dirty="0"/>
            <a:t>高频数据库操作</a:t>
          </a:r>
          <a:r>
            <a:rPr lang="zh-CN" sz="1400" kern="1200" dirty="0"/>
            <a:t>等高算力场景的资源需求，实现算力的弹性调度与高效支撑。</a:t>
          </a:r>
        </a:p>
      </dsp:txBody>
      <dsp:txXfrm>
        <a:off x="0" y="1643"/>
        <a:ext cx="3303494" cy="1139678"/>
      </dsp:txXfrm>
    </dsp:sp>
    <dsp:sp modelId="{9C6712E3-4DDC-4112-A3AA-6F56DF7DFEAF}">
      <dsp:nvSpPr>
        <dsp:cNvPr id="0" name=""/>
        <dsp:cNvSpPr/>
      </dsp:nvSpPr>
      <dsp:spPr>
        <a:xfrm>
          <a:off x="0" y="1141322"/>
          <a:ext cx="3303494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1CC284D-6554-4B5D-8DE5-0796BDE12384}">
      <dsp:nvSpPr>
        <dsp:cNvPr id="0" name=""/>
        <dsp:cNvSpPr/>
      </dsp:nvSpPr>
      <dsp:spPr>
        <a:xfrm>
          <a:off x="0" y="1141322"/>
          <a:ext cx="3303494" cy="1689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400" b="1" kern="1200" dirty="0"/>
            <a:t>数据分层精准适配</a:t>
          </a:r>
          <a:r>
            <a:rPr lang="zh-CN" sz="1400" kern="1200" dirty="0"/>
            <a:t>：针对不同类型数据匹配专属引擎 </a:t>
          </a:r>
          <a:r>
            <a:rPr lang="en-US" sz="1400" kern="1200" dirty="0"/>
            <a:t>——MySQL </a:t>
          </a:r>
          <a:r>
            <a:rPr lang="zh-CN" sz="1400" kern="1200" dirty="0"/>
            <a:t>承载高并发的会员 </a:t>
          </a:r>
          <a:r>
            <a:rPr lang="en-US" sz="1400" kern="1200" dirty="0"/>
            <a:t>/ </a:t>
          </a:r>
          <a:r>
            <a:rPr lang="zh-CN" sz="1400" kern="1200" dirty="0"/>
            <a:t>支付等业务系统；</a:t>
          </a:r>
          <a:r>
            <a:rPr lang="en-US" sz="1400" kern="1200" dirty="0" err="1"/>
            <a:t>ElasticSearch</a:t>
          </a:r>
          <a:r>
            <a:rPr lang="en-US" sz="1400" kern="1200" dirty="0"/>
            <a:t> </a:t>
          </a:r>
          <a:r>
            <a:rPr lang="zh-CN" sz="1400" kern="1200" dirty="0"/>
            <a:t>处理博客复杂结构数据与 </a:t>
          </a:r>
          <a:r>
            <a:rPr lang="en-US" sz="1400" kern="1200" dirty="0"/>
            <a:t>AI/AIGC </a:t>
          </a:r>
          <a:r>
            <a:rPr lang="zh-CN" sz="1400" kern="1200" dirty="0"/>
            <a:t>内容的搜索；</a:t>
          </a:r>
          <a:r>
            <a:rPr lang="en-US" sz="1400" kern="1200" dirty="0" err="1"/>
            <a:t>MinIO</a:t>
          </a:r>
          <a:r>
            <a:rPr lang="en-US" sz="1400" kern="1200" dirty="0"/>
            <a:t> </a:t>
          </a:r>
          <a:r>
            <a:rPr lang="zh-CN" sz="1400" kern="1200" dirty="0"/>
            <a:t>作为对象存储管理媒体资源与大模型</a:t>
          </a:r>
          <a:r>
            <a:rPr lang="zh-CN" altLang="en-US" sz="1400" kern="1200" dirty="0"/>
            <a:t>权重</a:t>
          </a:r>
          <a:r>
            <a:rPr lang="zh-CN" sz="1400" kern="1200" dirty="0"/>
            <a:t>，让各模块性能精准匹配业务场景。</a:t>
          </a:r>
        </a:p>
      </dsp:txBody>
      <dsp:txXfrm>
        <a:off x="0" y="1141322"/>
        <a:ext cx="3303494" cy="1689291"/>
      </dsp:txXfrm>
    </dsp:sp>
    <dsp:sp modelId="{47EA6272-A81C-4D3B-B667-B021DE5DED76}">
      <dsp:nvSpPr>
        <dsp:cNvPr id="0" name=""/>
        <dsp:cNvSpPr/>
      </dsp:nvSpPr>
      <dsp:spPr>
        <a:xfrm>
          <a:off x="0" y="2830614"/>
          <a:ext cx="3303494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5549ACA-4B30-4FEA-ACF2-10F0D24962D5}">
      <dsp:nvSpPr>
        <dsp:cNvPr id="0" name=""/>
        <dsp:cNvSpPr/>
      </dsp:nvSpPr>
      <dsp:spPr>
        <a:xfrm>
          <a:off x="0" y="2830614"/>
          <a:ext cx="3303494" cy="1246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400" b="1" kern="1200" dirty="0"/>
            <a:t>流批协同的数智链路</a:t>
          </a:r>
          <a:r>
            <a:rPr lang="zh-CN" sz="1400" kern="1200" dirty="0"/>
            <a:t>：通过 </a:t>
          </a:r>
          <a:r>
            <a:rPr lang="en-US" sz="1400" kern="1200" dirty="0"/>
            <a:t>Canal </a:t>
          </a:r>
          <a:r>
            <a:rPr lang="zh-CN" sz="1400" kern="1200" dirty="0"/>
            <a:t>实现数据实时同步、</a:t>
          </a:r>
          <a:r>
            <a:rPr lang="en-US" sz="1400" kern="1200" dirty="0" err="1"/>
            <a:t>ZooKeeper</a:t>
          </a:r>
          <a:r>
            <a:rPr lang="en-US" sz="1400" kern="1200" dirty="0"/>
            <a:t> </a:t>
          </a:r>
          <a:r>
            <a:rPr lang="zh-CN" sz="1400" kern="1200" dirty="0"/>
            <a:t>保障分布式协调，同时对接 </a:t>
          </a:r>
          <a:r>
            <a:rPr lang="en-US" sz="1400" kern="1200" dirty="0"/>
            <a:t>Hive </a:t>
          </a:r>
          <a:r>
            <a:rPr lang="zh-CN" sz="1400" kern="1200" dirty="0"/>
            <a:t>完成离线热点数据 </a:t>
          </a:r>
          <a:r>
            <a:rPr lang="en-US" sz="1400" kern="1200" dirty="0"/>
            <a:t>/ </a:t>
          </a:r>
          <a:r>
            <a:rPr lang="zh-CN" sz="1400" kern="1200" dirty="0"/>
            <a:t>日志分析，既支撑实时业务响应，又能挖掘离线数据价值。</a:t>
          </a:r>
        </a:p>
      </dsp:txBody>
      <dsp:txXfrm>
        <a:off x="0" y="2830614"/>
        <a:ext cx="3303494" cy="1246710"/>
      </dsp:txXfrm>
    </dsp:sp>
    <dsp:sp modelId="{70922AA7-1466-4F2C-A39F-3660B382D47E}">
      <dsp:nvSpPr>
        <dsp:cNvPr id="0" name=""/>
        <dsp:cNvSpPr/>
      </dsp:nvSpPr>
      <dsp:spPr>
        <a:xfrm>
          <a:off x="0" y="4077325"/>
          <a:ext cx="3303494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90B675E-A78F-4EAE-AF9A-F2E125B93A0E}">
      <dsp:nvSpPr>
        <dsp:cNvPr id="0" name=""/>
        <dsp:cNvSpPr/>
      </dsp:nvSpPr>
      <dsp:spPr>
        <a:xfrm>
          <a:off x="0" y="4077325"/>
          <a:ext cx="3303494" cy="1033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400" b="1" kern="1200" dirty="0"/>
            <a:t>松耦合高可用架构</a:t>
          </a:r>
          <a:r>
            <a:rPr lang="zh-CN" sz="1400" kern="1200" dirty="0"/>
            <a:t>：借助 </a:t>
          </a:r>
          <a:r>
            <a:rPr lang="en-US" sz="1400" kern="1200" dirty="0"/>
            <a:t>Kafka </a:t>
          </a:r>
          <a:r>
            <a:rPr lang="zh-CN" sz="1400" kern="1200" dirty="0"/>
            <a:t>实现前后端与内部组件的消息解耦，降低模块依赖风险，提升系统整体的稳定性与扩展灵活性。</a:t>
          </a:r>
        </a:p>
      </dsp:txBody>
      <dsp:txXfrm>
        <a:off x="0" y="4077325"/>
        <a:ext cx="3303494" cy="10335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A65DBD-2366-4633-AD5D-05627385EC39}">
      <dsp:nvSpPr>
        <dsp:cNvPr id="0" name=""/>
        <dsp:cNvSpPr/>
      </dsp:nvSpPr>
      <dsp:spPr>
        <a:xfrm>
          <a:off x="0" y="2464"/>
          <a:ext cx="329901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1D42A8-9AF1-4BEA-B79D-7761AE3A59F3}">
      <dsp:nvSpPr>
        <dsp:cNvPr id="0" name=""/>
        <dsp:cNvSpPr/>
      </dsp:nvSpPr>
      <dsp:spPr>
        <a:xfrm>
          <a:off x="0" y="2464"/>
          <a:ext cx="3299011" cy="1680733"/>
        </a:xfrm>
        <a:prstGeom prst="rect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2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数据不通</a:t>
          </a:r>
          <a:r>
            <a:rPr lang="zh-CN" sz="2200" kern="1200" dirty="0">
              <a:solidFill>
                <a:schemeClr val="tx1">
                  <a:lumMod val="95000"/>
                  <a:lumOff val="5000"/>
                </a:schemeClr>
              </a:solidFill>
            </a:rPr>
            <a:t>：用户行为、订单、库存等数据分散隔离，无法形成统一视图。</a:t>
          </a:r>
        </a:p>
      </dsp:txBody>
      <dsp:txXfrm>
        <a:off x="0" y="2464"/>
        <a:ext cx="3299011" cy="1680733"/>
      </dsp:txXfrm>
    </dsp:sp>
    <dsp:sp modelId="{B2443463-7500-4E36-A841-66699E868D1C}">
      <dsp:nvSpPr>
        <dsp:cNvPr id="0" name=""/>
        <dsp:cNvSpPr/>
      </dsp:nvSpPr>
      <dsp:spPr>
        <a:xfrm>
          <a:off x="0" y="1683197"/>
          <a:ext cx="329901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D08CE2-2530-400D-9D86-2A680101F541}">
      <dsp:nvSpPr>
        <dsp:cNvPr id="0" name=""/>
        <dsp:cNvSpPr/>
      </dsp:nvSpPr>
      <dsp:spPr>
        <a:xfrm>
          <a:off x="0" y="1683197"/>
          <a:ext cx="3299011" cy="1680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200" b="1" kern="1200" dirty="0"/>
            <a:t>重复建设</a:t>
          </a:r>
          <a:r>
            <a:rPr lang="zh-CN" sz="2200" kern="1200" dirty="0"/>
            <a:t>：相同的数据需求（如用户画像）在不同后端重复开发，效率低下。</a:t>
          </a:r>
        </a:p>
      </dsp:txBody>
      <dsp:txXfrm>
        <a:off x="0" y="1683197"/>
        <a:ext cx="3299011" cy="1680733"/>
      </dsp:txXfrm>
    </dsp:sp>
    <dsp:sp modelId="{887857E5-D8ED-4A06-A1F0-0A2AE9FE3C81}">
      <dsp:nvSpPr>
        <dsp:cNvPr id="0" name=""/>
        <dsp:cNvSpPr/>
      </dsp:nvSpPr>
      <dsp:spPr>
        <a:xfrm>
          <a:off x="0" y="3363931"/>
          <a:ext cx="329901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E8D757-9F38-4608-A67B-90C9F6409530}">
      <dsp:nvSpPr>
        <dsp:cNvPr id="0" name=""/>
        <dsp:cNvSpPr/>
      </dsp:nvSpPr>
      <dsp:spPr>
        <a:xfrm>
          <a:off x="0" y="3363931"/>
          <a:ext cx="3299011" cy="1680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200" b="1" kern="1200" dirty="0"/>
            <a:t>创新缓慢</a:t>
          </a:r>
          <a:r>
            <a:rPr lang="zh-CN" sz="2200" kern="1200" dirty="0"/>
            <a:t>：任何新的前端应用（如一个新营销活动页面）都需要后端从头开发接口，响应业务变化慢。</a:t>
          </a:r>
        </a:p>
      </dsp:txBody>
      <dsp:txXfrm>
        <a:off x="0" y="3363931"/>
        <a:ext cx="3299011" cy="16807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862052A-0CF6-47BF-B07D-D99A59C6873C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2025/12/16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F2C8D43-8168-48C8-91A7-63EACBACA74B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10998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88D8A61-D3C5-4906-8B29-32D4B67F744B}" type="datetime1">
              <a:rPr lang="zh-CN" altLang="en-US" smtClean="0"/>
              <a:pPr/>
              <a:t>2025/12/16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603C52C-5E29-41AF-BAA3-8217E886DA08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619617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603C52C-5E29-41AF-BAA3-8217E886DA08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3966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7D9543-8CE9-7561-F6C4-23B81F3A9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E4A869-9EBD-7FEB-9738-111E9997D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C64FBA-7782-7BF7-BD1C-7B0F0351E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3566-D097-4AD0-B293-82DEDCFF41EC}" type="datetime1">
              <a:rPr lang="zh-CN" altLang="en-US" smtClean="0"/>
              <a:pPr/>
              <a:t>2025/12/16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1BA2EC-525F-62B8-8736-E43AF90B4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1C284D-4C07-FC6B-F247-FBE19A306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185051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0310D3-3C8C-7149-81EA-AFAE86167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370284-C655-7F05-059A-130852798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4B4A2B-A498-7F7A-D820-BB768F122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69253-9FB9-455E-9A4B-9FB80A769D47}" type="datetime1">
              <a:rPr lang="zh-CN" altLang="en-US" smtClean="0"/>
              <a:pPr/>
              <a:t>2025/12/16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CE8175-1BDA-1632-809E-576724E1E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F68046-8AF0-E433-7431-2513BC1F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193356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7879D-08A9-8B23-90F4-6EBD5DB16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E996DC-DE2C-6C1B-800F-F367FB1CA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330D60-DF56-5068-6FC1-E48FDA4B7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3A16-0052-455C-B254-2B4047F86CAB}" type="datetime1">
              <a:rPr lang="zh-CN" altLang="en-US" smtClean="0"/>
              <a:pPr/>
              <a:t>2025/12/16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16780B-F7CF-740A-29EE-A3A66CC2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BB6F4B-C4EE-013A-78A5-36BEB86B6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348909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02197-BD56-8AAC-B527-ECC914C84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2843A8-BB50-2551-B170-C80D6D455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65C959-3956-004C-0C07-FC220B92D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C6BF49-F7AB-A85B-D69D-7A5AFE58C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40CF-5EF8-4D8A-92CD-53CDA92CC6F0}" type="datetime1">
              <a:rPr lang="zh-CN" altLang="en-US" smtClean="0"/>
              <a:pPr/>
              <a:t>2025/12/16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0C22C9-2BDC-96D9-785A-BFBD34CDE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DB3870-24E3-E163-0BC9-BE15731CC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889021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68D3CF-2AFF-3D69-62D1-845C696D4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79877F-5F0E-854A-3AAF-4F3306FBF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1E9516-7805-0C0C-2219-0EF2D4317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9790DAF-34B9-D66F-5B91-858A86C30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AF8D6A1-6EE0-885A-DE2C-213142354F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86278D2-11A1-B960-E98A-DC803C632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5F78-AF19-4B8B-81B6-2F586029CB0B}" type="datetime1">
              <a:rPr lang="zh-CN" altLang="en-US" smtClean="0"/>
              <a:pPr/>
              <a:t>2025/12/16</a:t>
            </a:fld>
            <a:endParaRPr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3B953A9-C6B9-87F4-E7A9-984D2CC99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zh-CN" altLang="en-US" noProof="0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24F4BD8-FEDE-994C-6C1A-C8C5FFA82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361883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E7871-A07E-9A2D-8634-AE74A56E5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723C06-5AA4-623C-5A14-F2037626C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387C1-D0E3-4461-BDA8-A7A16350E07B}" type="datetime1">
              <a:rPr lang="zh-CN" altLang="en-US" smtClean="0"/>
              <a:pPr/>
              <a:t>2025/12/16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D8CBBF-7AF0-6255-3399-8F25AA4B1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BE91DA-81AD-9248-6E41-8622080D0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33004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1294AE7-10A1-7A8E-8D64-43C025498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8D79-9E54-417A-8501-E5B620303878}" type="datetime1">
              <a:rPr lang="zh-CN" altLang="en-US" smtClean="0"/>
              <a:pPr/>
              <a:t>2025/12/16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92817E-B6E8-66BF-E762-44FA0CBA2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DB8E8B-5809-DD56-C988-37639FBB6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702733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DF02EE-3554-E166-37CF-6A9BB4317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397316-ABFD-81C7-7516-55289D313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E80484-50F8-80F2-C7BC-9718AE7E3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CD6F45-0178-355D-39AF-CFB02EA7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DC8AF-880A-4A48-8164-9AE051BCF1D7}" type="datetime1">
              <a:rPr lang="zh-CN" altLang="en-US" smtClean="0"/>
              <a:pPr/>
              <a:t>2025/12/16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30E5C8-A081-65FF-E547-12BEFAD5B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0B1067-184E-6304-7CAF-CB095458E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1476016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37BBC-3FA7-1B40-EB07-11476E309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733E84C-9667-0375-C25C-D6113EDBE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208EA6-33AA-1BA6-FD02-18362FE9A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3FA8CB-74B0-285B-C591-94CBE390D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DC8AF-880A-4A48-8164-9AE051BCF1D7}" type="datetime1">
              <a:rPr lang="zh-CN" altLang="en-US" smtClean="0"/>
              <a:pPr/>
              <a:t>2025/12/16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91E9D7-47C3-20F2-D412-86FA9596D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E690FC-489A-0B4F-E7BF-C85E3BE5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68266844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7D4683-6986-A7C7-C1EE-DAE9FE16D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B84E38F-C988-B897-15DE-23F33D038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E7B454-4D1C-86CC-AA73-535D7A8DF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6BA69-15F9-465F-A9BD-25C27216351E}" type="datetime1">
              <a:rPr lang="zh-CN" altLang="en-US" smtClean="0"/>
              <a:pPr/>
              <a:t>2025/12/16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98E718-F512-3BCF-1696-76B273103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E6B8E2-58D2-4C7F-E27F-F140FDEA1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98590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3F6F650-0F25-E7EF-DE01-2320A74968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CA4085-0403-1ACA-00EE-A126116CF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D9239E-B00C-7DE2-A2E3-5E256B4CB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DC8AF-880A-4A48-8164-9AE051BCF1D7}" type="datetime1">
              <a:rPr lang="zh-CN" altLang="en-US" smtClean="0"/>
              <a:pPr/>
              <a:t>2025/12/16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DB41F2-806D-B54F-082D-8E154F757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97BAAC-A893-89F1-9605-473632C1A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33952323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73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1049574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104957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65680-27B8-4249-B567-AF480F6BDA05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104957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04957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5365-421B-C145-9DFA-18FE31451A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8917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8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104958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04958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65680-27B8-4249-B567-AF480F6BDA05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104959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04959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5365-421B-C145-9DFA-18FE31451A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2158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03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1049604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04960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65680-27B8-4249-B567-AF480F6BDA05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104960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04960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5365-421B-C145-9DFA-18FE31451A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39367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0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1049609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049610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04961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65680-27B8-4249-B567-AF480F6BDA05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104961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04961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5365-421B-C145-9DFA-18FE31451A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4950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1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1049615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049616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049617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049618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049619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65680-27B8-4249-B567-AF480F6BDA05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1049620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049621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5365-421B-C145-9DFA-18FE31451A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86483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104957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65680-27B8-4249-B567-AF480F6BDA05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104958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04958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5365-421B-C145-9DFA-18FE31451A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87944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2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65680-27B8-4249-B567-AF480F6BDA05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104962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04962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5365-421B-C145-9DFA-18FE31451A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38180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25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1049626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049627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04962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65680-27B8-4249-B567-AF480F6BDA05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104962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04963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5365-421B-C145-9DFA-18FE31451A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82670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9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104959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104959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04959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65680-27B8-4249-B567-AF480F6BDA05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104959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04959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5365-421B-C145-9DFA-18FE31451A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01704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1049599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04960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65680-27B8-4249-B567-AF480F6BDA05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104960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04960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5365-421B-C145-9DFA-18FE31451A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20741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8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104958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04958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65680-27B8-4249-B567-AF480F6BDA05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104958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04958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5365-421B-C145-9DFA-18FE31451A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15999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7"/>
          <p:cNvPicPr>
            <a:picLocks noChangeAspect="1" noChangeArrowheads="1"/>
          </p:cNvPicPr>
          <p:nvPr userDrawn="1"/>
        </p:nvPicPr>
        <p:blipFill>
          <a:blip r:embed="rId2" cstate="hq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145728" name="直接连接符 7"/>
          <p:cNvCxnSpPr/>
          <p:nvPr userDrawn="1"/>
        </p:nvCxnSpPr>
        <p:spPr>
          <a:xfrm>
            <a:off x="315912" y="1141412"/>
            <a:ext cx="11503025" cy="0"/>
          </a:xfrm>
          <a:prstGeom prst="line">
            <a:avLst/>
          </a:prstGeom>
          <a:noFill/>
          <a:ln w="6350" cap="flat" cmpd="sng">
            <a:solidFill>
              <a:srgbClr val="006666">
                <a:alpha val="100000"/>
              </a:srgbClr>
            </a:solidFill>
            <a:prstDash val="solid"/>
            <a:round/>
          </a:ln>
        </p:spPr>
      </p:cxnSp>
      <p:pic>
        <p:nvPicPr>
          <p:cNvPr id="2097152" name="图片 9" descr="eb6241d2be408162c44e44b6ccdfb61"/>
          <p:cNvPicPr/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8702675" y="134937"/>
            <a:ext cx="3255962" cy="8556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1" name="矩形 7"/>
          <p:cNvSpPr/>
          <p:nvPr userDrawn="1"/>
        </p:nvSpPr>
        <p:spPr>
          <a:xfrm>
            <a:off x="231775" y="1122362"/>
            <a:ext cx="11750675" cy="119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</a:lstStyle>
          <a:p>
            <a:pPr lvl="0" algn="ctr" eaLnBrk="1" latin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097153" name="Picture 1"/>
          <p:cNvPicPr/>
          <p:nvPr userDrawn="1"/>
        </p:nvPicPr>
        <p:blipFill>
          <a:blip r:embed="rId4"/>
          <a:srcRect/>
          <a:stretch>
            <a:fillRect/>
          </a:stretch>
        </p:blipFill>
        <p:spPr>
          <a:xfrm>
            <a:off x="8664575" y="14287"/>
            <a:ext cx="3302000" cy="108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4" name="Picture 1"/>
          <p:cNvPicPr/>
          <p:nvPr userDrawn="1"/>
        </p:nvPicPr>
        <p:blipFill>
          <a:blip r:embed="rId5"/>
          <a:srcRect/>
          <a:stretch>
            <a:fillRect/>
          </a:stretch>
        </p:blipFill>
        <p:spPr>
          <a:xfrm>
            <a:off x="7842250" y="0"/>
            <a:ext cx="4098925" cy="11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</a:lstStyle>
          <a:p>
            <a:pPr lvl="0" eaLnBrk="1" latinLnBrk="1" hangingPunct="1"/>
            <a:fld id="{566ABCEB-ACFC-4714-9973-3DA970169C29}" type="datetime1">
              <a:rPr lang="zh-CN" altLang="en-US" sz="1200">
                <a:solidFill>
                  <a:srgbClr val="898989"/>
                </a:solidFill>
              </a:rPr>
              <a:t>2025/12/16</a:t>
            </a:fld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104858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</a:lstStyle>
          <a:p>
            <a:pPr lvl="0" algn="ctr" eaLnBrk="1" latinLnBrk="1" hangingPunct="1"/>
            <a:endParaRPr lang="zh-CN" altLang="en-US" sz="1200" b="1" i="1">
              <a:solidFill>
                <a:srgbClr val="898989"/>
              </a:solidFill>
            </a:endParaRPr>
          </a:p>
        </p:txBody>
      </p:sp>
      <p:sp>
        <p:nvSpPr>
          <p:cNvPr id="104858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61488" y="64785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</a:lstStyle>
          <a:p>
            <a:pPr lvl="0" algn="r" eaLnBrk="1" latinLnBrk="1" hangingPunct="1"/>
            <a:fld id="{566ABCEB-ACFC-4714-9973-3DA970169C29}" type="slidenum">
              <a:rPr lang="zh-CN" altLang="en-US" sz="1400" b="1" i="1">
                <a:solidFill>
                  <a:srgbClr val="008080"/>
                </a:solidFill>
              </a:rPr>
              <a:t>‹#›</a:t>
            </a:fld>
            <a:endParaRPr lang="zh-CN" altLang="en-US" sz="1400" b="1" i="1">
              <a:solidFill>
                <a:srgbClr val="0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2955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7"/>
          <p:cNvPicPr>
            <a:picLocks noChangeAspect="1" noChangeArrowheads="1"/>
          </p:cNvPicPr>
          <p:nvPr userDrawn="1"/>
        </p:nvPicPr>
        <p:blipFill>
          <a:blip r:embed="rId2" cstate="hq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145737" name="直接连接符 7"/>
          <p:cNvCxnSpPr/>
          <p:nvPr userDrawn="1"/>
        </p:nvCxnSpPr>
        <p:spPr>
          <a:xfrm>
            <a:off x="315912" y="1141412"/>
            <a:ext cx="11503025" cy="0"/>
          </a:xfrm>
          <a:prstGeom prst="line">
            <a:avLst/>
          </a:prstGeom>
          <a:noFill/>
          <a:ln w="6350" cap="flat" cmpd="sng">
            <a:solidFill>
              <a:srgbClr val="006666">
                <a:alpha val="100000"/>
              </a:srgbClr>
            </a:solidFill>
            <a:prstDash val="solid"/>
            <a:round/>
          </a:ln>
        </p:spPr>
      </p:cxnSp>
      <p:pic>
        <p:nvPicPr>
          <p:cNvPr id="2097170" name="图片 9" descr="eb6241d2be408162c44e44b6ccdfb61"/>
          <p:cNvPicPr/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8702675" y="134937"/>
            <a:ext cx="3255962" cy="8556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762" name="矩形 7"/>
          <p:cNvSpPr/>
          <p:nvPr userDrawn="1"/>
        </p:nvSpPr>
        <p:spPr>
          <a:xfrm>
            <a:off x="231775" y="1122362"/>
            <a:ext cx="11750675" cy="119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</a:lstStyle>
          <a:p>
            <a:pPr lvl="0" algn="ctr" eaLnBrk="1" latin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097171" name="Picture 1"/>
          <p:cNvPicPr/>
          <p:nvPr userDrawn="1"/>
        </p:nvPicPr>
        <p:blipFill>
          <a:blip r:embed="rId4"/>
          <a:srcRect/>
          <a:stretch>
            <a:fillRect/>
          </a:stretch>
        </p:blipFill>
        <p:spPr>
          <a:xfrm>
            <a:off x="8664575" y="14287"/>
            <a:ext cx="3302000" cy="108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2" name="Picture 1"/>
          <p:cNvPicPr/>
          <p:nvPr userDrawn="1"/>
        </p:nvPicPr>
        <p:blipFill>
          <a:blip r:embed="rId5"/>
          <a:srcRect/>
          <a:stretch>
            <a:fillRect/>
          </a:stretch>
        </p:blipFill>
        <p:spPr>
          <a:xfrm>
            <a:off x="7842250" y="0"/>
            <a:ext cx="4098925" cy="11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765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</a:lstStyle>
          <a:p>
            <a:pPr lvl="0" eaLnBrk="1" latinLnBrk="1" hangingPunct="1"/>
            <a:fld id="{566ABCEB-ACFC-4714-9973-3DA970169C29}" type="datetime1">
              <a:rPr lang="zh-CN" altLang="en-US" sz="1200">
                <a:solidFill>
                  <a:srgbClr val="898989"/>
                </a:solidFill>
              </a:rPr>
              <a:t>2025/12/16</a:t>
            </a:fld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104876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</a:lstStyle>
          <a:p>
            <a:pPr lvl="0" algn="ctr" eaLnBrk="1" latinLnBrk="1" hangingPunct="1"/>
            <a:endParaRPr lang="zh-CN" altLang="en-US" sz="1200" b="1" i="1">
              <a:solidFill>
                <a:srgbClr val="898989"/>
              </a:solidFill>
            </a:endParaRPr>
          </a:p>
        </p:txBody>
      </p:sp>
      <p:sp>
        <p:nvSpPr>
          <p:cNvPr id="104876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61488" y="64785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</a:lstStyle>
          <a:p>
            <a:pPr lvl="0" algn="r" eaLnBrk="1" latinLnBrk="1" hangingPunct="1"/>
            <a:fld id="{566ABCEB-ACFC-4714-9973-3DA970169C29}" type="slidenum">
              <a:rPr lang="zh-CN" altLang="en-US" sz="1400" b="1" i="1">
                <a:solidFill>
                  <a:srgbClr val="008080"/>
                </a:solidFill>
              </a:rPr>
              <a:t>‹#›</a:t>
            </a:fld>
            <a:endParaRPr lang="zh-CN" altLang="en-US" sz="1400" b="1" i="1">
              <a:solidFill>
                <a:srgbClr val="0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814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04A8150-029B-2D3D-EA14-29B9B067D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B2428D-3FF4-AB04-770A-7C8A05F11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410203-197D-C7FB-03BB-7FF319E78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DC8AF-880A-4A48-8164-9AE051BCF1D7}" type="datetime1">
              <a:rPr lang="zh-CN" altLang="en-US" smtClean="0"/>
              <a:pPr/>
              <a:t>2025/12/16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AE195D-BDE8-6075-B6B3-3A2125AD12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ABF2E6-893E-C273-C2A9-529A04C64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2F896-40B5-4ADD-8801-0D06FADFA095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78099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7"/>
          <p:cNvPicPr>
            <a:picLocks noChangeAspect="1" noChangeArrowheads="1"/>
          </p:cNvPicPr>
          <p:nvPr userDrawn="1"/>
        </p:nvPicPr>
        <p:blipFill>
          <a:blip r:embed="rId15" cstate="hq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65680-27B8-4249-B567-AF480F6BDA05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65365-421B-C145-9DFA-18FE31451A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1969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image" Target="../media/image8.png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image" Target="../media/image7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7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6.xml"/><Relationship Id="rId9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9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9.xml"/><Relationship Id="rId4" Type="http://schemas.openxmlformats.org/officeDocument/2006/relationships/tags" Target="../tags/tag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tags" Target="../tags/tag25.xml"/><Relationship Id="rId7" Type="http://schemas.openxmlformats.org/officeDocument/2006/relationships/diagramData" Target="../diagrams/data1.xml"/><Relationship Id="rId12" Type="http://schemas.openxmlformats.org/officeDocument/2006/relationships/image" Target="../media/image10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slideLayout" Target="../slideLayouts/slideLayout2.xml"/><Relationship Id="rId11" Type="http://schemas.microsoft.com/office/2007/relationships/diagramDrawing" Target="../diagrams/drawing1.xml"/><Relationship Id="rId5" Type="http://schemas.openxmlformats.org/officeDocument/2006/relationships/tags" Target="../tags/tag27.xml"/><Relationship Id="rId10" Type="http://schemas.openxmlformats.org/officeDocument/2006/relationships/diagramColors" Target="../diagrams/colors1.xml"/><Relationship Id="rId4" Type="http://schemas.openxmlformats.org/officeDocument/2006/relationships/tags" Target="../tags/tag26.xml"/><Relationship Id="rId9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tags" Target="../tags/tag53.xml"/><Relationship Id="rId21" Type="http://schemas.openxmlformats.org/officeDocument/2006/relationships/tags" Target="../tags/tag48.xml"/><Relationship Id="rId42" Type="http://schemas.openxmlformats.org/officeDocument/2006/relationships/tags" Target="../tags/tag69.xml"/><Relationship Id="rId47" Type="http://schemas.openxmlformats.org/officeDocument/2006/relationships/tags" Target="../tags/tag74.xml"/><Relationship Id="rId63" Type="http://schemas.openxmlformats.org/officeDocument/2006/relationships/tags" Target="../tags/tag90.xml"/><Relationship Id="rId68" Type="http://schemas.openxmlformats.org/officeDocument/2006/relationships/tags" Target="../tags/tag95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6" Type="http://schemas.openxmlformats.org/officeDocument/2006/relationships/tags" Target="../tags/tag43.xml"/><Relationship Id="rId29" Type="http://schemas.openxmlformats.org/officeDocument/2006/relationships/tags" Target="../tags/tag56.xml"/><Relationship Id="rId11" Type="http://schemas.openxmlformats.org/officeDocument/2006/relationships/tags" Target="../tags/tag38.xml"/><Relationship Id="rId24" Type="http://schemas.openxmlformats.org/officeDocument/2006/relationships/tags" Target="../tags/tag51.xml"/><Relationship Id="rId32" Type="http://schemas.openxmlformats.org/officeDocument/2006/relationships/tags" Target="../tags/tag59.xml"/><Relationship Id="rId37" Type="http://schemas.openxmlformats.org/officeDocument/2006/relationships/tags" Target="../tags/tag64.xml"/><Relationship Id="rId40" Type="http://schemas.openxmlformats.org/officeDocument/2006/relationships/tags" Target="../tags/tag67.xml"/><Relationship Id="rId45" Type="http://schemas.openxmlformats.org/officeDocument/2006/relationships/tags" Target="../tags/tag72.xml"/><Relationship Id="rId53" Type="http://schemas.openxmlformats.org/officeDocument/2006/relationships/tags" Target="../tags/tag80.xml"/><Relationship Id="rId58" Type="http://schemas.openxmlformats.org/officeDocument/2006/relationships/tags" Target="../tags/tag85.xml"/><Relationship Id="rId66" Type="http://schemas.openxmlformats.org/officeDocument/2006/relationships/tags" Target="../tags/tag93.xml"/><Relationship Id="rId5" Type="http://schemas.openxmlformats.org/officeDocument/2006/relationships/tags" Target="../tags/tag32.xml"/><Relationship Id="rId61" Type="http://schemas.openxmlformats.org/officeDocument/2006/relationships/tags" Target="../tags/tag88.xml"/><Relationship Id="rId19" Type="http://schemas.openxmlformats.org/officeDocument/2006/relationships/tags" Target="../tags/tag46.xml"/><Relationship Id="rId14" Type="http://schemas.openxmlformats.org/officeDocument/2006/relationships/tags" Target="../tags/tag41.xml"/><Relationship Id="rId22" Type="http://schemas.openxmlformats.org/officeDocument/2006/relationships/tags" Target="../tags/tag49.xml"/><Relationship Id="rId27" Type="http://schemas.openxmlformats.org/officeDocument/2006/relationships/tags" Target="../tags/tag54.xml"/><Relationship Id="rId30" Type="http://schemas.openxmlformats.org/officeDocument/2006/relationships/tags" Target="../tags/tag57.xml"/><Relationship Id="rId35" Type="http://schemas.openxmlformats.org/officeDocument/2006/relationships/tags" Target="../tags/tag62.xml"/><Relationship Id="rId43" Type="http://schemas.openxmlformats.org/officeDocument/2006/relationships/tags" Target="../tags/tag70.xml"/><Relationship Id="rId48" Type="http://schemas.openxmlformats.org/officeDocument/2006/relationships/tags" Target="../tags/tag75.xml"/><Relationship Id="rId56" Type="http://schemas.openxmlformats.org/officeDocument/2006/relationships/tags" Target="../tags/tag83.xml"/><Relationship Id="rId64" Type="http://schemas.openxmlformats.org/officeDocument/2006/relationships/tags" Target="../tags/tag91.xml"/><Relationship Id="rId69" Type="http://schemas.openxmlformats.org/officeDocument/2006/relationships/slideLayout" Target="../slideLayouts/slideLayout2.xml"/><Relationship Id="rId8" Type="http://schemas.openxmlformats.org/officeDocument/2006/relationships/tags" Target="../tags/tag35.xml"/><Relationship Id="rId51" Type="http://schemas.openxmlformats.org/officeDocument/2006/relationships/tags" Target="../tags/tag78.xml"/><Relationship Id="rId3" Type="http://schemas.openxmlformats.org/officeDocument/2006/relationships/tags" Target="../tags/tag30.xml"/><Relationship Id="rId12" Type="http://schemas.openxmlformats.org/officeDocument/2006/relationships/tags" Target="../tags/tag39.xml"/><Relationship Id="rId17" Type="http://schemas.openxmlformats.org/officeDocument/2006/relationships/tags" Target="../tags/tag44.xml"/><Relationship Id="rId25" Type="http://schemas.openxmlformats.org/officeDocument/2006/relationships/tags" Target="../tags/tag52.xml"/><Relationship Id="rId33" Type="http://schemas.openxmlformats.org/officeDocument/2006/relationships/tags" Target="../tags/tag60.xml"/><Relationship Id="rId38" Type="http://schemas.openxmlformats.org/officeDocument/2006/relationships/tags" Target="../tags/tag65.xml"/><Relationship Id="rId46" Type="http://schemas.openxmlformats.org/officeDocument/2006/relationships/tags" Target="../tags/tag73.xml"/><Relationship Id="rId59" Type="http://schemas.openxmlformats.org/officeDocument/2006/relationships/tags" Target="../tags/tag86.xml"/><Relationship Id="rId67" Type="http://schemas.openxmlformats.org/officeDocument/2006/relationships/tags" Target="../tags/tag94.xml"/><Relationship Id="rId20" Type="http://schemas.openxmlformats.org/officeDocument/2006/relationships/tags" Target="../tags/tag47.xml"/><Relationship Id="rId41" Type="http://schemas.openxmlformats.org/officeDocument/2006/relationships/tags" Target="../tags/tag68.xml"/><Relationship Id="rId54" Type="http://schemas.openxmlformats.org/officeDocument/2006/relationships/tags" Target="../tags/tag81.xml"/><Relationship Id="rId62" Type="http://schemas.openxmlformats.org/officeDocument/2006/relationships/tags" Target="../tags/tag8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5" Type="http://schemas.openxmlformats.org/officeDocument/2006/relationships/tags" Target="../tags/tag42.xml"/><Relationship Id="rId23" Type="http://schemas.openxmlformats.org/officeDocument/2006/relationships/tags" Target="../tags/tag50.xml"/><Relationship Id="rId28" Type="http://schemas.openxmlformats.org/officeDocument/2006/relationships/tags" Target="../tags/tag55.xml"/><Relationship Id="rId36" Type="http://schemas.openxmlformats.org/officeDocument/2006/relationships/tags" Target="../tags/tag63.xml"/><Relationship Id="rId49" Type="http://schemas.openxmlformats.org/officeDocument/2006/relationships/tags" Target="../tags/tag76.xml"/><Relationship Id="rId57" Type="http://schemas.openxmlformats.org/officeDocument/2006/relationships/tags" Target="../tags/tag84.xml"/><Relationship Id="rId10" Type="http://schemas.openxmlformats.org/officeDocument/2006/relationships/tags" Target="../tags/tag37.xml"/><Relationship Id="rId31" Type="http://schemas.openxmlformats.org/officeDocument/2006/relationships/tags" Target="../tags/tag58.xml"/><Relationship Id="rId44" Type="http://schemas.openxmlformats.org/officeDocument/2006/relationships/tags" Target="../tags/tag71.xml"/><Relationship Id="rId52" Type="http://schemas.openxmlformats.org/officeDocument/2006/relationships/tags" Target="../tags/tag79.xml"/><Relationship Id="rId60" Type="http://schemas.openxmlformats.org/officeDocument/2006/relationships/tags" Target="../tags/tag87.xml"/><Relationship Id="rId65" Type="http://schemas.openxmlformats.org/officeDocument/2006/relationships/tags" Target="../tags/tag92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3" Type="http://schemas.openxmlformats.org/officeDocument/2006/relationships/tags" Target="../tags/tag40.xml"/><Relationship Id="rId18" Type="http://schemas.openxmlformats.org/officeDocument/2006/relationships/tags" Target="../tags/tag45.xml"/><Relationship Id="rId39" Type="http://schemas.openxmlformats.org/officeDocument/2006/relationships/tags" Target="../tags/tag66.xml"/><Relationship Id="rId34" Type="http://schemas.openxmlformats.org/officeDocument/2006/relationships/tags" Target="../tags/tag61.xml"/><Relationship Id="rId50" Type="http://schemas.openxmlformats.org/officeDocument/2006/relationships/tags" Target="../tags/tag77.xml"/><Relationship Id="rId55" Type="http://schemas.openxmlformats.org/officeDocument/2006/relationships/tags" Target="../tags/tag8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tags" Target="../tags/tag98.xml"/><Relationship Id="rId7" Type="http://schemas.openxmlformats.org/officeDocument/2006/relationships/diagramData" Target="../diagrams/data2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slideLayout" Target="../slideLayouts/slideLayout2.xml"/><Relationship Id="rId11" Type="http://schemas.microsoft.com/office/2007/relationships/diagramDrawing" Target="../diagrams/drawing2.xml"/><Relationship Id="rId5" Type="http://schemas.openxmlformats.org/officeDocument/2006/relationships/tags" Target="../tags/tag100.xml"/><Relationship Id="rId10" Type="http://schemas.openxmlformats.org/officeDocument/2006/relationships/diagramColors" Target="../diagrams/colors2.xml"/><Relationship Id="rId4" Type="http://schemas.openxmlformats.org/officeDocument/2006/relationships/tags" Target="../tags/tag99.xml"/><Relationship Id="rId9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7" Type="http://schemas.openxmlformats.org/officeDocument/2006/relationships/image" Target="../media/image11.png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5.xml"/><Relationship Id="rId4" Type="http://schemas.openxmlformats.org/officeDocument/2006/relationships/tags" Target="../tags/tag10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7" Type="http://schemas.openxmlformats.org/officeDocument/2006/relationships/image" Target="../media/image11.png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0.xml"/><Relationship Id="rId4" Type="http://schemas.openxmlformats.org/officeDocument/2006/relationships/tags" Target="../tags/tag10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8.xml"/><Relationship Id="rId4" Type="http://schemas.openxmlformats.org/officeDocument/2006/relationships/tags" Target="../tags/tag11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jpg"/><Relationship Id="rId18" Type="http://schemas.openxmlformats.org/officeDocument/2006/relationships/image" Target="../media/image23.svg"/><Relationship Id="rId3" Type="http://schemas.openxmlformats.org/officeDocument/2006/relationships/tags" Target="../tags/tag121.xml"/><Relationship Id="rId7" Type="http://schemas.openxmlformats.org/officeDocument/2006/relationships/image" Target="../media/image12.jpg"/><Relationship Id="rId12" Type="http://schemas.openxmlformats.org/officeDocument/2006/relationships/image" Target="../media/image17.jpg"/><Relationship Id="rId17" Type="http://schemas.openxmlformats.org/officeDocument/2006/relationships/image" Target="../media/image22.png"/><Relationship Id="rId2" Type="http://schemas.openxmlformats.org/officeDocument/2006/relationships/tags" Target="../tags/tag120.xml"/><Relationship Id="rId16" Type="http://schemas.openxmlformats.org/officeDocument/2006/relationships/image" Target="../media/image21.png"/><Relationship Id="rId1" Type="http://schemas.openxmlformats.org/officeDocument/2006/relationships/tags" Target="../tags/tag119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6.png"/><Relationship Id="rId5" Type="http://schemas.openxmlformats.org/officeDocument/2006/relationships/tags" Target="../tags/tag123.xml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tags" Target="../tags/tag122.xml"/><Relationship Id="rId9" Type="http://schemas.openxmlformats.org/officeDocument/2006/relationships/image" Target="../media/image14.png"/><Relationship Id="rId1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26.xml"/><Relationship Id="rId7" Type="http://schemas.openxmlformats.org/officeDocument/2006/relationships/image" Target="../media/image25.png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8.xml"/><Relationship Id="rId4" Type="http://schemas.openxmlformats.org/officeDocument/2006/relationships/tags" Target="../tags/tag1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图片 8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-54872"/>
            <a:ext cx="12398375" cy="501777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5" name="矩形 1"/>
          <p:cNvSpPr/>
          <p:nvPr/>
        </p:nvSpPr>
        <p:spPr>
          <a:xfrm>
            <a:off x="-29666" y="4276854"/>
            <a:ext cx="12427854" cy="258114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586" name="TextBox 205"/>
          <p:cNvSpPr txBox="1"/>
          <p:nvPr>
            <p:custDataLst>
              <p:tags r:id="rId2"/>
            </p:custDataLst>
          </p:nvPr>
        </p:nvSpPr>
        <p:spPr>
          <a:xfrm>
            <a:off x="1362601" y="1958354"/>
            <a:ext cx="9880991" cy="1537853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4000" b="1" i="0" u="none" strike="noStrike" kern="800" cap="none" spc="230" normalizeH="0" baseline="0" noProof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ITADN</a:t>
            </a:r>
            <a:r>
              <a:rPr kumimoji="0" lang="zh-CN" altLang="en-US" sz="4000" b="1" i="0" u="none" strike="noStrike" kern="800" cap="none" spc="230" normalizeH="0" baseline="0" noProof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技术社区</a:t>
            </a:r>
            <a:endParaRPr kumimoji="0" lang="en-US" altLang="zh-CN" sz="4000" b="1" i="0" u="none" strike="noStrike" kern="800" cap="none" spc="230" normalizeH="0" baseline="0" noProof="1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4000" kern="800" spc="230" noProof="1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</a:t>
            </a:r>
            <a:r>
              <a:rPr kumimoji="0" lang="zh-CN" altLang="en-US" sz="4000" b="1" i="0" u="none" strike="noStrike" kern="800" cap="none" spc="230" normalizeH="0" baseline="0" noProof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架构</a:t>
            </a:r>
          </a:p>
        </p:txBody>
      </p:sp>
      <p:sp>
        <p:nvSpPr>
          <p:cNvPr id="1048588" name="矩形 5"/>
          <p:cNvSpPr/>
          <p:nvPr/>
        </p:nvSpPr>
        <p:spPr>
          <a:xfrm>
            <a:off x="0" y="4033704"/>
            <a:ext cx="12398187" cy="15075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207055" y="5628592"/>
            <a:ext cx="7777889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黑体" panose="02010609060101010101" pitchFamily="49" charset="-122"/>
              </a:rPr>
              <a:t>济南大学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黑体" panose="02010609060101010101" pitchFamily="49" charset="-122"/>
              </a:rPr>
              <a:t>·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黑体" panose="02010609060101010101" pitchFamily="49" charset="-122"/>
              </a:rPr>
              <a:t>自动化学院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9666CBA-DCB0-AF22-D48B-BABD0D1B70B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576" t="7577" r="27424" b="7575"/>
          <a:stretch>
            <a:fillRect/>
          </a:stretch>
        </p:blipFill>
        <p:spPr>
          <a:xfrm>
            <a:off x="10893136" y="135113"/>
            <a:ext cx="1298864" cy="128574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6929465-AB26-FFA4-4148-984D7868D0B6}"/>
              </a:ext>
            </a:extLst>
          </p:cNvPr>
          <p:cNvSpPr/>
          <p:nvPr/>
        </p:nvSpPr>
        <p:spPr>
          <a:xfrm>
            <a:off x="2643793" y="4669882"/>
            <a:ext cx="728604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黑体" panose="02010609060101010101" pitchFamily="49" charset="-122"/>
              </a:rPr>
              <a:t>丁瑞杨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黑体" panose="02010609060101010101" pitchFamily="49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黑体" panose="02010609060101010101" pitchFamily="49" charset="-122"/>
              </a:rPr>
              <a:t>2025.12.17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710A8933-BA24-D745-DF43-C6CFA9964D53}"/>
              </a:ext>
            </a:extLst>
          </p:cNvPr>
          <p:cNvGrpSpPr/>
          <p:nvPr/>
        </p:nvGrpSpPr>
        <p:grpSpPr>
          <a:xfrm>
            <a:off x="581453" y="50787"/>
            <a:ext cx="11029093" cy="467995"/>
            <a:chOff x="713" y="367"/>
            <a:chExt cx="11412" cy="737"/>
          </a:xfrm>
        </p:grpSpPr>
        <p:sp>
          <p:nvSpPr>
            <p:cNvPr id="7" name="燕尾形 30">
              <a:extLst>
                <a:ext uri="{FF2B5EF4-FFF2-40B4-BE49-F238E27FC236}">
                  <a16:creationId xmlns:a16="http://schemas.microsoft.com/office/drawing/2014/main" id="{C31D7DBD-BD1F-D77F-26F8-F342620A63A2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0800000">
              <a:off x="1443" y="367"/>
              <a:ext cx="2907" cy="737"/>
            </a:xfrm>
            <a:prstGeom prst="chevron">
              <a:avLst>
                <a:gd name="adj" fmla="val 3708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" name="燕尾形 30">
              <a:extLst>
                <a:ext uri="{FF2B5EF4-FFF2-40B4-BE49-F238E27FC236}">
                  <a16:creationId xmlns:a16="http://schemas.microsoft.com/office/drawing/2014/main" id="{A2344374-D559-6B37-F7EC-CAF0D3EBB73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 rot="10800000" flipH="1">
              <a:off x="3422" y="367"/>
              <a:ext cx="8703" cy="737"/>
            </a:xfrm>
            <a:prstGeom prst="chevron">
              <a:avLst>
                <a:gd name="adj" fmla="val 3708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7">
              <a:extLst>
                <a:ext uri="{FF2B5EF4-FFF2-40B4-BE49-F238E27FC236}">
                  <a16:creationId xmlns:a16="http://schemas.microsoft.com/office/drawing/2014/main" id="{909112D5-00FE-8CBC-322D-E7F0733D23E0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1656" y="367"/>
              <a:ext cx="10184" cy="72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anchor="t">
              <a:spAutoFit/>
            </a:bodyPr>
            <a:lstStyle>
              <a:lvl1pPr marL="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1pPr>
              <a:lvl2pPr marL="4572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2pPr>
              <a:lvl3pPr marL="9144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3pPr>
              <a:lvl4pPr marL="13716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4pPr>
              <a:lvl5pPr marL="18288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5pPr>
            </a:lstStyle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综合概述</a:t>
              </a:r>
            </a:p>
          </p:txBody>
        </p:sp>
        <p:sp>
          <p:nvSpPr>
            <p:cNvPr id="13" name="任意多边形: 形状 9">
              <a:extLst>
                <a:ext uri="{FF2B5EF4-FFF2-40B4-BE49-F238E27FC236}">
                  <a16:creationId xmlns:a16="http://schemas.microsoft.com/office/drawing/2014/main" id="{21AA1D78-9CC6-E054-B3B0-E1EB30C96F75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 rot="10800000">
              <a:off x="107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4" name="任意多边形: 形状 10">
              <a:extLst>
                <a:ext uri="{FF2B5EF4-FFF2-40B4-BE49-F238E27FC236}">
                  <a16:creationId xmlns:a16="http://schemas.microsoft.com/office/drawing/2014/main" id="{0D1F479E-8827-CB79-DA50-B168BD2CA145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 rot="10800000">
              <a:off x="71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741D86E-6950-DA01-CD05-EE403DAF20B9}"/>
              </a:ext>
            </a:extLst>
          </p:cNvPr>
          <p:cNvGrpSpPr/>
          <p:nvPr/>
        </p:nvGrpSpPr>
        <p:grpSpPr>
          <a:xfrm>
            <a:off x="6096000" y="777242"/>
            <a:ext cx="5941423" cy="1849418"/>
            <a:chOff x="6096000" y="777240"/>
            <a:chExt cx="5941423" cy="2436223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365FC95-D00F-3781-677D-C330F25C18D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426925" y="777240"/>
              <a:ext cx="5610497" cy="2436223"/>
            </a:xfrm>
            <a:prstGeom prst="rect">
              <a:avLst/>
            </a:prstGeom>
            <a:noFill/>
            <a:ln w="25400">
              <a:solidFill>
                <a:schemeClr val="accent1"/>
              </a:solidFill>
              <a:prstDash val="lg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Ins="179705" bIns="144145">
              <a:noAutofit/>
            </a:bodyPr>
            <a:lstStyle/>
            <a:p>
              <a:pPr algn="l">
                <a:lnSpc>
                  <a:spcPct val="150000"/>
                </a:lnSpc>
              </a:pPr>
              <a:endPara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222A1635-9E4A-7559-39AE-7C77932D446D}"/>
                </a:ext>
              </a:extLst>
            </p:cNvPr>
            <p:cNvSpPr txBox="1"/>
            <p:nvPr/>
          </p:nvSpPr>
          <p:spPr>
            <a:xfrm>
              <a:off x="6096000" y="777240"/>
              <a:ext cx="5941423" cy="23580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35000"/>
                </a:lnSpc>
                <a:spcBef>
                  <a:spcPts val="1800"/>
                </a:spcBef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随着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AIGC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技术的快速兴起，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ITADN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面临深刻的价值挑战：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UGC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的质量与规模难以满足指数级增长的信息需求，人工运营模式在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推送精准度与转化效率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上存在瓶颈，后端系统也难以支撑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高并发、高实时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的交互体验。这一背景下，我们以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TJU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训练方法的自研大语言模型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为引擎，通过基于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ITADN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技术社区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1.5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亿数据实现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AIGC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高质量内容生成、分发。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26" name="Picture 2" descr="2025年AIGC行业深度研究：多模态大模型与商业应用全解析！_aigc商业应用-CSDN博客">
            <a:extLst>
              <a:ext uri="{FF2B5EF4-FFF2-40B4-BE49-F238E27FC236}">
                <a16:creationId xmlns:a16="http://schemas.microsoft.com/office/drawing/2014/main" id="{8FF7A620-4C74-3EF9-CE9E-372F40A0A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38" y="729860"/>
            <a:ext cx="5546902" cy="3497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74ECD06A-2492-DD08-765A-02EC0438F91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30904" y="4198170"/>
            <a:ext cx="443801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AIGC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市场规模预估图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2D8A1CB-D302-67E3-8B61-C7BDFA38DF94}"/>
              </a:ext>
            </a:extLst>
          </p:cNvPr>
          <p:cNvGrpSpPr/>
          <p:nvPr/>
        </p:nvGrpSpPr>
        <p:grpSpPr>
          <a:xfrm>
            <a:off x="259178" y="5002670"/>
            <a:ext cx="6167747" cy="1027070"/>
            <a:chOff x="6146004" y="757278"/>
            <a:chExt cx="5891418" cy="2068314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33231B0-528B-296D-3EAB-9DC313ABF9AB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426925" y="790675"/>
              <a:ext cx="5610497" cy="2034917"/>
            </a:xfrm>
            <a:prstGeom prst="rect">
              <a:avLst/>
            </a:prstGeom>
            <a:noFill/>
            <a:ln w="25400">
              <a:solidFill>
                <a:schemeClr val="accent1"/>
              </a:solidFill>
              <a:prstDash val="lg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Ins="179705" bIns="144145">
              <a:noAutofit/>
            </a:bodyPr>
            <a:lstStyle/>
            <a:p>
              <a:pPr algn="l">
                <a:lnSpc>
                  <a:spcPct val="150000"/>
                </a:lnSpc>
              </a:pPr>
              <a:endPara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78385722-8D89-783B-13E1-A8A11F39328C}"/>
                </a:ext>
              </a:extLst>
            </p:cNvPr>
            <p:cNvSpPr txBox="1"/>
            <p:nvPr/>
          </p:nvSpPr>
          <p:spPr>
            <a:xfrm>
              <a:off x="6146004" y="757278"/>
              <a:ext cx="5879035" cy="2010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45000"/>
                </a:lnSpc>
                <a:spcBef>
                  <a:spcPts val="1800"/>
                </a:spcBef>
                <a:buFont typeface="Wingdings" panose="05000000000000000000" pitchFamily="2" charset="2"/>
                <a:buChar char="Ø"/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ITADN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的技术架构以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数据中台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为核心，解耦并构建智能驱动的四大模块：高质量内容生成、个性化推送机制、高弹性后端架构，以及全链路数据中台。其中数据中台整合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多源数据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形成“数据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决策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优化”闭环。</a:t>
              </a:r>
              <a:endParaRPr lang="zh-CN" altLang="en-US" sz="1400" dirty="0"/>
            </a:p>
          </p:txBody>
        </p:sp>
      </p:grpSp>
      <p:pic>
        <p:nvPicPr>
          <p:cNvPr id="29" name="图片 28" descr="图示&#10;&#10;AI 生成的内容可能不正确。">
            <a:extLst>
              <a:ext uri="{FF2B5EF4-FFF2-40B4-BE49-F238E27FC236}">
                <a16:creationId xmlns:a16="http://schemas.microsoft.com/office/drawing/2014/main" id="{CDB78DA5-475C-297C-71B1-72E89358A14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3084" y="2707556"/>
            <a:ext cx="5610496" cy="395995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92D670CE-45EC-9E0E-1792-30B321F01B9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117607" y="6452423"/>
            <a:ext cx="24275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ITADN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核心架构图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4233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85580C99-3CDF-43F1-A58F-61BFEB161288}"/>
              </a:ext>
            </a:extLst>
          </p:cNvPr>
          <p:cNvGrpSpPr/>
          <p:nvPr/>
        </p:nvGrpSpPr>
        <p:grpSpPr>
          <a:xfrm>
            <a:off x="2201775" y="2432582"/>
            <a:ext cx="8887566" cy="1992831"/>
            <a:chOff x="2201775" y="2432582"/>
            <a:chExt cx="8887566" cy="199283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BF90D89-CB50-4DF2-8269-9CB4602ACB35}"/>
                </a:ext>
              </a:extLst>
            </p:cNvPr>
            <p:cNvGrpSpPr/>
            <p:nvPr/>
          </p:nvGrpSpPr>
          <p:grpSpPr>
            <a:xfrm>
              <a:off x="2201775" y="2432582"/>
              <a:ext cx="8887566" cy="1992831"/>
              <a:chOff x="713" y="367"/>
              <a:chExt cx="10779" cy="737"/>
            </a:xfrm>
          </p:grpSpPr>
          <p:sp>
            <p:nvSpPr>
              <p:cNvPr id="6" name="燕尾形 30">
                <a:extLst>
                  <a:ext uri="{FF2B5EF4-FFF2-40B4-BE49-F238E27FC236}">
                    <a16:creationId xmlns:a16="http://schemas.microsoft.com/office/drawing/2014/main" id="{C5F607A6-CAB2-4BC4-B8AB-BACFD7327208}"/>
                  </a:ext>
                </a:extLst>
              </p:cNvPr>
              <p:cNvSpPr/>
              <p:nvPr>
                <p:custDataLst>
                  <p:tags r:id="rId1"/>
                </p:custDataLst>
              </p:nvPr>
            </p:nvSpPr>
            <p:spPr>
              <a:xfrm rot="10800000" flipH="1">
                <a:off x="2789" y="367"/>
                <a:ext cx="8703" cy="737"/>
              </a:xfrm>
              <a:prstGeom prst="chevron">
                <a:avLst>
                  <a:gd name="adj" fmla="val 37080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8" name="任意多边形: 形状 9">
                <a:extLst>
                  <a:ext uri="{FF2B5EF4-FFF2-40B4-BE49-F238E27FC236}">
                    <a16:creationId xmlns:a16="http://schemas.microsoft.com/office/drawing/2014/main" id="{6B37128F-027E-40E6-8587-413072479A7C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 rot="10800000">
                <a:off x="1073" y="367"/>
                <a:ext cx="437" cy="737"/>
              </a:xfrm>
              <a:custGeom>
                <a:avLst/>
                <a:gdLst>
                  <a:gd name="connsiteX0" fmla="*/ 104108 w 277642"/>
                  <a:gd name="connsiteY0" fmla="*/ 468000 h 468000"/>
                  <a:gd name="connsiteX1" fmla="*/ 0 w 277642"/>
                  <a:gd name="connsiteY1" fmla="*/ 468000 h 468000"/>
                  <a:gd name="connsiteX2" fmla="*/ 173534 w 277642"/>
                  <a:gd name="connsiteY2" fmla="*/ 234000 h 468000"/>
                  <a:gd name="connsiteX3" fmla="*/ 0 w 277642"/>
                  <a:gd name="connsiteY3" fmla="*/ 0 h 468000"/>
                  <a:gd name="connsiteX4" fmla="*/ 104108 w 277642"/>
                  <a:gd name="connsiteY4" fmla="*/ 0 h 468000"/>
                  <a:gd name="connsiteX5" fmla="*/ 277642 w 277642"/>
                  <a:gd name="connsiteY5" fmla="*/ 234000 h 468000"/>
                  <a:gd name="connsiteX6" fmla="*/ 104108 w 277642"/>
                  <a:gd name="connsiteY6" fmla="*/ 468000 h 46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7642" h="468000">
                    <a:moveTo>
                      <a:pt x="104108" y="468000"/>
                    </a:moveTo>
                    <a:lnTo>
                      <a:pt x="0" y="468000"/>
                    </a:lnTo>
                    <a:lnTo>
                      <a:pt x="173534" y="234000"/>
                    </a:lnTo>
                    <a:lnTo>
                      <a:pt x="0" y="0"/>
                    </a:lnTo>
                    <a:lnTo>
                      <a:pt x="104108" y="0"/>
                    </a:lnTo>
                    <a:lnTo>
                      <a:pt x="277642" y="234000"/>
                    </a:lnTo>
                    <a:lnTo>
                      <a:pt x="104108" y="46800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9" name="任意多边形: 形状 10">
                <a:extLst>
                  <a:ext uri="{FF2B5EF4-FFF2-40B4-BE49-F238E27FC236}">
                    <a16:creationId xmlns:a16="http://schemas.microsoft.com/office/drawing/2014/main" id="{F01178EF-DA89-4AEA-9A8E-2BA68BD2158D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 rot="10800000">
                <a:off x="713" y="367"/>
                <a:ext cx="437" cy="737"/>
              </a:xfrm>
              <a:custGeom>
                <a:avLst/>
                <a:gdLst>
                  <a:gd name="connsiteX0" fmla="*/ 104108 w 277642"/>
                  <a:gd name="connsiteY0" fmla="*/ 468000 h 468000"/>
                  <a:gd name="connsiteX1" fmla="*/ 0 w 277642"/>
                  <a:gd name="connsiteY1" fmla="*/ 468000 h 468000"/>
                  <a:gd name="connsiteX2" fmla="*/ 173534 w 277642"/>
                  <a:gd name="connsiteY2" fmla="*/ 234000 h 468000"/>
                  <a:gd name="connsiteX3" fmla="*/ 0 w 277642"/>
                  <a:gd name="connsiteY3" fmla="*/ 0 h 468000"/>
                  <a:gd name="connsiteX4" fmla="*/ 104108 w 277642"/>
                  <a:gd name="connsiteY4" fmla="*/ 0 h 468000"/>
                  <a:gd name="connsiteX5" fmla="*/ 277642 w 277642"/>
                  <a:gd name="connsiteY5" fmla="*/ 234000 h 468000"/>
                  <a:gd name="connsiteX6" fmla="*/ 104108 w 277642"/>
                  <a:gd name="connsiteY6" fmla="*/ 468000 h 46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7642" h="468000">
                    <a:moveTo>
                      <a:pt x="104108" y="468000"/>
                    </a:moveTo>
                    <a:lnTo>
                      <a:pt x="0" y="468000"/>
                    </a:lnTo>
                    <a:lnTo>
                      <a:pt x="173534" y="234000"/>
                    </a:lnTo>
                    <a:lnTo>
                      <a:pt x="0" y="0"/>
                    </a:lnTo>
                    <a:lnTo>
                      <a:pt x="104108" y="0"/>
                    </a:lnTo>
                    <a:lnTo>
                      <a:pt x="277642" y="234000"/>
                    </a:lnTo>
                    <a:lnTo>
                      <a:pt x="104108" y="46800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dirty="0"/>
              </a:p>
            </p:txBody>
          </p: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CFBE3D3-60A2-4EFE-8256-530DD4CA4658}"/>
                </a:ext>
              </a:extLst>
            </p:cNvPr>
            <p:cNvSpPr txBox="1"/>
            <p:nvPr/>
          </p:nvSpPr>
          <p:spPr>
            <a:xfrm>
              <a:off x="2777654" y="2921165"/>
              <a:ext cx="155089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一、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54EE127-2B70-496A-80D9-64CAB4A786D2}"/>
                </a:ext>
              </a:extLst>
            </p:cNvPr>
            <p:cNvSpPr txBox="1"/>
            <p:nvPr/>
          </p:nvSpPr>
          <p:spPr>
            <a:xfrm>
              <a:off x="4652682" y="2921165"/>
              <a:ext cx="5710518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5800" b="1" dirty="0">
                  <a:solidFill>
                    <a:schemeClr val="bg1"/>
                  </a:solidFill>
                </a:rPr>
                <a:t>高可用后台系统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2145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684C7058-F30D-43EB-B83C-69A61AFAC0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1591509" y="475734"/>
            <a:ext cx="9292222" cy="6382266"/>
          </a:xfr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A77723E3-EA70-4F04-9362-225B5F04C61A}"/>
              </a:ext>
            </a:extLst>
          </p:cNvPr>
          <p:cNvGrpSpPr/>
          <p:nvPr/>
        </p:nvGrpSpPr>
        <p:grpSpPr>
          <a:xfrm>
            <a:off x="405112" y="6298"/>
            <a:ext cx="11029093" cy="467995"/>
            <a:chOff x="713" y="367"/>
            <a:chExt cx="11412" cy="737"/>
          </a:xfrm>
        </p:grpSpPr>
        <p:sp>
          <p:nvSpPr>
            <p:cNvPr id="5" name="燕尾形 30">
              <a:extLst>
                <a:ext uri="{FF2B5EF4-FFF2-40B4-BE49-F238E27FC236}">
                  <a16:creationId xmlns:a16="http://schemas.microsoft.com/office/drawing/2014/main" id="{D27991C3-DF06-4C36-94C3-72A4B0D79CD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rot="10800000">
              <a:off x="1443" y="367"/>
              <a:ext cx="2907" cy="737"/>
            </a:xfrm>
            <a:prstGeom prst="chevron">
              <a:avLst>
                <a:gd name="adj" fmla="val 3708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" name="燕尾形 30">
              <a:extLst>
                <a:ext uri="{FF2B5EF4-FFF2-40B4-BE49-F238E27FC236}">
                  <a16:creationId xmlns:a16="http://schemas.microsoft.com/office/drawing/2014/main" id="{D912D280-3F02-4ED2-A8E9-7820C8BFCD69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10800000" flipH="1">
              <a:off x="3422" y="367"/>
              <a:ext cx="8703" cy="737"/>
            </a:xfrm>
            <a:prstGeom prst="chevron">
              <a:avLst>
                <a:gd name="adj" fmla="val 3708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Box 17">
              <a:extLst>
                <a:ext uri="{FF2B5EF4-FFF2-40B4-BE49-F238E27FC236}">
                  <a16:creationId xmlns:a16="http://schemas.microsoft.com/office/drawing/2014/main" id="{4C3A3B6B-7D9D-4A38-A454-BF9194F7B66F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1656" y="367"/>
              <a:ext cx="10184" cy="72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anchor="t">
              <a:spAutoFit/>
            </a:bodyPr>
            <a:lstStyle>
              <a:lvl1pPr marL="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1pPr>
              <a:lvl2pPr marL="4572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2pPr>
              <a:lvl3pPr marL="9144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3pPr>
              <a:lvl4pPr marL="13716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4pPr>
              <a:lvl5pPr marL="18288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5pPr>
            </a:lstStyle>
            <a:p>
              <a:pPr lvl="0" algn="ctr"/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ITADN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高可用服务架构</a:t>
              </a:r>
            </a:p>
          </p:txBody>
        </p:sp>
        <p:sp>
          <p:nvSpPr>
            <p:cNvPr id="8" name="任意多边形: 形状 9">
              <a:extLst>
                <a:ext uri="{FF2B5EF4-FFF2-40B4-BE49-F238E27FC236}">
                  <a16:creationId xmlns:a16="http://schemas.microsoft.com/office/drawing/2014/main" id="{1BE8523F-6695-4AD0-9FCA-9270D69FB4BF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10800000">
              <a:off x="107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" name="任意多边形: 形状 10">
              <a:extLst>
                <a:ext uri="{FF2B5EF4-FFF2-40B4-BE49-F238E27FC236}">
                  <a16:creationId xmlns:a16="http://schemas.microsoft.com/office/drawing/2014/main" id="{4D87D63B-1F23-43E1-B2C4-E329F94520B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0800000">
              <a:off x="71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6827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85580C99-3CDF-43F1-A58F-61BFEB161288}"/>
              </a:ext>
            </a:extLst>
          </p:cNvPr>
          <p:cNvGrpSpPr/>
          <p:nvPr/>
        </p:nvGrpSpPr>
        <p:grpSpPr>
          <a:xfrm>
            <a:off x="1478683" y="2432584"/>
            <a:ext cx="9234634" cy="1992831"/>
            <a:chOff x="2201775" y="2432582"/>
            <a:chExt cx="11384231" cy="199283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BF90D89-CB50-4DF2-8269-9CB4602ACB35}"/>
                </a:ext>
              </a:extLst>
            </p:cNvPr>
            <p:cNvGrpSpPr/>
            <p:nvPr/>
          </p:nvGrpSpPr>
          <p:grpSpPr>
            <a:xfrm>
              <a:off x="2201775" y="2432582"/>
              <a:ext cx="11384231" cy="1992831"/>
              <a:chOff x="713" y="367"/>
              <a:chExt cx="13807" cy="737"/>
            </a:xfrm>
          </p:grpSpPr>
          <p:sp>
            <p:nvSpPr>
              <p:cNvPr id="6" name="燕尾形 30">
                <a:extLst>
                  <a:ext uri="{FF2B5EF4-FFF2-40B4-BE49-F238E27FC236}">
                    <a16:creationId xmlns:a16="http://schemas.microsoft.com/office/drawing/2014/main" id="{C5F607A6-CAB2-4BC4-B8AB-BACFD7327208}"/>
                  </a:ext>
                </a:extLst>
              </p:cNvPr>
              <p:cNvSpPr/>
              <p:nvPr>
                <p:custDataLst>
                  <p:tags r:id="rId1"/>
                </p:custDataLst>
              </p:nvPr>
            </p:nvSpPr>
            <p:spPr>
              <a:xfrm rot="10800000" flipH="1">
                <a:off x="2789" y="367"/>
                <a:ext cx="11731" cy="737"/>
              </a:xfrm>
              <a:prstGeom prst="chevron">
                <a:avLst>
                  <a:gd name="adj" fmla="val 37080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8" name="任意多边形: 形状 9">
                <a:extLst>
                  <a:ext uri="{FF2B5EF4-FFF2-40B4-BE49-F238E27FC236}">
                    <a16:creationId xmlns:a16="http://schemas.microsoft.com/office/drawing/2014/main" id="{6B37128F-027E-40E6-8587-413072479A7C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 rot="10800000">
                <a:off x="1073" y="367"/>
                <a:ext cx="437" cy="737"/>
              </a:xfrm>
              <a:custGeom>
                <a:avLst/>
                <a:gdLst>
                  <a:gd name="connsiteX0" fmla="*/ 104108 w 277642"/>
                  <a:gd name="connsiteY0" fmla="*/ 468000 h 468000"/>
                  <a:gd name="connsiteX1" fmla="*/ 0 w 277642"/>
                  <a:gd name="connsiteY1" fmla="*/ 468000 h 468000"/>
                  <a:gd name="connsiteX2" fmla="*/ 173534 w 277642"/>
                  <a:gd name="connsiteY2" fmla="*/ 234000 h 468000"/>
                  <a:gd name="connsiteX3" fmla="*/ 0 w 277642"/>
                  <a:gd name="connsiteY3" fmla="*/ 0 h 468000"/>
                  <a:gd name="connsiteX4" fmla="*/ 104108 w 277642"/>
                  <a:gd name="connsiteY4" fmla="*/ 0 h 468000"/>
                  <a:gd name="connsiteX5" fmla="*/ 277642 w 277642"/>
                  <a:gd name="connsiteY5" fmla="*/ 234000 h 468000"/>
                  <a:gd name="connsiteX6" fmla="*/ 104108 w 277642"/>
                  <a:gd name="connsiteY6" fmla="*/ 468000 h 46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7642" h="468000">
                    <a:moveTo>
                      <a:pt x="104108" y="468000"/>
                    </a:moveTo>
                    <a:lnTo>
                      <a:pt x="0" y="468000"/>
                    </a:lnTo>
                    <a:lnTo>
                      <a:pt x="173534" y="234000"/>
                    </a:lnTo>
                    <a:lnTo>
                      <a:pt x="0" y="0"/>
                    </a:lnTo>
                    <a:lnTo>
                      <a:pt x="104108" y="0"/>
                    </a:lnTo>
                    <a:lnTo>
                      <a:pt x="277642" y="234000"/>
                    </a:lnTo>
                    <a:lnTo>
                      <a:pt x="104108" y="46800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9" name="任意多边形: 形状 10">
                <a:extLst>
                  <a:ext uri="{FF2B5EF4-FFF2-40B4-BE49-F238E27FC236}">
                    <a16:creationId xmlns:a16="http://schemas.microsoft.com/office/drawing/2014/main" id="{F01178EF-DA89-4AEA-9A8E-2BA68BD2158D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 rot="10800000">
                <a:off x="713" y="367"/>
                <a:ext cx="437" cy="737"/>
              </a:xfrm>
              <a:custGeom>
                <a:avLst/>
                <a:gdLst>
                  <a:gd name="connsiteX0" fmla="*/ 104108 w 277642"/>
                  <a:gd name="connsiteY0" fmla="*/ 468000 h 468000"/>
                  <a:gd name="connsiteX1" fmla="*/ 0 w 277642"/>
                  <a:gd name="connsiteY1" fmla="*/ 468000 h 468000"/>
                  <a:gd name="connsiteX2" fmla="*/ 173534 w 277642"/>
                  <a:gd name="connsiteY2" fmla="*/ 234000 h 468000"/>
                  <a:gd name="connsiteX3" fmla="*/ 0 w 277642"/>
                  <a:gd name="connsiteY3" fmla="*/ 0 h 468000"/>
                  <a:gd name="connsiteX4" fmla="*/ 104108 w 277642"/>
                  <a:gd name="connsiteY4" fmla="*/ 0 h 468000"/>
                  <a:gd name="connsiteX5" fmla="*/ 277642 w 277642"/>
                  <a:gd name="connsiteY5" fmla="*/ 234000 h 468000"/>
                  <a:gd name="connsiteX6" fmla="*/ 104108 w 277642"/>
                  <a:gd name="connsiteY6" fmla="*/ 468000 h 46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7642" h="468000">
                    <a:moveTo>
                      <a:pt x="104108" y="468000"/>
                    </a:moveTo>
                    <a:lnTo>
                      <a:pt x="0" y="468000"/>
                    </a:lnTo>
                    <a:lnTo>
                      <a:pt x="173534" y="234000"/>
                    </a:lnTo>
                    <a:lnTo>
                      <a:pt x="0" y="0"/>
                    </a:lnTo>
                    <a:lnTo>
                      <a:pt x="104108" y="0"/>
                    </a:lnTo>
                    <a:lnTo>
                      <a:pt x="277642" y="234000"/>
                    </a:lnTo>
                    <a:lnTo>
                      <a:pt x="104108" y="46800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dirty="0"/>
              </a:p>
            </p:txBody>
          </p: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CFBE3D3-60A2-4EFE-8256-530DD4CA4658}"/>
                </a:ext>
              </a:extLst>
            </p:cNvPr>
            <p:cNvSpPr txBox="1"/>
            <p:nvPr/>
          </p:nvSpPr>
          <p:spPr>
            <a:xfrm>
              <a:off x="2777654" y="2921165"/>
              <a:ext cx="155089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二、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54EE127-2B70-496A-80D9-64CAB4A786D2}"/>
                </a:ext>
              </a:extLst>
            </p:cNvPr>
            <p:cNvSpPr txBox="1"/>
            <p:nvPr/>
          </p:nvSpPr>
          <p:spPr>
            <a:xfrm>
              <a:off x="4747563" y="2921165"/>
              <a:ext cx="8717355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800" b="1" dirty="0">
                  <a:solidFill>
                    <a:schemeClr val="bg1"/>
                  </a:solidFill>
                </a:rPr>
                <a:t>ITADN</a:t>
              </a:r>
              <a:r>
                <a:rPr lang="zh-CN" altLang="en-US" sz="5800" b="1" dirty="0">
                  <a:solidFill>
                    <a:schemeClr val="bg1"/>
                  </a:solidFill>
                </a:rPr>
                <a:t>数据中台系统</a:t>
              </a:r>
              <a:endParaRPr lang="en-US" altLang="zh-CN" sz="5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6545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4CD1D3C-8642-45EF-B386-0633586ABF5A}"/>
              </a:ext>
            </a:extLst>
          </p:cNvPr>
          <p:cNvGrpSpPr/>
          <p:nvPr/>
        </p:nvGrpSpPr>
        <p:grpSpPr>
          <a:xfrm>
            <a:off x="581453" y="68717"/>
            <a:ext cx="11029093" cy="467995"/>
            <a:chOff x="713" y="367"/>
            <a:chExt cx="11412" cy="737"/>
          </a:xfrm>
        </p:grpSpPr>
        <p:sp>
          <p:nvSpPr>
            <p:cNvPr id="4" name="燕尾形 30">
              <a:extLst>
                <a:ext uri="{FF2B5EF4-FFF2-40B4-BE49-F238E27FC236}">
                  <a16:creationId xmlns:a16="http://schemas.microsoft.com/office/drawing/2014/main" id="{2BECBEB8-7FE0-44D5-9AB1-C8D0BA557CC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rot="10800000">
              <a:off x="1443" y="367"/>
              <a:ext cx="2907" cy="737"/>
            </a:xfrm>
            <a:prstGeom prst="chevron">
              <a:avLst>
                <a:gd name="adj" fmla="val 3708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" name="燕尾形 30">
              <a:extLst>
                <a:ext uri="{FF2B5EF4-FFF2-40B4-BE49-F238E27FC236}">
                  <a16:creationId xmlns:a16="http://schemas.microsoft.com/office/drawing/2014/main" id="{EF0AED20-8292-4FAF-930A-13371EF28761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10800000" flipH="1">
              <a:off x="3422" y="367"/>
              <a:ext cx="8703" cy="737"/>
            </a:xfrm>
            <a:prstGeom prst="chevron">
              <a:avLst>
                <a:gd name="adj" fmla="val 3708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Box 17">
              <a:extLst>
                <a:ext uri="{FF2B5EF4-FFF2-40B4-BE49-F238E27FC236}">
                  <a16:creationId xmlns:a16="http://schemas.microsoft.com/office/drawing/2014/main" id="{9E3CFA65-5C62-4972-B8A0-52E4CF44032E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1630" y="373"/>
              <a:ext cx="10184" cy="72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anchor="t">
              <a:spAutoFit/>
            </a:bodyPr>
            <a:lstStyle>
              <a:lvl1pPr marL="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1pPr>
              <a:lvl2pPr marL="4572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2pPr>
              <a:lvl3pPr marL="9144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3pPr>
              <a:lvl4pPr marL="13716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4pPr>
              <a:lvl5pPr marL="18288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5pPr>
            </a:lstStyle>
            <a:p>
              <a:pPr lvl="0" algn="ctr"/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ITADN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数据库系统设计</a:t>
              </a:r>
            </a:p>
          </p:txBody>
        </p:sp>
        <p:sp>
          <p:nvSpPr>
            <p:cNvPr id="8" name="任意多边形: 形状 9">
              <a:extLst>
                <a:ext uri="{FF2B5EF4-FFF2-40B4-BE49-F238E27FC236}">
                  <a16:creationId xmlns:a16="http://schemas.microsoft.com/office/drawing/2014/main" id="{C41F7D49-FB85-4885-96F4-7A4ABF26FB25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10800000">
              <a:off x="107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" name="任意多边形: 形状 10">
              <a:extLst>
                <a:ext uri="{FF2B5EF4-FFF2-40B4-BE49-F238E27FC236}">
                  <a16:creationId xmlns:a16="http://schemas.microsoft.com/office/drawing/2014/main" id="{4AED3C0D-482E-4B79-BE3D-17747D5B0D22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0800000">
              <a:off x="71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BE72D584-9FF1-4AA9-9019-E37E7123B0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0714555"/>
              </p:ext>
            </p:extLst>
          </p:nvPr>
        </p:nvGraphicFramePr>
        <p:xfrm>
          <a:off x="0" y="1194625"/>
          <a:ext cx="3303494" cy="5112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13" name="内容占位符 12">
            <a:extLst>
              <a:ext uri="{FF2B5EF4-FFF2-40B4-BE49-F238E27FC236}">
                <a16:creationId xmlns:a16="http://schemas.microsoft.com/office/drawing/2014/main" id="{33745C6A-6DD3-45EA-A8A1-84A0D03DE8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2"/>
          <a:stretch>
            <a:fillRect/>
          </a:stretch>
        </p:blipFill>
        <p:spPr>
          <a:xfrm>
            <a:off x="3035902" y="550832"/>
            <a:ext cx="8989690" cy="6234641"/>
          </a:xfrm>
        </p:spPr>
      </p:pic>
    </p:spTree>
    <p:extLst>
      <p:ext uri="{BB962C8B-B14F-4D97-AF65-F5344CB8AC3E}">
        <p14:creationId xmlns:p14="http://schemas.microsoft.com/office/powerpoint/2010/main" val="1486356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DC383015-79EE-E103-C0AD-251BD94289DB}"/>
              </a:ext>
            </a:extLst>
          </p:cNvPr>
          <p:cNvGrpSpPr/>
          <p:nvPr/>
        </p:nvGrpSpPr>
        <p:grpSpPr>
          <a:xfrm>
            <a:off x="581453" y="68717"/>
            <a:ext cx="11029093" cy="467995"/>
            <a:chOff x="713" y="367"/>
            <a:chExt cx="11412" cy="737"/>
          </a:xfrm>
        </p:grpSpPr>
        <p:sp>
          <p:nvSpPr>
            <p:cNvPr id="5" name="燕尾形 30">
              <a:extLst>
                <a:ext uri="{FF2B5EF4-FFF2-40B4-BE49-F238E27FC236}">
                  <a16:creationId xmlns:a16="http://schemas.microsoft.com/office/drawing/2014/main" id="{3AF6BCEE-CEDA-08AB-7DA0-754ADF5679C3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 rot="10800000">
              <a:off x="1443" y="367"/>
              <a:ext cx="2907" cy="737"/>
            </a:xfrm>
            <a:prstGeom prst="chevron">
              <a:avLst>
                <a:gd name="adj" fmla="val 3708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" name="燕尾形 30">
              <a:extLst>
                <a:ext uri="{FF2B5EF4-FFF2-40B4-BE49-F238E27FC236}">
                  <a16:creationId xmlns:a16="http://schemas.microsoft.com/office/drawing/2014/main" id="{6E671B7D-60E5-74DF-4164-7F45DD938CBD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 rot="10800000" flipH="1">
              <a:off x="3422" y="367"/>
              <a:ext cx="8703" cy="737"/>
            </a:xfrm>
            <a:prstGeom prst="chevron">
              <a:avLst>
                <a:gd name="adj" fmla="val 3708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Box 17">
              <a:extLst>
                <a:ext uri="{FF2B5EF4-FFF2-40B4-BE49-F238E27FC236}">
                  <a16:creationId xmlns:a16="http://schemas.microsoft.com/office/drawing/2014/main" id="{CE6964CE-33EB-14AA-94BD-4DC5213B0A86}"/>
                </a:ext>
              </a:extLst>
            </p:cNvPr>
            <p:cNvSpPr txBox="1"/>
            <p:nvPr>
              <p:custDataLst>
                <p:tags r:id="rId66"/>
              </p:custDataLst>
            </p:nvPr>
          </p:nvSpPr>
          <p:spPr>
            <a:xfrm>
              <a:off x="1630" y="373"/>
              <a:ext cx="10184" cy="72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anchor="t">
              <a:spAutoFit/>
            </a:bodyPr>
            <a:lstStyle>
              <a:lvl1pPr marL="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1pPr>
              <a:lvl2pPr marL="4572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2pPr>
              <a:lvl3pPr marL="9144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3pPr>
              <a:lvl4pPr marL="13716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4pPr>
              <a:lvl5pPr marL="18288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5pPr>
            </a:lstStyle>
            <a:p>
              <a:pPr lvl="0" algn="ctr"/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ITADN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数据规模</a:t>
              </a:r>
            </a:p>
          </p:txBody>
        </p:sp>
        <p:sp>
          <p:nvSpPr>
            <p:cNvPr id="8" name="任意多边形: 形状 9">
              <a:extLst>
                <a:ext uri="{FF2B5EF4-FFF2-40B4-BE49-F238E27FC236}">
                  <a16:creationId xmlns:a16="http://schemas.microsoft.com/office/drawing/2014/main" id="{6F7AAE78-207F-E265-7166-68E9F37AFEF7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 rot="10800000">
              <a:off x="107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" name="任意多边形: 形状 10">
              <a:extLst>
                <a:ext uri="{FF2B5EF4-FFF2-40B4-BE49-F238E27FC236}">
                  <a16:creationId xmlns:a16="http://schemas.microsoft.com/office/drawing/2014/main" id="{E15624EC-AE08-3239-2793-8959E345D20D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 rot="10800000">
              <a:off x="71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DEDDD274-BA5D-A92D-8048-62535DBA02AC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665043" y="2721227"/>
            <a:ext cx="724713" cy="172661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5000</a:t>
            </a: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万项目源码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2029C79-4A0F-DD58-1375-3E002658B30F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665043" y="4688818"/>
            <a:ext cx="724713" cy="1726610"/>
          </a:xfrm>
          <a:prstGeom prst="rect">
            <a:avLst/>
          </a:prstGeom>
          <a:solidFill>
            <a:srgbClr val="EBBF03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800</a:t>
            </a: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万学术资源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9636E3E-B91D-79DA-18FB-1924E99A5C2E}"/>
              </a:ext>
            </a:extLst>
          </p:cNvPr>
          <p:cNvGrpSpPr/>
          <p:nvPr/>
        </p:nvGrpSpPr>
        <p:grpSpPr>
          <a:xfrm>
            <a:off x="1611542" y="4688819"/>
            <a:ext cx="9833159" cy="1731863"/>
            <a:chOff x="1737446" y="4729055"/>
            <a:chExt cx="9540154" cy="1937973"/>
          </a:xfrm>
        </p:grpSpPr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8E01C669-2A22-0173-2831-DECE7B0CDEE3}"/>
                </a:ext>
              </a:extLst>
            </p:cNvPr>
            <p:cNvSpPr txBox="1">
              <a:spLocks/>
            </p:cNvSpPr>
            <p:nvPr>
              <p:custDataLst>
                <p:tags r:id="rId45"/>
              </p:custDataLst>
            </p:nvPr>
          </p:nvSpPr>
          <p:spPr>
            <a:xfrm>
              <a:off x="1746250" y="4729055"/>
              <a:ext cx="2997200" cy="1360596"/>
            </a:xfrm>
            <a:prstGeom prst="rect">
              <a:avLst/>
            </a:prstGeom>
            <a:solidFill>
              <a:srgbClr val="EBBF03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endPara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9D8DE921-26AA-C314-3D4C-C73AC0BD59E2}"/>
                </a:ext>
              </a:extLst>
            </p:cNvPr>
            <p:cNvSpPr txBox="1">
              <a:spLocks/>
            </p:cNvSpPr>
            <p:nvPr>
              <p:custDataLst>
                <p:tags r:id="rId46"/>
              </p:custDataLst>
            </p:nvPr>
          </p:nvSpPr>
          <p:spPr>
            <a:xfrm>
              <a:off x="1746250" y="6159028"/>
              <a:ext cx="9531350" cy="508000"/>
            </a:xfrm>
            <a:prstGeom prst="rect">
              <a:avLst/>
            </a:prstGeom>
            <a:solidFill>
              <a:srgbClr val="EBBF03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endPara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B5F0B9E-0325-015A-8D31-60F774B339D7}"/>
                </a:ext>
              </a:extLst>
            </p:cNvPr>
            <p:cNvSpPr txBox="1">
              <a:spLocks/>
            </p:cNvSpPr>
            <p:nvPr>
              <p:custDataLst>
                <p:tags r:id="rId47"/>
              </p:custDataLst>
            </p:nvPr>
          </p:nvSpPr>
          <p:spPr>
            <a:xfrm>
              <a:off x="5013325" y="4729055"/>
              <a:ext cx="2997200" cy="1360596"/>
            </a:xfrm>
            <a:prstGeom prst="rect">
              <a:avLst/>
            </a:prstGeom>
            <a:solidFill>
              <a:srgbClr val="EBBF03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endPara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14F600-E4BE-371D-3FD9-C08105907E22}"/>
                </a:ext>
              </a:extLst>
            </p:cNvPr>
            <p:cNvSpPr txBox="1">
              <a:spLocks/>
            </p:cNvSpPr>
            <p:nvPr>
              <p:custDataLst>
                <p:tags r:id="rId48"/>
              </p:custDataLst>
            </p:nvPr>
          </p:nvSpPr>
          <p:spPr>
            <a:xfrm>
              <a:off x="8280400" y="4729055"/>
              <a:ext cx="2997200" cy="1360596"/>
            </a:xfrm>
            <a:prstGeom prst="rect">
              <a:avLst/>
            </a:prstGeom>
            <a:solidFill>
              <a:srgbClr val="EBBF03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endPara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E2C23E1A-67A1-39DB-EEF0-D2F85984A834}"/>
                </a:ext>
              </a:extLst>
            </p:cNvPr>
            <p:cNvSpPr txBox="1">
              <a:spLocks/>
            </p:cNvSpPr>
            <p:nvPr>
              <p:custDataLst>
                <p:tags r:id="rId49"/>
              </p:custDataLst>
            </p:nvPr>
          </p:nvSpPr>
          <p:spPr>
            <a:xfrm>
              <a:off x="1737446" y="4748105"/>
              <a:ext cx="2997200" cy="401745"/>
            </a:xfrm>
            <a:prstGeom prst="rect">
              <a:avLst/>
            </a:prstGeom>
            <a:solidFill>
              <a:srgbClr val="EBBF03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工程与科学</a:t>
              </a: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B6578EBE-3119-1898-4B64-07701AE615C7}"/>
                </a:ext>
              </a:extLst>
            </p:cNvPr>
            <p:cNvSpPr txBox="1">
              <a:spLocks/>
            </p:cNvSpPr>
            <p:nvPr>
              <p:custDataLst>
                <p:tags r:id="rId50"/>
              </p:custDataLst>
            </p:nvPr>
          </p:nvSpPr>
          <p:spPr>
            <a:xfrm>
              <a:off x="5013325" y="4748105"/>
              <a:ext cx="2997200" cy="401745"/>
            </a:xfrm>
            <a:prstGeom prst="rect">
              <a:avLst/>
            </a:prstGeom>
            <a:solidFill>
              <a:srgbClr val="EBBF03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物理学前沿</a:t>
              </a: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CB0F8F2F-A1E4-7DC7-71CC-3322D94D6577}"/>
                </a:ext>
              </a:extLst>
            </p:cNvPr>
            <p:cNvSpPr txBox="1">
              <a:spLocks/>
            </p:cNvSpPr>
            <p:nvPr>
              <p:custDataLst>
                <p:tags r:id="rId51"/>
              </p:custDataLst>
            </p:nvPr>
          </p:nvSpPr>
          <p:spPr>
            <a:xfrm>
              <a:off x="8280400" y="4748105"/>
              <a:ext cx="2997200" cy="401745"/>
            </a:xfrm>
            <a:prstGeom prst="rect">
              <a:avLst/>
            </a:prstGeom>
            <a:solidFill>
              <a:srgbClr val="EBBF03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经济与社科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41E21FBA-C1FB-77F5-A4D4-5927FA511A95}"/>
                </a:ext>
              </a:extLst>
            </p:cNvPr>
            <p:cNvSpPr txBox="1">
              <a:spLocks/>
            </p:cNvSpPr>
            <p:nvPr>
              <p:custDataLst>
                <p:tags r:id="rId52"/>
              </p:custDataLst>
            </p:nvPr>
          </p:nvSpPr>
          <p:spPr>
            <a:xfrm>
              <a:off x="1756496" y="6153150"/>
              <a:ext cx="2090232" cy="508000"/>
            </a:xfrm>
            <a:prstGeom prst="rect">
              <a:avLst/>
            </a:prstGeom>
            <a:solidFill>
              <a:srgbClr val="EBBF03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计算研究</a:t>
              </a: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93CAE40B-330A-2C81-FEEE-AC111CE186D5}"/>
                </a:ext>
              </a:extLst>
            </p:cNvPr>
            <p:cNvSpPr txBox="1">
              <a:spLocks/>
            </p:cNvSpPr>
            <p:nvPr>
              <p:custDataLst>
                <p:tags r:id="rId53"/>
              </p:custDataLst>
            </p:nvPr>
          </p:nvSpPr>
          <p:spPr>
            <a:xfrm>
              <a:off x="1756496" y="5168900"/>
              <a:ext cx="703118" cy="939801"/>
            </a:xfrm>
            <a:prstGeom prst="rect">
              <a:avLst/>
            </a:prstGeom>
            <a:solidFill>
              <a:srgbClr val="EBBF03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电气工程</a:t>
              </a: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16021855-CD11-F541-D41B-CD5E3EDDAAA1}"/>
                </a:ext>
              </a:extLst>
            </p:cNvPr>
            <p:cNvSpPr txBox="1">
              <a:spLocks/>
            </p:cNvSpPr>
            <p:nvPr>
              <p:custDataLst>
                <p:tags r:id="rId54"/>
              </p:custDataLst>
            </p:nvPr>
          </p:nvSpPr>
          <p:spPr>
            <a:xfrm>
              <a:off x="2528742" y="5168900"/>
              <a:ext cx="703118" cy="939801"/>
            </a:xfrm>
            <a:prstGeom prst="rect">
              <a:avLst/>
            </a:prstGeom>
            <a:solidFill>
              <a:srgbClr val="EBBF03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系统科学</a:t>
              </a: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F4AF0947-D95B-0A67-DE7F-BA1E99114704}"/>
                </a:ext>
              </a:extLst>
            </p:cNvPr>
            <p:cNvSpPr txBox="1">
              <a:spLocks/>
            </p:cNvSpPr>
            <p:nvPr>
              <p:custDataLst>
                <p:tags r:id="rId55"/>
              </p:custDataLst>
            </p:nvPr>
          </p:nvSpPr>
          <p:spPr>
            <a:xfrm>
              <a:off x="3283961" y="5156200"/>
              <a:ext cx="703118" cy="939801"/>
            </a:xfrm>
            <a:prstGeom prst="rect">
              <a:avLst/>
            </a:prstGeom>
            <a:solidFill>
              <a:srgbClr val="EBBF03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定量生物学</a:t>
              </a: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6D4362E6-7575-570A-489A-4C4055175F6A}"/>
                </a:ext>
              </a:extLst>
            </p:cNvPr>
            <p:cNvSpPr txBox="1">
              <a:spLocks/>
            </p:cNvSpPr>
            <p:nvPr>
              <p:custDataLst>
                <p:tags r:id="rId56"/>
              </p:custDataLst>
            </p:nvPr>
          </p:nvSpPr>
          <p:spPr>
            <a:xfrm>
              <a:off x="4036436" y="5149850"/>
              <a:ext cx="703118" cy="939801"/>
            </a:xfrm>
            <a:prstGeom prst="rect">
              <a:avLst/>
            </a:prstGeom>
            <a:solidFill>
              <a:srgbClr val="EBBF03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量化金融</a:t>
              </a: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F6DF1C0C-D68B-6B10-BFEF-D7B08FB32DDB}"/>
                </a:ext>
              </a:extLst>
            </p:cNvPr>
            <p:cNvSpPr txBox="1">
              <a:spLocks/>
            </p:cNvSpPr>
            <p:nvPr>
              <p:custDataLst>
                <p:tags r:id="rId57"/>
              </p:custDataLst>
            </p:nvPr>
          </p:nvSpPr>
          <p:spPr>
            <a:xfrm>
              <a:off x="5013922" y="5168899"/>
              <a:ext cx="703118" cy="939801"/>
            </a:xfrm>
            <a:prstGeom prst="rect">
              <a:avLst/>
            </a:prstGeom>
            <a:solidFill>
              <a:srgbClr val="EBBF03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高能物理</a:t>
              </a: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62019733-8EC5-90FE-C759-A6CF990FB12C}"/>
                </a:ext>
              </a:extLst>
            </p:cNvPr>
            <p:cNvSpPr txBox="1">
              <a:spLocks/>
            </p:cNvSpPr>
            <p:nvPr>
              <p:custDataLst>
                <p:tags r:id="rId58"/>
              </p:custDataLst>
            </p:nvPr>
          </p:nvSpPr>
          <p:spPr>
            <a:xfrm>
              <a:off x="5800616" y="5168898"/>
              <a:ext cx="703118" cy="939801"/>
            </a:xfrm>
            <a:prstGeom prst="rect">
              <a:avLst/>
            </a:prstGeom>
            <a:solidFill>
              <a:srgbClr val="EBBF03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量子物理</a:t>
              </a: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74663F26-F199-784C-BFF4-98E8C2FCA21E}"/>
                </a:ext>
              </a:extLst>
            </p:cNvPr>
            <p:cNvSpPr txBox="1">
              <a:spLocks/>
            </p:cNvSpPr>
            <p:nvPr>
              <p:custDataLst>
                <p:tags r:id="rId59"/>
              </p:custDataLst>
            </p:nvPr>
          </p:nvSpPr>
          <p:spPr>
            <a:xfrm>
              <a:off x="6562507" y="5168897"/>
              <a:ext cx="703118" cy="939801"/>
            </a:xfrm>
            <a:prstGeom prst="rect">
              <a:avLst/>
            </a:prstGeom>
            <a:solidFill>
              <a:srgbClr val="EBBF03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凝聚态物理</a:t>
              </a: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9BB3B497-8597-E0ED-B037-BEC7500E6BB3}"/>
                </a:ext>
              </a:extLst>
            </p:cNvPr>
            <p:cNvSpPr txBox="1">
              <a:spLocks/>
            </p:cNvSpPr>
            <p:nvPr>
              <p:custDataLst>
                <p:tags r:id="rId60"/>
              </p:custDataLst>
            </p:nvPr>
          </p:nvSpPr>
          <p:spPr>
            <a:xfrm>
              <a:off x="7319639" y="5168896"/>
              <a:ext cx="703118" cy="939801"/>
            </a:xfrm>
            <a:prstGeom prst="rect">
              <a:avLst/>
            </a:prstGeom>
            <a:solidFill>
              <a:srgbClr val="EBBF03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天体物理</a:t>
              </a: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CB6846C0-9A64-44F7-D5EF-F2A15C1F145A}"/>
                </a:ext>
              </a:extLst>
            </p:cNvPr>
            <p:cNvSpPr txBox="1">
              <a:spLocks/>
            </p:cNvSpPr>
            <p:nvPr>
              <p:custDataLst>
                <p:tags r:id="rId61"/>
              </p:custDataLst>
            </p:nvPr>
          </p:nvSpPr>
          <p:spPr>
            <a:xfrm>
              <a:off x="8280400" y="5156199"/>
              <a:ext cx="965200" cy="939801"/>
            </a:xfrm>
            <a:prstGeom prst="rect">
              <a:avLst/>
            </a:prstGeom>
            <a:solidFill>
              <a:srgbClr val="EBBF03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经济学</a:t>
              </a: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C5AE3621-0328-95FA-E4B7-530CB39C966A}"/>
                </a:ext>
              </a:extLst>
            </p:cNvPr>
            <p:cNvSpPr txBox="1">
              <a:spLocks/>
            </p:cNvSpPr>
            <p:nvPr>
              <p:custDataLst>
                <p:tags r:id="rId62"/>
              </p:custDataLst>
            </p:nvPr>
          </p:nvSpPr>
          <p:spPr>
            <a:xfrm>
              <a:off x="9299359" y="5168895"/>
              <a:ext cx="965200" cy="939801"/>
            </a:xfrm>
            <a:prstGeom prst="rect">
              <a:avLst/>
            </a:prstGeom>
            <a:solidFill>
              <a:srgbClr val="EBBF03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金融学</a:t>
              </a: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045D517C-B320-9410-0DE2-4AE5966A8282}"/>
                </a:ext>
              </a:extLst>
            </p:cNvPr>
            <p:cNvSpPr txBox="1">
              <a:spLocks/>
            </p:cNvSpPr>
            <p:nvPr>
              <p:custDataLst>
                <p:tags r:id="rId63"/>
              </p:custDataLst>
            </p:nvPr>
          </p:nvSpPr>
          <p:spPr>
            <a:xfrm>
              <a:off x="10298988" y="5168900"/>
              <a:ext cx="965200" cy="939801"/>
            </a:xfrm>
            <a:prstGeom prst="rect">
              <a:avLst/>
            </a:prstGeom>
            <a:solidFill>
              <a:srgbClr val="EBBF03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学术理论</a:t>
              </a:r>
            </a:p>
          </p:txBody>
        </p:sp>
      </p:grpSp>
      <p:sp>
        <p:nvSpPr>
          <p:cNvPr id="80" name="文本框 79">
            <a:extLst>
              <a:ext uri="{FF2B5EF4-FFF2-40B4-BE49-F238E27FC236}">
                <a16:creationId xmlns:a16="http://schemas.microsoft.com/office/drawing/2014/main" id="{9F029C55-9D07-9ABE-808C-D9641529439F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665043" y="798085"/>
            <a:ext cx="724713" cy="1726610"/>
          </a:xfrm>
          <a:prstGeom prst="rect">
            <a:avLst/>
          </a:prstGeom>
          <a:solidFill>
            <a:srgbClr val="00A7FA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1.5</a:t>
            </a: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亿技术博客</a:t>
            </a: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3FA292B4-09BD-0A31-F6D0-32B6F955315F}"/>
              </a:ext>
            </a:extLst>
          </p:cNvPr>
          <p:cNvGrpSpPr/>
          <p:nvPr/>
        </p:nvGrpSpPr>
        <p:grpSpPr>
          <a:xfrm>
            <a:off x="1538763" y="830235"/>
            <a:ext cx="3090776" cy="1705216"/>
            <a:chOff x="5001238" y="908442"/>
            <a:chExt cx="3090776" cy="1224403"/>
          </a:xfrm>
        </p:grpSpPr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0582288C-4938-E688-77C0-4F449F0C465C}"/>
                </a:ext>
              </a:extLst>
            </p:cNvPr>
            <p:cNvSpPr txBox="1">
              <a:spLocks/>
            </p:cNvSpPr>
            <p:nvPr>
              <p:custDataLst>
                <p:tags r:id="rId39"/>
              </p:custDataLst>
            </p:nvPr>
          </p:nvSpPr>
          <p:spPr>
            <a:xfrm>
              <a:off x="5002762" y="908442"/>
              <a:ext cx="3089252" cy="1215892"/>
            </a:xfrm>
            <a:prstGeom prst="rect">
              <a:avLst/>
            </a:prstGeom>
            <a:solidFill>
              <a:srgbClr val="00A7FA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endPara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B338D7CB-C7F1-0108-1DBA-433C43D630DA}"/>
                </a:ext>
              </a:extLst>
            </p:cNvPr>
            <p:cNvSpPr txBox="1">
              <a:spLocks/>
            </p:cNvSpPr>
            <p:nvPr>
              <p:custDataLst>
                <p:tags r:id="rId40"/>
              </p:custDataLst>
            </p:nvPr>
          </p:nvSpPr>
          <p:spPr>
            <a:xfrm>
              <a:off x="5002762" y="925466"/>
              <a:ext cx="3089252" cy="359018"/>
            </a:xfrm>
            <a:prstGeom prst="rect">
              <a:avLst/>
            </a:prstGeom>
            <a:solidFill>
              <a:srgbClr val="00A7FA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软件开发</a:t>
              </a: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7E110322-DFEA-A6C7-D5C9-B631887EFC37}"/>
                </a:ext>
              </a:extLst>
            </p:cNvPr>
            <p:cNvSpPr txBox="1">
              <a:spLocks/>
            </p:cNvSpPr>
            <p:nvPr>
              <p:custDataLst>
                <p:tags r:id="rId41"/>
              </p:custDataLst>
            </p:nvPr>
          </p:nvSpPr>
          <p:spPr>
            <a:xfrm>
              <a:off x="5001238" y="1284484"/>
              <a:ext cx="747027" cy="839850"/>
            </a:xfrm>
            <a:prstGeom prst="rect">
              <a:avLst/>
            </a:prstGeom>
            <a:solidFill>
              <a:srgbClr val="00A7FA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软件工程</a:t>
              </a: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F12824CD-328E-07B5-D1E5-B1A623612F80}"/>
                </a:ext>
              </a:extLst>
            </p:cNvPr>
            <p:cNvSpPr txBox="1">
              <a:spLocks/>
            </p:cNvSpPr>
            <p:nvPr>
              <p:custDataLst>
                <p:tags r:id="rId42"/>
              </p:custDataLst>
            </p:nvPr>
          </p:nvSpPr>
          <p:spPr>
            <a:xfrm>
              <a:off x="5783846" y="1292995"/>
              <a:ext cx="747027" cy="839850"/>
            </a:xfrm>
            <a:prstGeom prst="rect">
              <a:avLst/>
            </a:prstGeom>
            <a:solidFill>
              <a:srgbClr val="00A7FA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软件测试</a:t>
              </a: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021E2E3E-1392-C9BE-F012-F77441E2C5FE}"/>
                </a:ext>
              </a:extLst>
            </p:cNvPr>
            <p:cNvSpPr txBox="1">
              <a:spLocks/>
            </p:cNvSpPr>
            <p:nvPr>
              <p:custDataLst>
                <p:tags r:id="rId43"/>
              </p:custDataLst>
            </p:nvPr>
          </p:nvSpPr>
          <p:spPr>
            <a:xfrm>
              <a:off x="6578317" y="1292994"/>
              <a:ext cx="747027" cy="839850"/>
            </a:xfrm>
            <a:prstGeom prst="rect">
              <a:avLst/>
            </a:prstGeom>
            <a:solidFill>
              <a:srgbClr val="00A7FA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开发工具</a:t>
              </a: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AFE068AD-4465-D115-BB6E-0A34E045B7B8}"/>
                </a:ext>
              </a:extLst>
            </p:cNvPr>
            <p:cNvSpPr txBox="1">
              <a:spLocks/>
            </p:cNvSpPr>
            <p:nvPr>
              <p:custDataLst>
                <p:tags r:id="rId44"/>
              </p:custDataLst>
            </p:nvPr>
          </p:nvSpPr>
          <p:spPr>
            <a:xfrm>
              <a:off x="7341631" y="1284483"/>
              <a:ext cx="747027" cy="839850"/>
            </a:xfrm>
            <a:prstGeom prst="rect">
              <a:avLst/>
            </a:prstGeom>
            <a:solidFill>
              <a:srgbClr val="00A7FA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开发环境</a:t>
              </a:r>
            </a:p>
          </p:txBody>
        </p: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7F97DC85-68B4-564E-0745-9E4812BD61BC}"/>
              </a:ext>
            </a:extLst>
          </p:cNvPr>
          <p:cNvGrpSpPr/>
          <p:nvPr/>
        </p:nvGrpSpPr>
        <p:grpSpPr>
          <a:xfrm>
            <a:off x="8344325" y="2827248"/>
            <a:ext cx="3121485" cy="1620589"/>
            <a:chOff x="5001238" y="908442"/>
            <a:chExt cx="3090776" cy="1224403"/>
          </a:xfrm>
          <a:solidFill>
            <a:schemeClr val="accent6"/>
          </a:solidFill>
        </p:grpSpPr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7766C9C7-6D8B-4FA3-DA62-9390F6A7A4EB}"/>
                </a:ext>
              </a:extLst>
            </p:cNvPr>
            <p:cNvSpPr txBox="1">
              <a:spLocks/>
            </p:cNvSpPr>
            <p:nvPr>
              <p:custDataLst>
                <p:tags r:id="rId33"/>
              </p:custDataLst>
            </p:nvPr>
          </p:nvSpPr>
          <p:spPr>
            <a:xfrm>
              <a:off x="5002762" y="908442"/>
              <a:ext cx="3089252" cy="1215892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endPara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4A414693-64E2-9FE6-D9B6-A9646D9BACE7}"/>
                </a:ext>
              </a:extLst>
            </p:cNvPr>
            <p:cNvSpPr txBox="1">
              <a:spLocks/>
            </p:cNvSpPr>
            <p:nvPr>
              <p:custDataLst>
                <p:tags r:id="rId34"/>
              </p:custDataLst>
            </p:nvPr>
          </p:nvSpPr>
          <p:spPr>
            <a:xfrm>
              <a:off x="5002762" y="925466"/>
              <a:ext cx="3089252" cy="35901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前沿技术</a:t>
              </a: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66AC85EE-0BA9-696F-DE93-37079D0C8EFD}"/>
                </a:ext>
              </a:extLst>
            </p:cNvPr>
            <p:cNvSpPr txBox="1">
              <a:spLocks/>
            </p:cNvSpPr>
            <p:nvPr>
              <p:custDataLst>
                <p:tags r:id="rId35"/>
              </p:custDataLst>
            </p:nvPr>
          </p:nvSpPr>
          <p:spPr>
            <a:xfrm>
              <a:off x="5001238" y="1284484"/>
              <a:ext cx="747027" cy="839850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人工智能</a:t>
              </a:r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EF846CFC-FB03-E7C5-86C6-3786D62BA3B3}"/>
                </a:ext>
              </a:extLst>
            </p:cNvPr>
            <p:cNvSpPr txBox="1">
              <a:spLocks/>
            </p:cNvSpPr>
            <p:nvPr>
              <p:custDataLst>
                <p:tags r:id="rId36"/>
              </p:custDataLst>
            </p:nvPr>
          </p:nvSpPr>
          <p:spPr>
            <a:xfrm>
              <a:off x="5783846" y="1292995"/>
              <a:ext cx="747027" cy="839850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区块链</a:t>
              </a:r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C7C66247-8171-0C91-F3B7-847AD83E9829}"/>
                </a:ext>
              </a:extLst>
            </p:cNvPr>
            <p:cNvSpPr txBox="1">
              <a:spLocks/>
            </p:cNvSpPr>
            <p:nvPr>
              <p:custDataLst>
                <p:tags r:id="rId37"/>
              </p:custDataLst>
            </p:nvPr>
          </p:nvSpPr>
          <p:spPr>
            <a:xfrm>
              <a:off x="6578317" y="1292994"/>
              <a:ext cx="747027" cy="839850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AIGC</a:t>
              </a:r>
              <a:endPara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5952FAB4-22A0-2EF5-8DB3-6F7270E4B2F6}"/>
                </a:ext>
              </a:extLst>
            </p:cNvPr>
            <p:cNvSpPr txBox="1">
              <a:spLocks/>
            </p:cNvSpPr>
            <p:nvPr>
              <p:custDataLst>
                <p:tags r:id="rId38"/>
              </p:custDataLst>
            </p:nvPr>
          </p:nvSpPr>
          <p:spPr>
            <a:xfrm>
              <a:off x="7362651" y="1284483"/>
              <a:ext cx="729363" cy="839850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鸿蒙</a:t>
              </a:r>
              <a:r>
                <a:rPr lang="en-US" altLang="zh-CN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OS</a:t>
              </a:r>
              <a:endPara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72F78E4B-DDF1-3F90-3F46-576E1D50EB2E}"/>
              </a:ext>
            </a:extLst>
          </p:cNvPr>
          <p:cNvGrpSpPr/>
          <p:nvPr/>
        </p:nvGrpSpPr>
        <p:grpSpPr>
          <a:xfrm>
            <a:off x="4976914" y="2821215"/>
            <a:ext cx="3097358" cy="1610973"/>
            <a:chOff x="5001238" y="908442"/>
            <a:chExt cx="3100370" cy="1224403"/>
          </a:xfrm>
          <a:solidFill>
            <a:schemeClr val="accent6"/>
          </a:solidFill>
        </p:grpSpPr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7AC580CB-11C4-271F-4D7F-7D6B5927CB3B}"/>
                </a:ext>
              </a:extLst>
            </p:cNvPr>
            <p:cNvSpPr txBox="1">
              <a:spLocks/>
            </p:cNvSpPr>
            <p:nvPr>
              <p:custDataLst>
                <p:tags r:id="rId27"/>
              </p:custDataLst>
            </p:nvPr>
          </p:nvSpPr>
          <p:spPr>
            <a:xfrm>
              <a:off x="5002762" y="908442"/>
              <a:ext cx="3089252" cy="1215892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endPara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4CF88B20-150E-3641-83A9-BC3870FC7485}"/>
                </a:ext>
              </a:extLst>
            </p:cNvPr>
            <p:cNvSpPr txBox="1">
              <a:spLocks/>
            </p:cNvSpPr>
            <p:nvPr>
              <p:custDataLst>
                <p:tags r:id="rId28"/>
              </p:custDataLst>
            </p:nvPr>
          </p:nvSpPr>
          <p:spPr>
            <a:xfrm>
              <a:off x="5002762" y="925466"/>
              <a:ext cx="3089252" cy="35901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开发技术栈</a:t>
              </a:r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4B98B01F-1480-A4BB-9B5E-1ABC288F8102}"/>
                </a:ext>
              </a:extLst>
            </p:cNvPr>
            <p:cNvSpPr txBox="1">
              <a:spLocks/>
            </p:cNvSpPr>
            <p:nvPr>
              <p:custDataLst>
                <p:tags r:id="rId29"/>
              </p:custDataLst>
            </p:nvPr>
          </p:nvSpPr>
          <p:spPr>
            <a:xfrm>
              <a:off x="5001238" y="1284484"/>
              <a:ext cx="747027" cy="839850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前端</a:t>
              </a:r>
            </a:p>
          </p:txBody>
        </p: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17C1C7A7-4933-4E38-7B73-F97569CC7C52}"/>
                </a:ext>
              </a:extLst>
            </p:cNvPr>
            <p:cNvSpPr txBox="1">
              <a:spLocks/>
            </p:cNvSpPr>
            <p:nvPr>
              <p:custDataLst>
                <p:tags r:id="rId30"/>
              </p:custDataLst>
            </p:nvPr>
          </p:nvSpPr>
          <p:spPr>
            <a:xfrm>
              <a:off x="5783846" y="1292995"/>
              <a:ext cx="747027" cy="839850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后端</a:t>
              </a:r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725D6236-6D1A-27E9-8386-3EA1FCE66B6D}"/>
                </a:ext>
              </a:extLst>
            </p:cNvPr>
            <p:cNvSpPr txBox="1">
              <a:spLocks/>
            </p:cNvSpPr>
            <p:nvPr>
              <p:custDataLst>
                <p:tags r:id="rId31"/>
              </p:custDataLst>
            </p:nvPr>
          </p:nvSpPr>
          <p:spPr>
            <a:xfrm>
              <a:off x="6578317" y="1292994"/>
              <a:ext cx="747027" cy="839850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移动</a:t>
              </a:r>
            </a:p>
          </p:txBody>
        </p: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0453916B-D7CB-4A76-52F2-2F3EC478C1B3}"/>
                </a:ext>
              </a:extLst>
            </p:cNvPr>
            <p:cNvSpPr txBox="1">
              <a:spLocks/>
            </p:cNvSpPr>
            <p:nvPr>
              <p:custDataLst>
                <p:tags r:id="rId32"/>
              </p:custDataLst>
            </p:nvPr>
          </p:nvSpPr>
          <p:spPr>
            <a:xfrm>
              <a:off x="7362651" y="1284483"/>
              <a:ext cx="738957" cy="839850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跨平台</a:t>
              </a:r>
            </a:p>
          </p:txBody>
        </p: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EC81610E-B802-5BF9-BDC5-E621E135FBC4}"/>
              </a:ext>
            </a:extLst>
          </p:cNvPr>
          <p:cNvGrpSpPr/>
          <p:nvPr/>
        </p:nvGrpSpPr>
        <p:grpSpPr>
          <a:xfrm>
            <a:off x="8371792" y="872606"/>
            <a:ext cx="3090776" cy="1654272"/>
            <a:chOff x="5001238" y="908442"/>
            <a:chExt cx="3090776" cy="1224403"/>
          </a:xfrm>
        </p:grpSpPr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2660148B-6CE7-8209-5C3B-565499DD89CA}"/>
                </a:ext>
              </a:extLst>
            </p:cNvPr>
            <p:cNvSpPr txBox="1">
              <a:spLocks/>
            </p:cNvSpPr>
            <p:nvPr>
              <p:custDataLst>
                <p:tags r:id="rId21"/>
              </p:custDataLst>
            </p:nvPr>
          </p:nvSpPr>
          <p:spPr>
            <a:xfrm>
              <a:off x="5002762" y="908442"/>
              <a:ext cx="3089252" cy="1215892"/>
            </a:xfrm>
            <a:prstGeom prst="rect">
              <a:avLst/>
            </a:prstGeom>
            <a:solidFill>
              <a:srgbClr val="00A7FA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endPara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7E36956E-BEA1-A49F-4C58-DCC86E078A79}"/>
                </a:ext>
              </a:extLst>
            </p:cNvPr>
            <p:cNvSpPr txBox="1">
              <a:spLocks/>
            </p:cNvSpPr>
            <p:nvPr>
              <p:custDataLst>
                <p:tags r:id="rId22"/>
              </p:custDataLst>
            </p:nvPr>
          </p:nvSpPr>
          <p:spPr>
            <a:xfrm>
              <a:off x="5002762" y="925466"/>
              <a:ext cx="3089252" cy="359018"/>
            </a:xfrm>
            <a:prstGeom prst="rect">
              <a:avLst/>
            </a:prstGeom>
            <a:solidFill>
              <a:srgbClr val="00A7FA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专业领域</a:t>
              </a:r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0F3CF7B0-5972-EB64-9557-56548A950C25}"/>
                </a:ext>
              </a:extLst>
            </p:cNvPr>
            <p:cNvSpPr txBox="1">
              <a:spLocks/>
            </p:cNvSpPr>
            <p:nvPr>
              <p:custDataLst>
                <p:tags r:id="rId23"/>
              </p:custDataLst>
            </p:nvPr>
          </p:nvSpPr>
          <p:spPr>
            <a:xfrm>
              <a:off x="5001238" y="1284484"/>
              <a:ext cx="747027" cy="839850"/>
            </a:xfrm>
            <a:prstGeom prst="rect">
              <a:avLst/>
            </a:prstGeom>
            <a:solidFill>
              <a:srgbClr val="00A7FA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大数据</a:t>
              </a:r>
            </a:p>
          </p:txBody>
        </p: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7B0E4A62-5A81-DC62-C9A4-091A4677DEE0}"/>
                </a:ext>
              </a:extLst>
            </p:cNvPr>
            <p:cNvSpPr txBox="1">
              <a:spLocks/>
            </p:cNvSpPr>
            <p:nvPr>
              <p:custDataLst>
                <p:tags r:id="rId24"/>
              </p:custDataLst>
            </p:nvPr>
          </p:nvSpPr>
          <p:spPr>
            <a:xfrm>
              <a:off x="5783846" y="1292995"/>
              <a:ext cx="747027" cy="839850"/>
            </a:xfrm>
            <a:prstGeom prst="rect">
              <a:avLst/>
            </a:prstGeom>
            <a:solidFill>
              <a:srgbClr val="00A7FA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数据库</a:t>
              </a:r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B1755FE4-F0CB-E6A0-8C33-BC45F70F374A}"/>
                </a:ext>
              </a:extLst>
            </p:cNvPr>
            <p:cNvSpPr txBox="1">
              <a:spLocks/>
            </p:cNvSpPr>
            <p:nvPr>
              <p:custDataLst>
                <p:tags r:id="rId25"/>
              </p:custDataLst>
            </p:nvPr>
          </p:nvSpPr>
          <p:spPr>
            <a:xfrm>
              <a:off x="6578317" y="1292994"/>
              <a:ext cx="747027" cy="839850"/>
            </a:xfrm>
            <a:prstGeom prst="rect">
              <a:avLst/>
            </a:prstGeom>
            <a:solidFill>
              <a:srgbClr val="00A7FA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音视频</a:t>
              </a:r>
            </a:p>
          </p:txBody>
        </p: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E08948D6-3690-8B1C-D9E7-FC090BFF63FD}"/>
                </a:ext>
              </a:extLst>
            </p:cNvPr>
            <p:cNvSpPr txBox="1">
              <a:spLocks/>
            </p:cNvSpPr>
            <p:nvPr>
              <p:custDataLst>
                <p:tags r:id="rId26"/>
              </p:custDataLst>
            </p:nvPr>
          </p:nvSpPr>
          <p:spPr>
            <a:xfrm>
              <a:off x="7362651" y="1284483"/>
              <a:ext cx="729363" cy="839850"/>
            </a:xfrm>
            <a:prstGeom prst="rect">
              <a:avLst/>
            </a:prstGeom>
            <a:solidFill>
              <a:srgbClr val="00A7FA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3D</a:t>
              </a:r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模型</a:t>
              </a:r>
            </a:p>
          </p:txBody>
        </p: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41C43DA2-1D0D-363D-D1E4-C0B95884B4DC}"/>
              </a:ext>
            </a:extLst>
          </p:cNvPr>
          <p:cNvGrpSpPr/>
          <p:nvPr/>
        </p:nvGrpSpPr>
        <p:grpSpPr>
          <a:xfrm>
            <a:off x="4981468" y="849062"/>
            <a:ext cx="3090776" cy="1693363"/>
            <a:chOff x="5001238" y="908442"/>
            <a:chExt cx="3090776" cy="1224403"/>
          </a:xfrm>
        </p:grpSpPr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64CC47E6-B60E-9753-6F6E-578B3CA53B03}"/>
                </a:ext>
              </a:extLst>
            </p:cNvPr>
            <p:cNvSpPr txBox="1">
              <a:spLocks/>
            </p:cNvSpPr>
            <p:nvPr>
              <p:custDataLst>
                <p:tags r:id="rId15"/>
              </p:custDataLst>
            </p:nvPr>
          </p:nvSpPr>
          <p:spPr>
            <a:xfrm>
              <a:off x="5002762" y="908442"/>
              <a:ext cx="3089252" cy="1215892"/>
            </a:xfrm>
            <a:prstGeom prst="rect">
              <a:avLst/>
            </a:prstGeom>
            <a:solidFill>
              <a:srgbClr val="00A7FA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endPara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374324B5-2687-8AD7-7175-B0D6188B8AA6}"/>
                </a:ext>
              </a:extLst>
            </p:cNvPr>
            <p:cNvSpPr txBox="1">
              <a:spLocks/>
            </p:cNvSpPr>
            <p:nvPr>
              <p:custDataLst>
                <p:tags r:id="rId16"/>
              </p:custDataLst>
            </p:nvPr>
          </p:nvSpPr>
          <p:spPr>
            <a:xfrm>
              <a:off x="5002762" y="925466"/>
              <a:ext cx="3089252" cy="359018"/>
            </a:xfrm>
            <a:prstGeom prst="rect">
              <a:avLst/>
            </a:prstGeom>
            <a:solidFill>
              <a:srgbClr val="00A7FA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行业应用</a:t>
              </a:r>
            </a:p>
          </p:txBody>
        </p: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BFB9AB11-EC3F-E534-9B52-57988EA028FF}"/>
                </a:ext>
              </a:extLst>
            </p:cNvPr>
            <p:cNvSpPr txBox="1">
              <a:spLocks/>
            </p:cNvSpPr>
            <p:nvPr>
              <p:custDataLst>
                <p:tags r:id="rId17"/>
              </p:custDataLst>
            </p:nvPr>
          </p:nvSpPr>
          <p:spPr>
            <a:xfrm>
              <a:off x="5001238" y="1284484"/>
              <a:ext cx="747027" cy="839850"/>
            </a:xfrm>
            <a:prstGeom prst="rect">
              <a:avLst/>
            </a:prstGeom>
            <a:solidFill>
              <a:srgbClr val="00A7FA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行业研究</a:t>
              </a: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D250DC0A-B64B-8119-12D5-34E41BBA935B}"/>
                </a:ext>
              </a:extLst>
            </p:cNvPr>
            <p:cNvSpPr txBox="1">
              <a:spLocks/>
            </p:cNvSpPr>
            <p:nvPr>
              <p:custDataLst>
                <p:tags r:id="rId18"/>
              </p:custDataLst>
            </p:nvPr>
          </p:nvSpPr>
          <p:spPr>
            <a:xfrm>
              <a:off x="5783846" y="1292995"/>
              <a:ext cx="747027" cy="839850"/>
            </a:xfrm>
            <a:prstGeom prst="rect">
              <a:avLst/>
            </a:prstGeom>
            <a:solidFill>
              <a:srgbClr val="00A7FA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信息化管理</a:t>
              </a:r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7B568091-ABFC-C6C0-FD7C-C74B2C75C8CD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>
            <a:xfrm>
              <a:off x="6578317" y="1292994"/>
              <a:ext cx="747027" cy="839850"/>
            </a:xfrm>
            <a:prstGeom prst="rect">
              <a:avLst/>
            </a:prstGeom>
            <a:solidFill>
              <a:srgbClr val="00A7FA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物联网</a:t>
              </a:r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E07FC47D-1005-C668-12B4-C43417526673}"/>
                </a:ext>
              </a:extLst>
            </p:cNvPr>
            <p:cNvSpPr txBox="1">
              <a:spLocks/>
            </p:cNvSpPr>
            <p:nvPr>
              <p:custDataLst>
                <p:tags r:id="rId20"/>
              </p:custDataLst>
            </p:nvPr>
          </p:nvSpPr>
          <p:spPr>
            <a:xfrm>
              <a:off x="7362651" y="1284483"/>
              <a:ext cx="727839" cy="839850"/>
            </a:xfrm>
            <a:prstGeom prst="rect">
              <a:avLst/>
            </a:prstGeom>
            <a:solidFill>
              <a:srgbClr val="00A7FA"/>
            </a:solidFill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云计算</a:t>
              </a:r>
            </a:p>
          </p:txBody>
        </p: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F7136AC6-AB7B-19D0-B897-1D2548A24B0A}"/>
              </a:ext>
            </a:extLst>
          </p:cNvPr>
          <p:cNvGrpSpPr/>
          <p:nvPr/>
        </p:nvGrpSpPr>
        <p:grpSpPr>
          <a:xfrm>
            <a:off x="1535750" y="2797010"/>
            <a:ext cx="3089252" cy="1650827"/>
            <a:chOff x="1626272" y="908442"/>
            <a:chExt cx="3098326" cy="1224403"/>
          </a:xfrm>
          <a:solidFill>
            <a:schemeClr val="accent6"/>
          </a:solidFill>
        </p:grpSpPr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4CA8CB92-6A0B-9CA0-C0F7-6F4D5DCF9C52}"/>
                </a:ext>
              </a:extLst>
            </p:cNvPr>
            <p:cNvSpPr txBox="1">
              <a:spLocks/>
            </p:cNvSpPr>
            <p:nvPr>
              <p:custDataLst>
                <p:tags r:id="rId10"/>
              </p:custDataLst>
            </p:nvPr>
          </p:nvSpPr>
          <p:spPr>
            <a:xfrm>
              <a:off x="1635346" y="908442"/>
              <a:ext cx="3089252" cy="1215892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endPara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73C6CC00-751F-95E8-D3FD-5EE467DCB1B2}"/>
                </a:ext>
              </a:extLst>
            </p:cNvPr>
            <p:cNvSpPr txBox="1">
              <a:spLocks/>
            </p:cNvSpPr>
            <p:nvPr>
              <p:custDataLst>
                <p:tags r:id="rId11"/>
              </p:custDataLst>
            </p:nvPr>
          </p:nvSpPr>
          <p:spPr>
            <a:xfrm>
              <a:off x="1626272" y="925466"/>
              <a:ext cx="3089252" cy="35901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认证与资源</a:t>
              </a:r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47CE7482-D1C3-8238-CABC-E4C766012A53}"/>
                </a:ext>
              </a:extLst>
            </p:cNvPr>
            <p:cNvSpPr txBox="1">
              <a:spLocks/>
            </p:cNvSpPr>
            <p:nvPr>
              <p:custDataLst>
                <p:tags r:id="rId12"/>
              </p:custDataLst>
            </p:nvPr>
          </p:nvSpPr>
          <p:spPr>
            <a:xfrm>
              <a:off x="1635346" y="1284483"/>
              <a:ext cx="994844" cy="839850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考试认证</a:t>
              </a:r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C7BD8CAB-F88A-53A1-EFBF-6DF39B017926}"/>
                </a:ext>
              </a:extLst>
            </p:cNvPr>
            <p:cNvSpPr txBox="1">
              <a:spLocks/>
            </p:cNvSpPr>
            <p:nvPr>
              <p:custDataLst>
                <p:tags r:id="rId13"/>
              </p:custDataLst>
            </p:nvPr>
          </p:nvSpPr>
          <p:spPr>
            <a:xfrm>
              <a:off x="2670000" y="1292995"/>
              <a:ext cx="994844" cy="839850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课程资源</a:t>
              </a:r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63B60B9E-4B2F-31D7-579F-D20B5C63C456}"/>
                </a:ext>
              </a:extLst>
            </p:cNvPr>
            <p:cNvSpPr txBox="1">
              <a:spLocks/>
            </p:cNvSpPr>
            <p:nvPr>
              <p:custDataLst>
                <p:tags r:id="rId14"/>
              </p:custDataLst>
            </p:nvPr>
          </p:nvSpPr>
          <p:spPr>
            <a:xfrm>
              <a:off x="3724735" y="1292995"/>
              <a:ext cx="994844" cy="839850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开源项目</a:t>
              </a:r>
            </a:p>
          </p:txBody>
        </p:sp>
      </p:grpSp>
      <p:sp>
        <p:nvSpPr>
          <p:cNvPr id="145" name="文本框 144">
            <a:extLst>
              <a:ext uri="{FF2B5EF4-FFF2-40B4-BE49-F238E27FC236}">
                <a16:creationId xmlns:a16="http://schemas.microsoft.com/office/drawing/2014/main" id="{46AB9843-F7AA-5E71-67F2-259BB0C4DA0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184129" y="5966920"/>
            <a:ext cx="2154429" cy="453972"/>
          </a:xfrm>
          <a:prstGeom prst="rect">
            <a:avLst/>
          </a:prstGeom>
          <a:solidFill>
            <a:srgbClr val="EBBF03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非线性科学</a:t>
            </a: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4409F3A3-01BD-65B9-3E26-CB1D630CEF4D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6704092" y="5967966"/>
            <a:ext cx="2154429" cy="453972"/>
          </a:xfrm>
          <a:prstGeom prst="rect">
            <a:avLst/>
          </a:prstGeom>
          <a:solidFill>
            <a:srgbClr val="EBBF03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数学物理</a:t>
            </a: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FECE65BA-2469-ECBD-9FA1-90AA6CD6631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9273924" y="5964711"/>
            <a:ext cx="2154429" cy="453972"/>
          </a:xfrm>
          <a:prstGeom prst="rect">
            <a:avLst/>
          </a:prstGeom>
          <a:solidFill>
            <a:srgbClr val="EBBF03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no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统计学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EF6A22E6-9B50-E2EE-26EA-039F1DB2E05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81452" y="761299"/>
            <a:ext cx="10928247" cy="1875964"/>
          </a:xfrm>
          <a:prstGeom prst="rect">
            <a:avLst/>
          </a:prstGeom>
          <a:ln w="38100" cap="flat" cmpd="sng" algn="ctr">
            <a:solidFill>
              <a:srgbClr val="00B0F0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Ins="179705" bIns="144145">
            <a:noAutofit/>
          </a:bodyPr>
          <a:lstStyle/>
          <a:p>
            <a:pPr algn="l">
              <a:lnSpc>
                <a:spcPct val="150000"/>
              </a:lnSpc>
            </a:pP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1F336C33-E7A6-F25D-4753-0313C5428BAD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81453" y="4607584"/>
            <a:ext cx="10928246" cy="1898319"/>
          </a:xfrm>
          <a:prstGeom prst="rect">
            <a:avLst/>
          </a:prstGeom>
          <a:ln w="38100" cap="flat" cmpd="sng" algn="ctr">
            <a:solidFill>
              <a:srgbClr val="FFC000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Ins="179705" bIns="144145">
            <a:noAutofit/>
          </a:bodyPr>
          <a:lstStyle/>
          <a:p>
            <a:pPr algn="l">
              <a:lnSpc>
                <a:spcPct val="150000"/>
              </a:lnSpc>
            </a:pP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C74CFB73-AD3A-4FFF-A6DF-E30B63556E26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81451" y="2697263"/>
            <a:ext cx="10928247" cy="1875964"/>
          </a:xfrm>
          <a:prstGeom prst="rect">
            <a:avLst/>
          </a:prstGeom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Ins="179705" bIns="144145">
            <a:noAutofit/>
          </a:bodyPr>
          <a:lstStyle/>
          <a:p>
            <a:pPr algn="l">
              <a:lnSpc>
                <a:spcPct val="150000"/>
              </a:lnSpc>
            </a:pP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9368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7417175-EC15-474F-907F-4D89BDE61D14}"/>
              </a:ext>
            </a:extLst>
          </p:cNvPr>
          <p:cNvGrpSpPr/>
          <p:nvPr/>
        </p:nvGrpSpPr>
        <p:grpSpPr>
          <a:xfrm>
            <a:off x="581453" y="68717"/>
            <a:ext cx="11029093" cy="467995"/>
            <a:chOff x="713" y="367"/>
            <a:chExt cx="11412" cy="737"/>
          </a:xfrm>
        </p:grpSpPr>
        <p:sp>
          <p:nvSpPr>
            <p:cNvPr id="5" name="燕尾形 30">
              <a:extLst>
                <a:ext uri="{FF2B5EF4-FFF2-40B4-BE49-F238E27FC236}">
                  <a16:creationId xmlns:a16="http://schemas.microsoft.com/office/drawing/2014/main" id="{518B7CCC-2280-45AD-9C59-6B94CE70CC0C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rot="10800000">
              <a:off x="1443" y="367"/>
              <a:ext cx="2907" cy="737"/>
            </a:xfrm>
            <a:prstGeom prst="chevron">
              <a:avLst>
                <a:gd name="adj" fmla="val 3708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" name="燕尾形 30">
              <a:extLst>
                <a:ext uri="{FF2B5EF4-FFF2-40B4-BE49-F238E27FC236}">
                  <a16:creationId xmlns:a16="http://schemas.microsoft.com/office/drawing/2014/main" id="{7ABF8D45-B73E-40E3-92E0-99F932F58253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10800000" flipH="1">
              <a:off x="3422" y="367"/>
              <a:ext cx="8703" cy="737"/>
            </a:xfrm>
            <a:prstGeom prst="chevron">
              <a:avLst>
                <a:gd name="adj" fmla="val 3708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Box 17">
              <a:extLst>
                <a:ext uri="{FF2B5EF4-FFF2-40B4-BE49-F238E27FC236}">
                  <a16:creationId xmlns:a16="http://schemas.microsoft.com/office/drawing/2014/main" id="{126F34E2-6B3D-437A-AF1D-10959AB8107D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1630" y="373"/>
              <a:ext cx="10184" cy="72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anchor="t">
              <a:spAutoFit/>
            </a:bodyPr>
            <a:lstStyle>
              <a:lvl1pPr marL="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1pPr>
              <a:lvl2pPr marL="4572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2pPr>
              <a:lvl3pPr marL="9144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3pPr>
              <a:lvl4pPr marL="13716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4pPr>
              <a:lvl5pPr marL="18288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5pPr>
            </a:lstStyle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传统前后端架构挑战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——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以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ITADN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为例</a:t>
              </a:r>
            </a:p>
          </p:txBody>
        </p:sp>
        <p:sp>
          <p:nvSpPr>
            <p:cNvPr id="8" name="任意多边形: 形状 9">
              <a:extLst>
                <a:ext uri="{FF2B5EF4-FFF2-40B4-BE49-F238E27FC236}">
                  <a16:creationId xmlns:a16="http://schemas.microsoft.com/office/drawing/2014/main" id="{A081FDA5-66DD-48B3-8B05-6E251899AD4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10800000">
              <a:off x="107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" name="任意多边形: 形状 10">
              <a:extLst>
                <a:ext uri="{FF2B5EF4-FFF2-40B4-BE49-F238E27FC236}">
                  <a16:creationId xmlns:a16="http://schemas.microsoft.com/office/drawing/2014/main" id="{2485EA5D-1B14-4EF8-A5D6-1D5797BF0F4F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0800000">
              <a:off x="71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84A4DB8-9AAF-417B-A678-F520B40A7C4B}"/>
              </a:ext>
            </a:extLst>
          </p:cNvPr>
          <p:cNvSpPr/>
          <p:nvPr/>
        </p:nvSpPr>
        <p:spPr>
          <a:xfrm>
            <a:off x="783447" y="781753"/>
            <a:ext cx="2151529" cy="89647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学术平台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a.itadn.com</a:t>
            </a:r>
            <a:endParaRPr lang="zh-CN" altLang="en-US" sz="2000" b="1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15A251E-AF11-47B0-A18A-536ADF73BF3F}"/>
              </a:ext>
            </a:extLst>
          </p:cNvPr>
          <p:cNvSpPr/>
          <p:nvPr/>
        </p:nvSpPr>
        <p:spPr>
          <a:xfrm>
            <a:off x="5253523" y="772787"/>
            <a:ext cx="2151529" cy="89647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源码平台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d.itadn.com</a:t>
            </a:r>
            <a:endParaRPr lang="zh-CN" altLang="en-US" sz="2000" b="1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D729C38-0A2E-409F-B91E-9613E36185DA}"/>
              </a:ext>
            </a:extLst>
          </p:cNvPr>
          <p:cNvSpPr/>
          <p:nvPr/>
        </p:nvSpPr>
        <p:spPr>
          <a:xfrm>
            <a:off x="3047161" y="781753"/>
            <a:ext cx="2151529" cy="89647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技术论坛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www.itadn.com</a:t>
            </a:r>
            <a:endParaRPr lang="zh-CN" altLang="en-US" sz="2000" b="1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795EA2E-27A7-4950-8C51-0797390098A6}"/>
              </a:ext>
            </a:extLst>
          </p:cNvPr>
          <p:cNvSpPr/>
          <p:nvPr/>
        </p:nvSpPr>
        <p:spPr>
          <a:xfrm>
            <a:off x="803654" y="2262101"/>
            <a:ext cx="2151529" cy="89647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后端系统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79F5C38-36F6-4A79-9797-23CEE2A75DB5}"/>
              </a:ext>
            </a:extLst>
          </p:cNvPr>
          <p:cNvSpPr/>
          <p:nvPr/>
        </p:nvSpPr>
        <p:spPr>
          <a:xfrm>
            <a:off x="1534241" y="5032196"/>
            <a:ext cx="594635" cy="174812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用户画像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4BDF700-9D4A-4218-B669-D9897203DC8E}"/>
              </a:ext>
            </a:extLst>
          </p:cNvPr>
          <p:cNvSpPr/>
          <p:nvPr/>
        </p:nvSpPr>
        <p:spPr>
          <a:xfrm>
            <a:off x="783447" y="3614601"/>
            <a:ext cx="2151529" cy="89647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PostgreSQL</a:t>
            </a:r>
            <a:endParaRPr lang="zh-CN" altLang="en-US" b="1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82E4302-3236-4EDB-962F-40E4BA2BB7BA}"/>
              </a:ext>
            </a:extLst>
          </p:cNvPr>
          <p:cNvSpPr/>
          <p:nvPr/>
        </p:nvSpPr>
        <p:spPr>
          <a:xfrm>
            <a:off x="5243559" y="3606810"/>
            <a:ext cx="2151529" cy="89647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/>
              <a:t>MinIO</a:t>
            </a:r>
            <a:r>
              <a:rPr lang="en-US" altLang="zh-CN" b="1" dirty="0"/>
              <a:t>/MongoDB</a:t>
            </a:r>
            <a:endParaRPr lang="zh-CN" altLang="en-US" b="1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37A93A9-1C73-4EF1-8548-17CFDE875B5B}"/>
              </a:ext>
            </a:extLst>
          </p:cNvPr>
          <p:cNvSpPr/>
          <p:nvPr/>
        </p:nvSpPr>
        <p:spPr>
          <a:xfrm>
            <a:off x="3047160" y="3640030"/>
            <a:ext cx="2151529" cy="89647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MySQL</a:t>
            </a:r>
            <a:endParaRPr lang="zh-CN" altLang="en-US" b="1" dirty="0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28B9312-5C39-4564-A533-85697F990694}"/>
              </a:ext>
            </a:extLst>
          </p:cNvPr>
          <p:cNvSpPr/>
          <p:nvPr/>
        </p:nvSpPr>
        <p:spPr>
          <a:xfrm>
            <a:off x="5253523" y="2198177"/>
            <a:ext cx="2151529" cy="89647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后端系统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FC40D56-C2A3-4B91-B2B3-8F3658E416EC}"/>
              </a:ext>
            </a:extLst>
          </p:cNvPr>
          <p:cNvSpPr/>
          <p:nvPr/>
        </p:nvSpPr>
        <p:spPr>
          <a:xfrm>
            <a:off x="3016540" y="2198177"/>
            <a:ext cx="2151529" cy="89647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后端系统</a:t>
            </a:r>
          </a:p>
        </p:txBody>
      </p:sp>
      <p:sp>
        <p:nvSpPr>
          <p:cNvPr id="23" name="箭头: 下 22">
            <a:extLst>
              <a:ext uri="{FF2B5EF4-FFF2-40B4-BE49-F238E27FC236}">
                <a16:creationId xmlns:a16="http://schemas.microsoft.com/office/drawing/2014/main" id="{E7706593-13AD-4149-82EB-BA986D1BD732}"/>
              </a:ext>
            </a:extLst>
          </p:cNvPr>
          <p:cNvSpPr/>
          <p:nvPr/>
        </p:nvSpPr>
        <p:spPr>
          <a:xfrm>
            <a:off x="1254093" y="1770212"/>
            <a:ext cx="1210235" cy="394449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DB624612-8DB4-4166-894C-6ABE8187A7F0}"/>
              </a:ext>
            </a:extLst>
          </p:cNvPr>
          <p:cNvSpPr/>
          <p:nvPr/>
        </p:nvSpPr>
        <p:spPr>
          <a:xfrm>
            <a:off x="5739532" y="4580321"/>
            <a:ext cx="1210235" cy="394449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下 24">
            <a:extLst>
              <a:ext uri="{FF2B5EF4-FFF2-40B4-BE49-F238E27FC236}">
                <a16:creationId xmlns:a16="http://schemas.microsoft.com/office/drawing/2014/main" id="{4A24255D-6165-4256-AAC5-57560BA9ED4C}"/>
              </a:ext>
            </a:extLst>
          </p:cNvPr>
          <p:cNvSpPr/>
          <p:nvPr/>
        </p:nvSpPr>
        <p:spPr>
          <a:xfrm>
            <a:off x="1226442" y="4587943"/>
            <a:ext cx="1210235" cy="394449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下 25">
            <a:extLst>
              <a:ext uri="{FF2B5EF4-FFF2-40B4-BE49-F238E27FC236}">
                <a16:creationId xmlns:a16="http://schemas.microsoft.com/office/drawing/2014/main" id="{7F6ECCE4-9BD6-4FF1-98FF-1FB63ED842C3}"/>
              </a:ext>
            </a:extLst>
          </p:cNvPr>
          <p:cNvSpPr/>
          <p:nvPr/>
        </p:nvSpPr>
        <p:spPr>
          <a:xfrm>
            <a:off x="3487184" y="4637748"/>
            <a:ext cx="1210235" cy="394449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下 26">
            <a:extLst>
              <a:ext uri="{FF2B5EF4-FFF2-40B4-BE49-F238E27FC236}">
                <a16:creationId xmlns:a16="http://schemas.microsoft.com/office/drawing/2014/main" id="{C891E755-7257-4BA2-8242-7736EF2ECA07}"/>
              </a:ext>
            </a:extLst>
          </p:cNvPr>
          <p:cNvSpPr/>
          <p:nvPr/>
        </p:nvSpPr>
        <p:spPr>
          <a:xfrm>
            <a:off x="5714205" y="3188130"/>
            <a:ext cx="1210235" cy="394449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下 27">
            <a:extLst>
              <a:ext uri="{FF2B5EF4-FFF2-40B4-BE49-F238E27FC236}">
                <a16:creationId xmlns:a16="http://schemas.microsoft.com/office/drawing/2014/main" id="{2F764B4A-EFB5-4598-850F-F01C15605B13}"/>
              </a:ext>
            </a:extLst>
          </p:cNvPr>
          <p:cNvSpPr/>
          <p:nvPr/>
        </p:nvSpPr>
        <p:spPr>
          <a:xfrm>
            <a:off x="1226442" y="3204565"/>
            <a:ext cx="1210235" cy="394449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下 28">
            <a:extLst>
              <a:ext uri="{FF2B5EF4-FFF2-40B4-BE49-F238E27FC236}">
                <a16:creationId xmlns:a16="http://schemas.microsoft.com/office/drawing/2014/main" id="{633CC386-6DFE-4004-AB3B-49DB891C7601}"/>
              </a:ext>
            </a:extLst>
          </p:cNvPr>
          <p:cNvSpPr/>
          <p:nvPr/>
        </p:nvSpPr>
        <p:spPr>
          <a:xfrm>
            <a:off x="3487185" y="3212361"/>
            <a:ext cx="1210235" cy="394449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下 29">
            <a:extLst>
              <a:ext uri="{FF2B5EF4-FFF2-40B4-BE49-F238E27FC236}">
                <a16:creationId xmlns:a16="http://schemas.microsoft.com/office/drawing/2014/main" id="{67C73CE5-DE88-4D48-96E9-A2CB190DAC5D}"/>
              </a:ext>
            </a:extLst>
          </p:cNvPr>
          <p:cNvSpPr/>
          <p:nvPr/>
        </p:nvSpPr>
        <p:spPr>
          <a:xfrm>
            <a:off x="5724168" y="1761248"/>
            <a:ext cx="1210235" cy="394449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下 30">
            <a:extLst>
              <a:ext uri="{FF2B5EF4-FFF2-40B4-BE49-F238E27FC236}">
                <a16:creationId xmlns:a16="http://schemas.microsoft.com/office/drawing/2014/main" id="{22331508-F368-4F94-B8C9-FB9D8DCBCA3B}"/>
              </a:ext>
            </a:extLst>
          </p:cNvPr>
          <p:cNvSpPr/>
          <p:nvPr/>
        </p:nvSpPr>
        <p:spPr>
          <a:xfrm>
            <a:off x="3487186" y="1751112"/>
            <a:ext cx="1210235" cy="394449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2248FC65-2431-41FB-A683-38E7984BDD21}"/>
              </a:ext>
            </a:extLst>
          </p:cNvPr>
          <p:cNvSpPr/>
          <p:nvPr/>
        </p:nvSpPr>
        <p:spPr>
          <a:xfrm>
            <a:off x="884773" y="5032196"/>
            <a:ext cx="594635" cy="174812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学术论文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35E061B4-B000-4102-B418-F8F5D19F04B3}"/>
              </a:ext>
            </a:extLst>
          </p:cNvPr>
          <p:cNvSpPr/>
          <p:nvPr/>
        </p:nvSpPr>
        <p:spPr>
          <a:xfrm>
            <a:off x="2183709" y="5032196"/>
            <a:ext cx="594635" cy="174812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流量集总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B5C7A13D-86A5-45C9-BEB1-07D1ADB3EE74}"/>
              </a:ext>
            </a:extLst>
          </p:cNvPr>
          <p:cNvSpPr/>
          <p:nvPr/>
        </p:nvSpPr>
        <p:spPr>
          <a:xfrm>
            <a:off x="6010310" y="5023232"/>
            <a:ext cx="594635" cy="174812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当日趋势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1DFEB995-EB89-467D-9C12-F19946AC007A}"/>
              </a:ext>
            </a:extLst>
          </p:cNvPr>
          <p:cNvSpPr/>
          <p:nvPr/>
        </p:nvSpPr>
        <p:spPr>
          <a:xfrm>
            <a:off x="5360842" y="5023232"/>
            <a:ext cx="594635" cy="174812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数据统计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7B53979F-419F-454F-999F-2D3AEFD76AA0}"/>
              </a:ext>
            </a:extLst>
          </p:cNvPr>
          <p:cNvSpPr/>
          <p:nvPr/>
        </p:nvSpPr>
        <p:spPr>
          <a:xfrm>
            <a:off x="6659778" y="5023232"/>
            <a:ext cx="594635" cy="174812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财务收支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B1371843-31C2-4255-9EB7-E0BBCEF869B3}"/>
              </a:ext>
            </a:extLst>
          </p:cNvPr>
          <p:cNvSpPr/>
          <p:nvPr/>
        </p:nvSpPr>
        <p:spPr>
          <a:xfrm>
            <a:off x="3750633" y="5037353"/>
            <a:ext cx="594635" cy="174812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热点数据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5444021F-0630-4C52-8060-8C3F8604B7A5}"/>
              </a:ext>
            </a:extLst>
          </p:cNvPr>
          <p:cNvSpPr/>
          <p:nvPr/>
        </p:nvSpPr>
        <p:spPr>
          <a:xfrm>
            <a:off x="3101165" y="5037353"/>
            <a:ext cx="594635" cy="174812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博客文章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499F3FD3-F03D-4ED2-BA09-25BD7065C126}"/>
              </a:ext>
            </a:extLst>
          </p:cNvPr>
          <p:cNvSpPr/>
          <p:nvPr/>
        </p:nvSpPr>
        <p:spPr>
          <a:xfrm>
            <a:off x="4400101" y="5037353"/>
            <a:ext cx="594635" cy="174812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财务收支</a:t>
            </a:r>
          </a:p>
        </p:txBody>
      </p:sp>
      <p:graphicFrame>
        <p:nvGraphicFramePr>
          <p:cNvPr id="47" name="图示 46">
            <a:extLst>
              <a:ext uri="{FF2B5EF4-FFF2-40B4-BE49-F238E27FC236}">
                <a16:creationId xmlns:a16="http://schemas.microsoft.com/office/drawing/2014/main" id="{AC01D29B-EA41-45CD-AD51-4F95FBC3D6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8794532"/>
              </p:ext>
            </p:extLst>
          </p:nvPr>
        </p:nvGraphicFramePr>
        <p:xfrm>
          <a:off x="8255828" y="1075449"/>
          <a:ext cx="3299012" cy="50471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872137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79905ED6-0C48-4E6D-A9F2-095569BB2E70}"/>
              </a:ext>
            </a:extLst>
          </p:cNvPr>
          <p:cNvGrpSpPr/>
          <p:nvPr/>
        </p:nvGrpSpPr>
        <p:grpSpPr>
          <a:xfrm>
            <a:off x="581453" y="68717"/>
            <a:ext cx="11029093" cy="467995"/>
            <a:chOff x="713" y="367"/>
            <a:chExt cx="11412" cy="737"/>
          </a:xfrm>
        </p:grpSpPr>
        <p:sp>
          <p:nvSpPr>
            <p:cNvPr id="5" name="燕尾形 30">
              <a:extLst>
                <a:ext uri="{FF2B5EF4-FFF2-40B4-BE49-F238E27FC236}">
                  <a16:creationId xmlns:a16="http://schemas.microsoft.com/office/drawing/2014/main" id="{39F53494-FCE3-4861-8A56-071889D605C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rot="10800000">
              <a:off x="1443" y="367"/>
              <a:ext cx="2907" cy="737"/>
            </a:xfrm>
            <a:prstGeom prst="chevron">
              <a:avLst>
                <a:gd name="adj" fmla="val 3708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" name="燕尾形 30">
              <a:extLst>
                <a:ext uri="{FF2B5EF4-FFF2-40B4-BE49-F238E27FC236}">
                  <a16:creationId xmlns:a16="http://schemas.microsoft.com/office/drawing/2014/main" id="{2384EE52-5FB6-4D2C-9255-CE60D129DC94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10800000" flipH="1">
              <a:off x="3422" y="367"/>
              <a:ext cx="8703" cy="737"/>
            </a:xfrm>
            <a:prstGeom prst="chevron">
              <a:avLst>
                <a:gd name="adj" fmla="val 3708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Box 17">
              <a:extLst>
                <a:ext uri="{FF2B5EF4-FFF2-40B4-BE49-F238E27FC236}">
                  <a16:creationId xmlns:a16="http://schemas.microsoft.com/office/drawing/2014/main" id="{E54245CD-4BE2-413E-8EBE-83B7CC5F06E9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1630" y="373"/>
              <a:ext cx="10184" cy="72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anchor="t">
              <a:spAutoFit/>
            </a:bodyPr>
            <a:lstStyle>
              <a:lvl1pPr marL="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1pPr>
              <a:lvl2pPr marL="4572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2pPr>
              <a:lvl3pPr marL="9144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3pPr>
              <a:lvl4pPr marL="13716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4pPr>
              <a:lvl5pPr marL="18288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5pPr>
            </a:lstStyle>
            <a:p>
              <a:pPr lvl="0" algn="ctr"/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ITADN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数据中台运作模式</a:t>
              </a:r>
            </a:p>
          </p:txBody>
        </p:sp>
        <p:sp>
          <p:nvSpPr>
            <p:cNvPr id="8" name="任意多边形: 形状 9">
              <a:extLst>
                <a:ext uri="{FF2B5EF4-FFF2-40B4-BE49-F238E27FC236}">
                  <a16:creationId xmlns:a16="http://schemas.microsoft.com/office/drawing/2014/main" id="{8D21C4BF-9FDB-4DEB-951A-0EE1D30C6C21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10800000">
              <a:off x="107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" name="任意多边形: 形状 10">
              <a:extLst>
                <a:ext uri="{FF2B5EF4-FFF2-40B4-BE49-F238E27FC236}">
                  <a16:creationId xmlns:a16="http://schemas.microsoft.com/office/drawing/2014/main" id="{E0326865-8B57-4072-B813-1BA069E5C14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0800000">
              <a:off x="71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67CEAC3-68C7-47CF-BF6B-C45FB13EED6D}"/>
              </a:ext>
            </a:extLst>
          </p:cNvPr>
          <p:cNvSpPr/>
          <p:nvPr/>
        </p:nvSpPr>
        <p:spPr>
          <a:xfrm>
            <a:off x="4141067" y="680770"/>
            <a:ext cx="594635" cy="122445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用户画像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56EF3BB-5670-4B8A-B235-617CFFA994B1}"/>
              </a:ext>
            </a:extLst>
          </p:cNvPr>
          <p:cNvSpPr/>
          <p:nvPr/>
        </p:nvSpPr>
        <p:spPr>
          <a:xfrm>
            <a:off x="3491599" y="680770"/>
            <a:ext cx="594635" cy="122445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学术论文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7D734A2-16CE-4D3F-96D9-4019EBBCCA00}"/>
              </a:ext>
            </a:extLst>
          </p:cNvPr>
          <p:cNvSpPr/>
          <p:nvPr/>
        </p:nvSpPr>
        <p:spPr>
          <a:xfrm>
            <a:off x="4790535" y="680770"/>
            <a:ext cx="594635" cy="122445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数据权重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15C8AB5-2FA8-4BF8-978E-2A1D3CA45B57}"/>
              </a:ext>
            </a:extLst>
          </p:cNvPr>
          <p:cNvSpPr/>
          <p:nvPr/>
        </p:nvSpPr>
        <p:spPr>
          <a:xfrm>
            <a:off x="8617136" y="674492"/>
            <a:ext cx="594635" cy="122445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当日趋势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D68DE1B-EDA4-4279-9A4C-5058EBE843C4}"/>
              </a:ext>
            </a:extLst>
          </p:cNvPr>
          <p:cNvSpPr/>
          <p:nvPr/>
        </p:nvSpPr>
        <p:spPr>
          <a:xfrm>
            <a:off x="7967668" y="674492"/>
            <a:ext cx="594635" cy="122445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数据统计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A2ECE6D-85AB-4530-A33A-90AB8F86D664}"/>
              </a:ext>
            </a:extLst>
          </p:cNvPr>
          <p:cNvSpPr/>
          <p:nvPr/>
        </p:nvSpPr>
        <p:spPr>
          <a:xfrm>
            <a:off x="9266604" y="674492"/>
            <a:ext cx="594635" cy="122445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财务收支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3E80656-1D59-4337-8CF7-856FE0CCF516}"/>
              </a:ext>
            </a:extLst>
          </p:cNvPr>
          <p:cNvSpPr/>
          <p:nvPr/>
        </p:nvSpPr>
        <p:spPr>
          <a:xfrm>
            <a:off x="6357459" y="684383"/>
            <a:ext cx="594635" cy="122445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热点数据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DC07833-DA90-47EA-8AE4-2D6082E4F795}"/>
              </a:ext>
            </a:extLst>
          </p:cNvPr>
          <p:cNvSpPr/>
          <p:nvPr/>
        </p:nvSpPr>
        <p:spPr>
          <a:xfrm>
            <a:off x="5707991" y="684383"/>
            <a:ext cx="594635" cy="122445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博客文章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914A763-EA21-480A-A847-11138537AFF4}"/>
              </a:ext>
            </a:extLst>
          </p:cNvPr>
          <p:cNvSpPr/>
          <p:nvPr/>
        </p:nvSpPr>
        <p:spPr>
          <a:xfrm>
            <a:off x="7006927" y="684383"/>
            <a:ext cx="594635" cy="122445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财务收支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F00656-BAAB-4318-8AEC-339C6B8CCF6D}"/>
              </a:ext>
            </a:extLst>
          </p:cNvPr>
          <p:cNvSpPr txBox="1"/>
          <p:nvPr/>
        </p:nvSpPr>
        <p:spPr>
          <a:xfrm>
            <a:off x="1467685" y="609601"/>
            <a:ext cx="8480612" cy="1425388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Dot"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5A2D244-2D7F-4AA6-A3A0-112712DDE6BA}"/>
              </a:ext>
            </a:extLst>
          </p:cNvPr>
          <p:cNvSpPr/>
          <p:nvPr/>
        </p:nvSpPr>
        <p:spPr>
          <a:xfrm>
            <a:off x="1759726" y="674492"/>
            <a:ext cx="1409052" cy="1224454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ITADN</a:t>
            </a:r>
          </a:p>
          <a:p>
            <a:pPr algn="ctr"/>
            <a:r>
              <a:rPr lang="zh-CN" altLang="en-US" dirty="0"/>
              <a:t>全部后台系统</a:t>
            </a:r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0593795C-D974-463E-A85A-4F2CA6A4F803}"/>
              </a:ext>
            </a:extLst>
          </p:cNvPr>
          <p:cNvSpPr/>
          <p:nvPr/>
        </p:nvSpPr>
        <p:spPr>
          <a:xfrm>
            <a:off x="1863616" y="2405455"/>
            <a:ext cx="1201271" cy="502023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杂乱内容</a:t>
            </a:r>
          </a:p>
        </p:txBody>
      </p:sp>
      <p:sp>
        <p:nvSpPr>
          <p:cNvPr id="25" name="箭头: 下 24">
            <a:extLst>
              <a:ext uri="{FF2B5EF4-FFF2-40B4-BE49-F238E27FC236}">
                <a16:creationId xmlns:a16="http://schemas.microsoft.com/office/drawing/2014/main" id="{E8D29507-A389-478B-BC37-4166BFAE44DD}"/>
              </a:ext>
            </a:extLst>
          </p:cNvPr>
          <p:cNvSpPr/>
          <p:nvPr/>
        </p:nvSpPr>
        <p:spPr>
          <a:xfrm>
            <a:off x="3352362" y="2414417"/>
            <a:ext cx="1201271" cy="502023"/>
          </a:xfrm>
          <a:prstGeom prst="down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杂乱流量</a:t>
            </a:r>
          </a:p>
        </p:txBody>
      </p:sp>
      <p:sp>
        <p:nvSpPr>
          <p:cNvPr id="26" name="箭头: 下 25">
            <a:extLst>
              <a:ext uri="{FF2B5EF4-FFF2-40B4-BE49-F238E27FC236}">
                <a16:creationId xmlns:a16="http://schemas.microsoft.com/office/drawing/2014/main" id="{19923F84-F803-4F1B-A6AB-4F362AC44813}"/>
              </a:ext>
            </a:extLst>
          </p:cNvPr>
          <p:cNvSpPr/>
          <p:nvPr/>
        </p:nvSpPr>
        <p:spPr>
          <a:xfrm>
            <a:off x="7171222" y="2414417"/>
            <a:ext cx="1201271" cy="502023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混合报表</a:t>
            </a:r>
          </a:p>
        </p:txBody>
      </p:sp>
      <p:sp>
        <p:nvSpPr>
          <p:cNvPr id="27" name="箭头: 下 26">
            <a:extLst>
              <a:ext uri="{FF2B5EF4-FFF2-40B4-BE49-F238E27FC236}">
                <a16:creationId xmlns:a16="http://schemas.microsoft.com/office/drawing/2014/main" id="{B67E35F4-2F3C-48A9-B6E7-206F72A70203}"/>
              </a:ext>
            </a:extLst>
          </p:cNvPr>
          <p:cNvSpPr/>
          <p:nvPr/>
        </p:nvSpPr>
        <p:spPr>
          <a:xfrm>
            <a:off x="8659968" y="2447363"/>
            <a:ext cx="1201271" cy="502023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用户隔离</a:t>
            </a:r>
          </a:p>
        </p:txBody>
      </p:sp>
      <p:sp>
        <p:nvSpPr>
          <p:cNvPr id="28" name="爆炸形: 14 pt  27">
            <a:extLst>
              <a:ext uri="{FF2B5EF4-FFF2-40B4-BE49-F238E27FC236}">
                <a16:creationId xmlns:a16="http://schemas.microsoft.com/office/drawing/2014/main" id="{880265CB-797F-4BFD-A642-F8FEDFCEEF88}"/>
              </a:ext>
            </a:extLst>
          </p:cNvPr>
          <p:cNvSpPr/>
          <p:nvPr/>
        </p:nvSpPr>
        <p:spPr>
          <a:xfrm>
            <a:off x="4553633" y="2106158"/>
            <a:ext cx="2687703" cy="995082"/>
          </a:xfrm>
          <a:prstGeom prst="irregularSeal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无序数据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49A21710-16DC-4ED4-A2E1-66A7BE329566}"/>
              </a:ext>
            </a:extLst>
          </p:cNvPr>
          <p:cNvGrpSpPr/>
          <p:nvPr/>
        </p:nvGrpSpPr>
        <p:grpSpPr>
          <a:xfrm>
            <a:off x="2171385" y="3237829"/>
            <a:ext cx="7452197" cy="1425388"/>
            <a:chOff x="1467685" y="3174774"/>
            <a:chExt cx="7452197" cy="1425388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EF93F72-8154-48DA-B7F6-755EC5716D19}"/>
                </a:ext>
              </a:extLst>
            </p:cNvPr>
            <p:cNvSpPr txBox="1"/>
            <p:nvPr/>
          </p:nvSpPr>
          <p:spPr>
            <a:xfrm>
              <a:off x="1467685" y="3174774"/>
              <a:ext cx="7452197" cy="1425388"/>
            </a:xfrm>
            <a:prstGeom prst="rect">
              <a:avLst/>
            </a:prstGeom>
            <a:noFill/>
            <a:ln w="28575">
              <a:solidFill>
                <a:srgbClr val="002060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EE782054-DB02-4E92-A75C-1D4A22A229E0}"/>
                </a:ext>
              </a:extLst>
            </p:cNvPr>
            <p:cNvSpPr/>
            <p:nvPr/>
          </p:nvSpPr>
          <p:spPr>
            <a:xfrm>
              <a:off x="1694329" y="3368536"/>
              <a:ext cx="1246095" cy="102417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用户分析系统</a:t>
              </a: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D9960C7D-2106-4279-ADF3-08C79655EAF0}"/>
                </a:ext>
              </a:extLst>
            </p:cNvPr>
            <p:cNvSpPr/>
            <p:nvPr/>
          </p:nvSpPr>
          <p:spPr>
            <a:xfrm>
              <a:off x="3083323" y="3368536"/>
              <a:ext cx="1298936" cy="102417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流量分析系统</a:t>
              </a: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6480048C-3B98-4D31-9D3E-FD3AEA724DF0}"/>
                </a:ext>
              </a:extLst>
            </p:cNvPr>
            <p:cNvSpPr/>
            <p:nvPr/>
          </p:nvSpPr>
          <p:spPr>
            <a:xfrm>
              <a:off x="4525158" y="3359574"/>
              <a:ext cx="1298936" cy="102417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内容管理系统</a:t>
              </a: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8674FC1F-B43F-44A4-B9AD-D867BA9A7C2A}"/>
                </a:ext>
              </a:extLst>
            </p:cNvPr>
            <p:cNvSpPr/>
            <p:nvPr/>
          </p:nvSpPr>
          <p:spPr>
            <a:xfrm>
              <a:off x="5966993" y="3368536"/>
              <a:ext cx="1298936" cy="102417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营销分析系统</a:t>
              </a: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94CCAB4C-67B6-45F6-8CE7-38A3B053A665}"/>
                </a:ext>
              </a:extLst>
            </p:cNvPr>
            <p:cNvSpPr/>
            <p:nvPr/>
          </p:nvSpPr>
          <p:spPr>
            <a:xfrm>
              <a:off x="7439732" y="3368536"/>
              <a:ext cx="1298936" cy="101520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……</a:t>
              </a:r>
              <a:endParaRPr lang="zh-CN" altLang="en-US" dirty="0"/>
            </a:p>
          </p:txBody>
        </p:sp>
      </p:grpSp>
      <p:sp>
        <p:nvSpPr>
          <p:cNvPr id="37" name="箭头: 左 36">
            <a:extLst>
              <a:ext uri="{FF2B5EF4-FFF2-40B4-BE49-F238E27FC236}">
                <a16:creationId xmlns:a16="http://schemas.microsoft.com/office/drawing/2014/main" id="{42A2D7F9-7305-4782-85B3-DB0D7EBA5734}"/>
              </a:ext>
            </a:extLst>
          </p:cNvPr>
          <p:cNvSpPr/>
          <p:nvPr/>
        </p:nvSpPr>
        <p:spPr>
          <a:xfrm>
            <a:off x="1351711" y="4856979"/>
            <a:ext cx="4033459" cy="1425388"/>
          </a:xfrm>
          <a:prstGeom prst="leftArrow">
            <a:avLst>
              <a:gd name="adj1" fmla="val 66352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有序内容</a:t>
            </a:r>
            <a:endParaRPr lang="en-US" altLang="zh-CN" dirty="0"/>
          </a:p>
          <a:p>
            <a:pPr algn="ctr"/>
            <a:r>
              <a:rPr lang="zh-CN" altLang="en-US" dirty="0"/>
              <a:t>统一</a:t>
            </a:r>
            <a:r>
              <a:rPr lang="en-US" altLang="zh-CN" dirty="0"/>
              <a:t>API</a:t>
            </a:r>
          </a:p>
          <a:p>
            <a:pPr algn="ctr"/>
            <a:r>
              <a:rPr lang="zh-CN" altLang="en-US" dirty="0"/>
              <a:t>数据互通</a:t>
            </a:r>
          </a:p>
        </p:txBody>
      </p:sp>
      <p:sp>
        <p:nvSpPr>
          <p:cNvPr id="38" name="箭头: 左弧形 37">
            <a:extLst>
              <a:ext uri="{FF2B5EF4-FFF2-40B4-BE49-F238E27FC236}">
                <a16:creationId xmlns:a16="http://schemas.microsoft.com/office/drawing/2014/main" id="{2660D943-C81F-4803-A890-A77D02608967}"/>
              </a:ext>
            </a:extLst>
          </p:cNvPr>
          <p:cNvSpPr/>
          <p:nvPr/>
        </p:nvSpPr>
        <p:spPr>
          <a:xfrm flipV="1">
            <a:off x="89798" y="884071"/>
            <a:ext cx="1335942" cy="512382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6C3730D1-1254-4FDE-9A8C-1DA3DCCB277A}"/>
              </a:ext>
            </a:extLst>
          </p:cNvPr>
          <p:cNvSpPr/>
          <p:nvPr/>
        </p:nvSpPr>
        <p:spPr>
          <a:xfrm>
            <a:off x="6806831" y="4856979"/>
            <a:ext cx="4033457" cy="1425388"/>
          </a:xfrm>
          <a:prstGeom prst="rightArrow">
            <a:avLst>
              <a:gd name="adj1" fmla="val 61321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统一的高质量数据供给</a:t>
            </a:r>
            <a:endParaRPr lang="en-US" altLang="zh-CN" b="1" dirty="0"/>
          </a:p>
          <a:p>
            <a:pPr algn="ctr"/>
            <a:r>
              <a:rPr lang="zh-CN" altLang="en-US" b="1" dirty="0"/>
              <a:t>标准化的特征工程平台</a:t>
            </a:r>
            <a:endParaRPr lang="en-US" altLang="zh-CN" b="1" dirty="0"/>
          </a:p>
          <a:p>
            <a:pPr algn="ctr"/>
            <a:r>
              <a:rPr lang="zh-CN" altLang="en-US" b="1" dirty="0"/>
              <a:t>模型全生命周期管理的基座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3CD8405-4D72-40AD-AB35-CF83367585F6}"/>
              </a:ext>
            </a:extLst>
          </p:cNvPr>
          <p:cNvSpPr txBox="1"/>
          <p:nvPr/>
        </p:nvSpPr>
        <p:spPr>
          <a:xfrm>
            <a:off x="9862486" y="3850571"/>
            <a:ext cx="2255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ITADN</a:t>
            </a:r>
            <a:r>
              <a:rPr lang="zh-CN" altLang="en-US" b="1" dirty="0"/>
              <a:t>智能能力中心</a:t>
            </a:r>
          </a:p>
        </p:txBody>
      </p:sp>
      <p:sp>
        <p:nvSpPr>
          <p:cNvPr id="44" name="箭头: 上弧形 43">
            <a:extLst>
              <a:ext uri="{FF2B5EF4-FFF2-40B4-BE49-F238E27FC236}">
                <a16:creationId xmlns:a16="http://schemas.microsoft.com/office/drawing/2014/main" id="{BF550D2A-AAC1-445B-A19C-04E1B457D9D9}"/>
              </a:ext>
            </a:extLst>
          </p:cNvPr>
          <p:cNvSpPr/>
          <p:nvPr/>
        </p:nvSpPr>
        <p:spPr>
          <a:xfrm rot="10800000" flipV="1">
            <a:off x="9154399" y="2688621"/>
            <a:ext cx="1409052" cy="53479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603893-66F9-4C6E-84D0-3B46D82D0D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4889" y="2367201"/>
            <a:ext cx="1333173" cy="133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458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C4C4FA26-BFC3-02C4-FB73-3A1527FA3B61}"/>
              </a:ext>
            </a:extLst>
          </p:cNvPr>
          <p:cNvGrpSpPr/>
          <p:nvPr/>
        </p:nvGrpSpPr>
        <p:grpSpPr>
          <a:xfrm>
            <a:off x="581453" y="0"/>
            <a:ext cx="11029093" cy="467995"/>
            <a:chOff x="713" y="367"/>
            <a:chExt cx="11412" cy="737"/>
          </a:xfrm>
        </p:grpSpPr>
        <p:sp>
          <p:nvSpPr>
            <p:cNvPr id="6" name="燕尾形 30">
              <a:extLst>
                <a:ext uri="{FF2B5EF4-FFF2-40B4-BE49-F238E27FC236}">
                  <a16:creationId xmlns:a16="http://schemas.microsoft.com/office/drawing/2014/main" id="{23C64BF8-E4CA-0C37-65ED-748F1BF24276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rot="10800000">
              <a:off x="1443" y="367"/>
              <a:ext cx="2907" cy="737"/>
            </a:xfrm>
            <a:prstGeom prst="chevron">
              <a:avLst>
                <a:gd name="adj" fmla="val 3708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" name="燕尾形 30">
              <a:extLst>
                <a:ext uri="{FF2B5EF4-FFF2-40B4-BE49-F238E27FC236}">
                  <a16:creationId xmlns:a16="http://schemas.microsoft.com/office/drawing/2014/main" id="{CA566CCE-8822-1D60-5140-E51E64A45D76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10800000" flipH="1">
              <a:off x="3422" y="367"/>
              <a:ext cx="8703" cy="737"/>
            </a:xfrm>
            <a:prstGeom prst="chevron">
              <a:avLst>
                <a:gd name="adj" fmla="val 3708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17">
              <a:extLst>
                <a:ext uri="{FF2B5EF4-FFF2-40B4-BE49-F238E27FC236}">
                  <a16:creationId xmlns:a16="http://schemas.microsoft.com/office/drawing/2014/main" id="{B841BBA3-EE9B-31E2-7FE0-47C3718A7E96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1656" y="367"/>
              <a:ext cx="10184" cy="72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anchor="t">
              <a:spAutoFit/>
            </a:bodyPr>
            <a:lstStyle>
              <a:lvl1pPr marL="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1pPr>
              <a:lvl2pPr marL="4572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2pPr>
              <a:lvl3pPr marL="9144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3pPr>
              <a:lvl4pPr marL="13716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4pPr>
              <a:lvl5pPr marL="18288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5pPr>
            </a:lstStyle>
            <a:p>
              <a:pPr lvl="0" algn="ctr"/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ITADN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数据中台技术实现</a:t>
              </a:r>
            </a:p>
          </p:txBody>
        </p:sp>
        <p:sp>
          <p:nvSpPr>
            <p:cNvPr id="9" name="任意多边形: 形状 9">
              <a:extLst>
                <a:ext uri="{FF2B5EF4-FFF2-40B4-BE49-F238E27FC236}">
                  <a16:creationId xmlns:a16="http://schemas.microsoft.com/office/drawing/2014/main" id="{7561B6BA-8F4F-9176-D926-63BBB41193A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10800000">
              <a:off x="107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0" name="任意多边形: 形状 10">
              <a:extLst>
                <a:ext uri="{FF2B5EF4-FFF2-40B4-BE49-F238E27FC236}">
                  <a16:creationId xmlns:a16="http://schemas.microsoft.com/office/drawing/2014/main" id="{E035A344-B7CA-DC0B-F18C-0FDF2ADA14AB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0800000">
              <a:off x="71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2C7310CB-23AB-4448-AD15-BD102FF9E547}"/>
              </a:ext>
            </a:extLst>
          </p:cNvPr>
          <p:cNvSpPr/>
          <p:nvPr/>
        </p:nvSpPr>
        <p:spPr>
          <a:xfrm>
            <a:off x="3491251" y="762235"/>
            <a:ext cx="2918298" cy="9726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/>
              <a:t>不同后端系统</a:t>
            </a:r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CDB991B3-27E3-4E30-B466-CC2188C607E1}"/>
              </a:ext>
            </a:extLst>
          </p:cNvPr>
          <p:cNvSpPr/>
          <p:nvPr/>
        </p:nvSpPr>
        <p:spPr>
          <a:xfrm>
            <a:off x="4950398" y="1817397"/>
            <a:ext cx="1943781" cy="972670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Scoop</a:t>
            </a:r>
          </a:p>
          <a:p>
            <a:pPr algn="ctr"/>
            <a:r>
              <a:rPr lang="en-US" altLang="zh-CN" dirty="0"/>
              <a:t>Hive</a:t>
            </a:r>
          </a:p>
          <a:p>
            <a:pPr algn="ctr"/>
            <a:r>
              <a:rPr lang="zh-CN" altLang="en-US" dirty="0"/>
              <a:t>离线流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B76A408-D64D-4F2C-9ECD-01EE31044A2A}"/>
              </a:ext>
            </a:extLst>
          </p:cNvPr>
          <p:cNvSpPr/>
          <p:nvPr/>
        </p:nvSpPr>
        <p:spPr>
          <a:xfrm>
            <a:off x="1745517" y="2839807"/>
            <a:ext cx="6409765" cy="381936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7F67EDC-9515-4D18-9FF0-2C2BD1C8CF38}"/>
              </a:ext>
            </a:extLst>
          </p:cNvPr>
          <p:cNvSpPr txBox="1"/>
          <p:nvPr/>
        </p:nvSpPr>
        <p:spPr>
          <a:xfrm>
            <a:off x="4210810" y="2939287"/>
            <a:ext cx="1479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kern="1200" dirty="0">
                <a:latin typeface="+mn-lt"/>
                <a:ea typeface="+mn-ea"/>
                <a:cs typeface="+mn-cs"/>
              </a:rPr>
              <a:t>Hadoop</a:t>
            </a:r>
            <a:r>
              <a:rPr lang="zh-CN" altLang="en-US" sz="1800" kern="1200" dirty="0">
                <a:latin typeface="+mn-lt"/>
                <a:ea typeface="+mn-ea"/>
                <a:cs typeface="+mn-cs"/>
              </a:rPr>
              <a:t>集群</a:t>
            </a:r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C47C7540-B539-426D-BF64-891C3D973C07}"/>
              </a:ext>
            </a:extLst>
          </p:cNvPr>
          <p:cNvSpPr/>
          <p:nvPr/>
        </p:nvSpPr>
        <p:spPr>
          <a:xfrm>
            <a:off x="3006617" y="1805531"/>
            <a:ext cx="1943781" cy="972670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Kafka</a:t>
            </a:r>
          </a:p>
          <a:p>
            <a:pPr algn="ctr"/>
            <a:r>
              <a:rPr lang="en-US" altLang="zh-CN" dirty="0" err="1"/>
              <a:t>FileBeat</a:t>
            </a:r>
            <a:endParaRPr lang="en-US" altLang="zh-CN" dirty="0"/>
          </a:p>
          <a:p>
            <a:pPr algn="ctr"/>
            <a:r>
              <a:rPr lang="zh-CN" altLang="en-US" dirty="0"/>
              <a:t>实时流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EA8B7E-FDCD-49ED-A813-C544392105A8}"/>
              </a:ext>
            </a:extLst>
          </p:cNvPr>
          <p:cNvSpPr/>
          <p:nvPr/>
        </p:nvSpPr>
        <p:spPr>
          <a:xfrm>
            <a:off x="1869743" y="3371210"/>
            <a:ext cx="3080655" cy="318199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0FC4EEE-8E66-4131-9B7A-A5294281B186}"/>
              </a:ext>
            </a:extLst>
          </p:cNvPr>
          <p:cNvSpPr/>
          <p:nvPr/>
        </p:nvSpPr>
        <p:spPr>
          <a:xfrm>
            <a:off x="5088753" y="3371211"/>
            <a:ext cx="2942303" cy="318199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6363008-D80C-4A6A-80D0-CA4D2A4EF681}"/>
              </a:ext>
            </a:extLst>
          </p:cNvPr>
          <p:cNvSpPr txBox="1"/>
          <p:nvPr/>
        </p:nvSpPr>
        <p:spPr>
          <a:xfrm>
            <a:off x="2544655" y="3470690"/>
            <a:ext cx="1730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Spark</a:t>
            </a:r>
            <a:r>
              <a:rPr lang="zh-CN" altLang="en-US" dirty="0"/>
              <a:t>离线分析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680AFB7-B96E-444B-8A5F-11EDB0600C6E}"/>
              </a:ext>
            </a:extLst>
          </p:cNvPr>
          <p:cNvSpPr txBox="1"/>
          <p:nvPr/>
        </p:nvSpPr>
        <p:spPr>
          <a:xfrm>
            <a:off x="5739612" y="3470690"/>
            <a:ext cx="1640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Flink</a:t>
            </a:r>
            <a:r>
              <a:rPr lang="zh-CN" altLang="en-US" dirty="0"/>
              <a:t>实时分析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86DB336-BC5E-4F76-8565-A33A9C0F9D3C}"/>
              </a:ext>
            </a:extLst>
          </p:cNvPr>
          <p:cNvSpPr/>
          <p:nvPr/>
        </p:nvSpPr>
        <p:spPr>
          <a:xfrm>
            <a:off x="1928725" y="3840022"/>
            <a:ext cx="6015245" cy="53140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GrowingIO</a:t>
            </a:r>
            <a:r>
              <a:rPr lang="zh-CN" altLang="en-US" dirty="0">
                <a:solidFill>
                  <a:schemeClr val="tx1"/>
                </a:solidFill>
              </a:rPr>
              <a:t>用户数据工具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zh-CN" altLang="en-US" dirty="0">
                <a:solidFill>
                  <a:schemeClr val="tx1"/>
                </a:solidFill>
              </a:rPr>
              <a:t>私有埋点技术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7E72BFD-1A55-4565-8096-3775D1312EDD}"/>
              </a:ext>
            </a:extLst>
          </p:cNvPr>
          <p:cNvSpPr/>
          <p:nvPr/>
        </p:nvSpPr>
        <p:spPr>
          <a:xfrm>
            <a:off x="1928724" y="4461779"/>
            <a:ext cx="6015244" cy="5314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DataX</a:t>
            </a:r>
            <a:r>
              <a:rPr lang="zh-CN" altLang="en-US" dirty="0">
                <a:solidFill>
                  <a:schemeClr val="tx1"/>
                </a:solidFill>
              </a:rPr>
              <a:t>财务数据工具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88B46A2-4CD8-47BE-8253-E67835BA1C87}"/>
              </a:ext>
            </a:extLst>
          </p:cNvPr>
          <p:cNvSpPr/>
          <p:nvPr/>
        </p:nvSpPr>
        <p:spPr>
          <a:xfrm>
            <a:off x="1942776" y="5083536"/>
            <a:ext cx="6015243" cy="5314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Es+Grafana</a:t>
            </a:r>
            <a:r>
              <a:rPr lang="zh-CN" altLang="en-US" dirty="0">
                <a:solidFill>
                  <a:schemeClr val="tx1"/>
                </a:solidFill>
              </a:rPr>
              <a:t>流量分析器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42C057B-41D1-4A43-9F7D-7A6C0D19E0D1}"/>
              </a:ext>
            </a:extLst>
          </p:cNvPr>
          <p:cNvSpPr/>
          <p:nvPr/>
        </p:nvSpPr>
        <p:spPr>
          <a:xfrm>
            <a:off x="1945938" y="5701392"/>
            <a:ext cx="5998030" cy="531403"/>
          </a:xfrm>
          <a:prstGeom prst="rect">
            <a:avLst/>
          </a:prstGeom>
          <a:solidFill>
            <a:srgbClr val="E6E6E6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Superset</a:t>
            </a:r>
            <a:r>
              <a:rPr lang="zh-CN" altLang="en-US" dirty="0">
                <a:solidFill>
                  <a:schemeClr val="tx1"/>
                </a:solidFill>
              </a:rPr>
              <a:t>报表管理系统</a:t>
            </a:r>
          </a:p>
        </p:txBody>
      </p:sp>
      <p:sp>
        <p:nvSpPr>
          <p:cNvPr id="25" name="箭头: 上弧形 24">
            <a:extLst>
              <a:ext uri="{FF2B5EF4-FFF2-40B4-BE49-F238E27FC236}">
                <a16:creationId xmlns:a16="http://schemas.microsoft.com/office/drawing/2014/main" id="{5531BDF8-2112-474A-B3B0-3E6C467FE596}"/>
              </a:ext>
            </a:extLst>
          </p:cNvPr>
          <p:cNvSpPr/>
          <p:nvPr/>
        </p:nvSpPr>
        <p:spPr>
          <a:xfrm rot="17537168">
            <a:off x="-1133807" y="1948744"/>
            <a:ext cx="5253236" cy="2032265"/>
          </a:xfrm>
          <a:prstGeom prst="curved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50D4BD2-783B-4050-B560-220E0AAE3D93}"/>
              </a:ext>
            </a:extLst>
          </p:cNvPr>
          <p:cNvSpPr txBox="1"/>
          <p:nvPr/>
        </p:nvSpPr>
        <p:spPr>
          <a:xfrm>
            <a:off x="554599" y="2461052"/>
            <a:ext cx="2176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Nacos</a:t>
            </a:r>
            <a:r>
              <a:rPr lang="zh-CN" altLang="en-US" dirty="0"/>
              <a:t>服务管理平台</a:t>
            </a:r>
            <a:endParaRPr lang="en-US" altLang="zh-CN" dirty="0"/>
          </a:p>
          <a:p>
            <a:r>
              <a:rPr lang="en-US" altLang="zh-CN" dirty="0"/>
              <a:t>Restful API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8CCE3F1-7FAE-400D-9AD1-FAAC5FDB2378}"/>
              </a:ext>
            </a:extLst>
          </p:cNvPr>
          <p:cNvSpPr/>
          <p:nvPr/>
        </p:nvSpPr>
        <p:spPr>
          <a:xfrm>
            <a:off x="8420424" y="3365279"/>
            <a:ext cx="1431147" cy="4747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OCR &amp; NLP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3F9151F-9283-4A26-B1AE-FCF9DD267174}"/>
              </a:ext>
            </a:extLst>
          </p:cNvPr>
          <p:cNvSpPr/>
          <p:nvPr/>
        </p:nvSpPr>
        <p:spPr>
          <a:xfrm>
            <a:off x="8420424" y="3896682"/>
            <a:ext cx="1431147" cy="4747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智能报表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341D384-438C-4D2A-8E28-8C6601FA55B5}"/>
              </a:ext>
            </a:extLst>
          </p:cNvPr>
          <p:cNvSpPr/>
          <p:nvPr/>
        </p:nvSpPr>
        <p:spPr>
          <a:xfrm>
            <a:off x="8420424" y="4428085"/>
            <a:ext cx="1431147" cy="4747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AIGC</a:t>
            </a:r>
            <a:r>
              <a:rPr lang="zh-CN" altLang="en-US" dirty="0"/>
              <a:t>内容</a:t>
            </a:r>
          </a:p>
        </p:txBody>
      </p:sp>
      <p:sp>
        <p:nvSpPr>
          <p:cNvPr id="28" name="箭头: 左 27">
            <a:extLst>
              <a:ext uri="{FF2B5EF4-FFF2-40B4-BE49-F238E27FC236}">
                <a16:creationId xmlns:a16="http://schemas.microsoft.com/office/drawing/2014/main" id="{5CC61E58-3933-4549-ABBE-1045D461A32A}"/>
              </a:ext>
            </a:extLst>
          </p:cNvPr>
          <p:cNvSpPr/>
          <p:nvPr/>
        </p:nvSpPr>
        <p:spPr>
          <a:xfrm>
            <a:off x="10010372" y="3562292"/>
            <a:ext cx="1996571" cy="1143521"/>
          </a:xfrm>
          <a:prstGeom prst="lef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赋能数据中台</a:t>
            </a:r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16378664-3DD8-4635-B42F-E9B4D235A4D7}"/>
              </a:ext>
            </a:extLst>
          </p:cNvPr>
          <p:cNvSpPr/>
          <p:nvPr/>
        </p:nvSpPr>
        <p:spPr>
          <a:xfrm>
            <a:off x="8405101" y="5379172"/>
            <a:ext cx="1840961" cy="957943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反哺智能能力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4748B33-78F8-458F-AF8E-526EED687B37}"/>
              </a:ext>
            </a:extLst>
          </p:cNvPr>
          <p:cNvSpPr/>
          <p:nvPr/>
        </p:nvSpPr>
        <p:spPr>
          <a:xfrm>
            <a:off x="10575796" y="5015652"/>
            <a:ext cx="1431147" cy="4747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Milvus</a:t>
            </a:r>
            <a:r>
              <a:rPr lang="zh-CN" altLang="en-US" sz="1600" dirty="0"/>
              <a:t>向量库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7E4856A-D569-4897-AB78-A689CC2DB7EE}"/>
              </a:ext>
            </a:extLst>
          </p:cNvPr>
          <p:cNvSpPr/>
          <p:nvPr/>
        </p:nvSpPr>
        <p:spPr>
          <a:xfrm>
            <a:off x="10575796" y="5547055"/>
            <a:ext cx="1431147" cy="4747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Feast</a:t>
            </a:r>
            <a:r>
              <a:rPr lang="zh-CN" altLang="en-US" dirty="0"/>
              <a:t>特征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48BD807-B63D-4B0E-9C54-89CB2082B862}"/>
              </a:ext>
            </a:extLst>
          </p:cNvPr>
          <p:cNvSpPr/>
          <p:nvPr/>
        </p:nvSpPr>
        <p:spPr>
          <a:xfrm>
            <a:off x="10575796" y="6078458"/>
            <a:ext cx="1431147" cy="4747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MLflow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83D756D-2795-4144-A98F-0D0CBD067AA4}"/>
              </a:ext>
            </a:extLst>
          </p:cNvPr>
          <p:cNvSpPr txBox="1"/>
          <p:nvPr/>
        </p:nvSpPr>
        <p:spPr>
          <a:xfrm>
            <a:off x="9866377" y="2613129"/>
            <a:ext cx="2255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ITADN</a:t>
            </a:r>
            <a:r>
              <a:rPr lang="zh-CN" altLang="en-US" b="1" dirty="0"/>
              <a:t>智能能力中心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22C056C0-58F7-4055-81E7-24E98C6C39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6277" y="1127879"/>
            <a:ext cx="1333173" cy="133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0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85580C99-3CDF-43F1-A58F-61BFEB161288}"/>
              </a:ext>
            </a:extLst>
          </p:cNvPr>
          <p:cNvGrpSpPr/>
          <p:nvPr/>
        </p:nvGrpSpPr>
        <p:grpSpPr>
          <a:xfrm>
            <a:off x="1478683" y="2432584"/>
            <a:ext cx="9234634" cy="1992831"/>
            <a:chOff x="2201775" y="2432582"/>
            <a:chExt cx="11384231" cy="199283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BF90D89-CB50-4DF2-8269-9CB4602ACB35}"/>
                </a:ext>
              </a:extLst>
            </p:cNvPr>
            <p:cNvGrpSpPr/>
            <p:nvPr/>
          </p:nvGrpSpPr>
          <p:grpSpPr>
            <a:xfrm>
              <a:off x="2201775" y="2432582"/>
              <a:ext cx="11384231" cy="1992831"/>
              <a:chOff x="713" y="367"/>
              <a:chExt cx="13807" cy="737"/>
            </a:xfrm>
          </p:grpSpPr>
          <p:sp>
            <p:nvSpPr>
              <p:cNvPr id="6" name="燕尾形 30">
                <a:extLst>
                  <a:ext uri="{FF2B5EF4-FFF2-40B4-BE49-F238E27FC236}">
                    <a16:creationId xmlns:a16="http://schemas.microsoft.com/office/drawing/2014/main" id="{C5F607A6-CAB2-4BC4-B8AB-BACFD7327208}"/>
                  </a:ext>
                </a:extLst>
              </p:cNvPr>
              <p:cNvSpPr/>
              <p:nvPr>
                <p:custDataLst>
                  <p:tags r:id="rId1"/>
                </p:custDataLst>
              </p:nvPr>
            </p:nvSpPr>
            <p:spPr>
              <a:xfrm rot="10800000" flipH="1">
                <a:off x="2789" y="367"/>
                <a:ext cx="11731" cy="737"/>
              </a:xfrm>
              <a:prstGeom prst="chevron">
                <a:avLst>
                  <a:gd name="adj" fmla="val 37080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任意多边形: 形状 9">
                <a:extLst>
                  <a:ext uri="{FF2B5EF4-FFF2-40B4-BE49-F238E27FC236}">
                    <a16:creationId xmlns:a16="http://schemas.microsoft.com/office/drawing/2014/main" id="{6B37128F-027E-40E6-8587-413072479A7C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 rot="10800000">
                <a:off x="1073" y="367"/>
                <a:ext cx="437" cy="737"/>
              </a:xfrm>
              <a:custGeom>
                <a:avLst/>
                <a:gdLst>
                  <a:gd name="connsiteX0" fmla="*/ 104108 w 277642"/>
                  <a:gd name="connsiteY0" fmla="*/ 468000 h 468000"/>
                  <a:gd name="connsiteX1" fmla="*/ 0 w 277642"/>
                  <a:gd name="connsiteY1" fmla="*/ 468000 h 468000"/>
                  <a:gd name="connsiteX2" fmla="*/ 173534 w 277642"/>
                  <a:gd name="connsiteY2" fmla="*/ 234000 h 468000"/>
                  <a:gd name="connsiteX3" fmla="*/ 0 w 277642"/>
                  <a:gd name="connsiteY3" fmla="*/ 0 h 468000"/>
                  <a:gd name="connsiteX4" fmla="*/ 104108 w 277642"/>
                  <a:gd name="connsiteY4" fmla="*/ 0 h 468000"/>
                  <a:gd name="connsiteX5" fmla="*/ 277642 w 277642"/>
                  <a:gd name="connsiteY5" fmla="*/ 234000 h 468000"/>
                  <a:gd name="connsiteX6" fmla="*/ 104108 w 277642"/>
                  <a:gd name="connsiteY6" fmla="*/ 468000 h 46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7642" h="468000">
                    <a:moveTo>
                      <a:pt x="104108" y="468000"/>
                    </a:moveTo>
                    <a:lnTo>
                      <a:pt x="0" y="468000"/>
                    </a:lnTo>
                    <a:lnTo>
                      <a:pt x="173534" y="234000"/>
                    </a:lnTo>
                    <a:lnTo>
                      <a:pt x="0" y="0"/>
                    </a:lnTo>
                    <a:lnTo>
                      <a:pt x="104108" y="0"/>
                    </a:lnTo>
                    <a:lnTo>
                      <a:pt x="277642" y="234000"/>
                    </a:lnTo>
                    <a:lnTo>
                      <a:pt x="104108" y="46800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任意多边形: 形状 10">
                <a:extLst>
                  <a:ext uri="{FF2B5EF4-FFF2-40B4-BE49-F238E27FC236}">
                    <a16:creationId xmlns:a16="http://schemas.microsoft.com/office/drawing/2014/main" id="{F01178EF-DA89-4AEA-9A8E-2BA68BD2158D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 rot="10800000">
                <a:off x="713" y="367"/>
                <a:ext cx="437" cy="737"/>
              </a:xfrm>
              <a:custGeom>
                <a:avLst/>
                <a:gdLst>
                  <a:gd name="connsiteX0" fmla="*/ 104108 w 277642"/>
                  <a:gd name="connsiteY0" fmla="*/ 468000 h 468000"/>
                  <a:gd name="connsiteX1" fmla="*/ 0 w 277642"/>
                  <a:gd name="connsiteY1" fmla="*/ 468000 h 468000"/>
                  <a:gd name="connsiteX2" fmla="*/ 173534 w 277642"/>
                  <a:gd name="connsiteY2" fmla="*/ 234000 h 468000"/>
                  <a:gd name="connsiteX3" fmla="*/ 0 w 277642"/>
                  <a:gd name="connsiteY3" fmla="*/ 0 h 468000"/>
                  <a:gd name="connsiteX4" fmla="*/ 104108 w 277642"/>
                  <a:gd name="connsiteY4" fmla="*/ 0 h 468000"/>
                  <a:gd name="connsiteX5" fmla="*/ 277642 w 277642"/>
                  <a:gd name="connsiteY5" fmla="*/ 234000 h 468000"/>
                  <a:gd name="connsiteX6" fmla="*/ 104108 w 277642"/>
                  <a:gd name="connsiteY6" fmla="*/ 468000 h 46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7642" h="468000">
                    <a:moveTo>
                      <a:pt x="104108" y="468000"/>
                    </a:moveTo>
                    <a:lnTo>
                      <a:pt x="0" y="468000"/>
                    </a:lnTo>
                    <a:lnTo>
                      <a:pt x="173534" y="234000"/>
                    </a:lnTo>
                    <a:lnTo>
                      <a:pt x="0" y="0"/>
                    </a:lnTo>
                    <a:lnTo>
                      <a:pt x="104108" y="0"/>
                    </a:lnTo>
                    <a:lnTo>
                      <a:pt x="277642" y="234000"/>
                    </a:lnTo>
                    <a:lnTo>
                      <a:pt x="104108" y="46800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CFBE3D3-60A2-4EFE-8256-530DD4CA4658}"/>
                </a:ext>
              </a:extLst>
            </p:cNvPr>
            <p:cNvSpPr txBox="1"/>
            <p:nvPr/>
          </p:nvSpPr>
          <p:spPr>
            <a:xfrm>
              <a:off x="2777654" y="2921165"/>
              <a:ext cx="155089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三、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54EE127-2B70-496A-80D9-64CAB4A786D2}"/>
                </a:ext>
              </a:extLst>
            </p:cNvPr>
            <p:cNvSpPr txBox="1"/>
            <p:nvPr/>
          </p:nvSpPr>
          <p:spPr>
            <a:xfrm>
              <a:off x="4747563" y="2921165"/>
              <a:ext cx="8717355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5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ITADN</a:t>
              </a:r>
              <a:r>
                <a:rPr lang="zh-CN" altLang="en-US" sz="5800" b="1" dirty="0">
                  <a:solidFill>
                    <a:prstClr val="white"/>
                  </a:solidFill>
                  <a:latin typeface="等线" panose="02110004020202020204"/>
                  <a:ea typeface="等线" panose="02010600030101010101" pitchFamily="2" charset="-122"/>
                </a:rPr>
                <a:t>智能能力中心</a:t>
              </a:r>
              <a:endPara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0877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E7142B61-E2FF-4BF4-B692-1EAE64F52F19}"/>
              </a:ext>
            </a:extLst>
          </p:cNvPr>
          <p:cNvGrpSpPr/>
          <p:nvPr/>
        </p:nvGrpSpPr>
        <p:grpSpPr>
          <a:xfrm>
            <a:off x="581453" y="0"/>
            <a:ext cx="11029093" cy="467995"/>
            <a:chOff x="713" y="367"/>
            <a:chExt cx="11412" cy="737"/>
          </a:xfrm>
        </p:grpSpPr>
        <p:sp>
          <p:nvSpPr>
            <p:cNvPr id="5" name="燕尾形 30">
              <a:extLst>
                <a:ext uri="{FF2B5EF4-FFF2-40B4-BE49-F238E27FC236}">
                  <a16:creationId xmlns:a16="http://schemas.microsoft.com/office/drawing/2014/main" id="{E126D105-4312-451C-B9E8-F7DBB6F05995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rot="10800000">
              <a:off x="1443" y="367"/>
              <a:ext cx="2907" cy="737"/>
            </a:xfrm>
            <a:prstGeom prst="chevron">
              <a:avLst>
                <a:gd name="adj" fmla="val 3708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" name="燕尾形 30">
              <a:extLst>
                <a:ext uri="{FF2B5EF4-FFF2-40B4-BE49-F238E27FC236}">
                  <a16:creationId xmlns:a16="http://schemas.microsoft.com/office/drawing/2014/main" id="{1CA6B2DD-B42A-4EB9-8D0D-E94876C0721C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10800000" flipH="1">
              <a:off x="3422" y="367"/>
              <a:ext cx="8703" cy="737"/>
            </a:xfrm>
            <a:prstGeom prst="chevron">
              <a:avLst>
                <a:gd name="adj" fmla="val 3708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Box 17">
              <a:extLst>
                <a:ext uri="{FF2B5EF4-FFF2-40B4-BE49-F238E27FC236}">
                  <a16:creationId xmlns:a16="http://schemas.microsoft.com/office/drawing/2014/main" id="{60790C6B-B279-4097-ABF4-2FFE3E730DA2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1656" y="367"/>
              <a:ext cx="10184" cy="72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anchor="t">
              <a:spAutoFit/>
            </a:bodyPr>
            <a:lstStyle>
              <a:lvl1pPr marL="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1pPr>
              <a:lvl2pPr marL="4572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2pPr>
              <a:lvl3pPr marL="9144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3pPr>
              <a:lvl4pPr marL="13716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4pPr>
              <a:lvl5pPr marL="18288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5pPr>
            </a:lstStyle>
            <a:p>
              <a:pPr lvl="0" algn="ctr"/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ITADN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智能中心业务流程</a:t>
              </a:r>
            </a:p>
          </p:txBody>
        </p:sp>
        <p:sp>
          <p:nvSpPr>
            <p:cNvPr id="8" name="任意多边形: 形状 9">
              <a:extLst>
                <a:ext uri="{FF2B5EF4-FFF2-40B4-BE49-F238E27FC236}">
                  <a16:creationId xmlns:a16="http://schemas.microsoft.com/office/drawing/2014/main" id="{3CC5903F-0B77-45E4-BC89-0A81D7E6E001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10800000">
              <a:off x="107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" name="任意多边形: 形状 10">
              <a:extLst>
                <a:ext uri="{FF2B5EF4-FFF2-40B4-BE49-F238E27FC236}">
                  <a16:creationId xmlns:a16="http://schemas.microsoft.com/office/drawing/2014/main" id="{5A9F13A6-293F-46DD-9BCF-69F3A053993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0800000">
              <a:off x="71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8D166B7-C7D8-4745-9BE9-B0CFA99BC22A}"/>
              </a:ext>
            </a:extLst>
          </p:cNvPr>
          <p:cNvSpPr/>
          <p:nvPr/>
        </p:nvSpPr>
        <p:spPr>
          <a:xfrm>
            <a:off x="331694" y="2268071"/>
            <a:ext cx="788894" cy="21067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数据中台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1AEF0439-BDBA-41F0-B0D5-456153E34BA9}"/>
              </a:ext>
            </a:extLst>
          </p:cNvPr>
          <p:cNvSpPr/>
          <p:nvPr/>
        </p:nvSpPr>
        <p:spPr>
          <a:xfrm>
            <a:off x="1199311" y="1783439"/>
            <a:ext cx="1409418" cy="969264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全新语料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D94D2BB5-8725-4ACB-A05C-925D59B13F15}"/>
              </a:ext>
            </a:extLst>
          </p:cNvPr>
          <p:cNvSpPr/>
          <p:nvPr/>
        </p:nvSpPr>
        <p:spPr>
          <a:xfrm>
            <a:off x="1199311" y="3890144"/>
            <a:ext cx="1409418" cy="969264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数据统计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5147F1-A633-4954-9C0A-EB5271FD6BFF}"/>
              </a:ext>
            </a:extLst>
          </p:cNvPr>
          <p:cNvSpPr/>
          <p:nvPr/>
        </p:nvSpPr>
        <p:spPr>
          <a:xfrm>
            <a:off x="2832848" y="1039906"/>
            <a:ext cx="8159842" cy="152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A57789D-9719-4193-A725-2D67F3AB5500}"/>
              </a:ext>
            </a:extLst>
          </p:cNvPr>
          <p:cNvSpPr/>
          <p:nvPr/>
        </p:nvSpPr>
        <p:spPr>
          <a:xfrm>
            <a:off x="2832846" y="3135816"/>
            <a:ext cx="8777699" cy="268227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103E67B-BB89-490D-BAE1-603BCC774310}"/>
              </a:ext>
            </a:extLst>
          </p:cNvPr>
          <p:cNvSpPr txBox="1"/>
          <p:nvPr/>
        </p:nvSpPr>
        <p:spPr>
          <a:xfrm>
            <a:off x="6413961" y="1039906"/>
            <a:ext cx="1362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模型训练层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058592C-EEFB-488D-8ED0-12443B8A1C70}"/>
              </a:ext>
            </a:extLst>
          </p:cNvPr>
          <p:cNvSpPr txBox="1"/>
          <p:nvPr/>
        </p:nvSpPr>
        <p:spPr>
          <a:xfrm>
            <a:off x="6413961" y="3136757"/>
            <a:ext cx="1362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模型推理层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938828-3307-47B6-A8E6-14B4AE2DFBF3}"/>
              </a:ext>
            </a:extLst>
          </p:cNvPr>
          <p:cNvSpPr/>
          <p:nvPr/>
        </p:nvSpPr>
        <p:spPr>
          <a:xfrm>
            <a:off x="3074893" y="3460376"/>
            <a:ext cx="8260215" cy="112955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704F4C3-FDA7-4290-990A-A26F12A6D538}"/>
              </a:ext>
            </a:extLst>
          </p:cNvPr>
          <p:cNvSpPr/>
          <p:nvPr/>
        </p:nvSpPr>
        <p:spPr>
          <a:xfrm>
            <a:off x="3074892" y="4639235"/>
            <a:ext cx="8260215" cy="11295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1D119BD-E897-47E5-9600-E59FC646FA5A}"/>
              </a:ext>
            </a:extLst>
          </p:cNvPr>
          <p:cNvSpPr txBox="1"/>
          <p:nvPr/>
        </p:nvSpPr>
        <p:spPr>
          <a:xfrm>
            <a:off x="3199558" y="3840486"/>
            <a:ext cx="1121429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数据发掘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3AE37BC-096A-411C-9E4D-0703E1F5FFA5}"/>
              </a:ext>
            </a:extLst>
          </p:cNvPr>
          <p:cNvSpPr txBox="1"/>
          <p:nvPr/>
        </p:nvSpPr>
        <p:spPr>
          <a:xfrm>
            <a:off x="3414260" y="4977173"/>
            <a:ext cx="682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AIGC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39D9F8E-724C-49C3-84BD-D8C8103A7ACA}"/>
              </a:ext>
            </a:extLst>
          </p:cNvPr>
          <p:cNvSpPr/>
          <p:nvPr/>
        </p:nvSpPr>
        <p:spPr>
          <a:xfrm>
            <a:off x="2976282" y="1550894"/>
            <a:ext cx="1344705" cy="8157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数据集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自动整理</a:t>
            </a: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173E75A1-5AAB-4B59-878B-3DBFE98382F1}"/>
              </a:ext>
            </a:extLst>
          </p:cNvPr>
          <p:cNvSpPr/>
          <p:nvPr/>
        </p:nvSpPr>
        <p:spPr>
          <a:xfrm>
            <a:off x="4410635" y="1779494"/>
            <a:ext cx="609600" cy="358587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408D579-5DFF-4F58-B29B-0DB3E6DEE22D}"/>
              </a:ext>
            </a:extLst>
          </p:cNvPr>
          <p:cNvSpPr/>
          <p:nvPr/>
        </p:nvSpPr>
        <p:spPr>
          <a:xfrm>
            <a:off x="5109883" y="1543264"/>
            <a:ext cx="1344705" cy="8157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训练计划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定时任务</a:t>
            </a:r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6962A38D-5BF8-410C-819B-3635176A3EC9}"/>
              </a:ext>
            </a:extLst>
          </p:cNvPr>
          <p:cNvSpPr/>
          <p:nvPr/>
        </p:nvSpPr>
        <p:spPr>
          <a:xfrm>
            <a:off x="6598023" y="1779494"/>
            <a:ext cx="609600" cy="358587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775D212-2BAA-4DA3-8C12-4145CCCAA44D}"/>
              </a:ext>
            </a:extLst>
          </p:cNvPr>
          <p:cNvSpPr/>
          <p:nvPr/>
        </p:nvSpPr>
        <p:spPr>
          <a:xfrm>
            <a:off x="7297271" y="1543264"/>
            <a:ext cx="1344705" cy="8157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训练资源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智能调度</a:t>
            </a:r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40708C39-4286-4A84-95B2-CE9CF587F254}"/>
              </a:ext>
            </a:extLst>
          </p:cNvPr>
          <p:cNvSpPr/>
          <p:nvPr/>
        </p:nvSpPr>
        <p:spPr>
          <a:xfrm>
            <a:off x="8785411" y="1779494"/>
            <a:ext cx="609600" cy="358587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8F3E518-7332-49F1-B12D-E5B021FFCAEE}"/>
              </a:ext>
            </a:extLst>
          </p:cNvPr>
          <p:cNvSpPr/>
          <p:nvPr/>
        </p:nvSpPr>
        <p:spPr>
          <a:xfrm>
            <a:off x="9484659" y="1543264"/>
            <a:ext cx="1344705" cy="8157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产物质量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自动评估</a:t>
            </a:r>
          </a:p>
        </p:txBody>
      </p:sp>
      <p:sp>
        <p:nvSpPr>
          <p:cNvPr id="29" name="箭头: 下 28">
            <a:extLst>
              <a:ext uri="{FF2B5EF4-FFF2-40B4-BE49-F238E27FC236}">
                <a16:creationId xmlns:a16="http://schemas.microsoft.com/office/drawing/2014/main" id="{2EDFF653-152F-4E6F-96F6-C14C3DD7FB3B}"/>
              </a:ext>
            </a:extLst>
          </p:cNvPr>
          <p:cNvSpPr/>
          <p:nvPr/>
        </p:nvSpPr>
        <p:spPr>
          <a:xfrm>
            <a:off x="11082338" y="1726971"/>
            <a:ext cx="564777" cy="1314271"/>
          </a:xfrm>
          <a:prstGeom prst="down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投入生产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D4A7A0A-F176-4CA2-9AE1-660D7A1BFDA5}"/>
              </a:ext>
            </a:extLst>
          </p:cNvPr>
          <p:cNvSpPr/>
          <p:nvPr/>
        </p:nvSpPr>
        <p:spPr>
          <a:xfrm>
            <a:off x="4320987" y="4859408"/>
            <a:ext cx="1775013" cy="6807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趋势追踪</a:t>
            </a:r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CFCAE09D-AAA7-434A-AAEF-7C897681F4C0}"/>
              </a:ext>
            </a:extLst>
          </p:cNvPr>
          <p:cNvSpPr/>
          <p:nvPr/>
        </p:nvSpPr>
        <p:spPr>
          <a:xfrm>
            <a:off x="6161218" y="4941080"/>
            <a:ext cx="654425" cy="563015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88C5A33-689E-4972-952B-3F4E2BD2577D}"/>
              </a:ext>
            </a:extLst>
          </p:cNvPr>
          <p:cNvSpPr/>
          <p:nvPr/>
        </p:nvSpPr>
        <p:spPr>
          <a:xfrm>
            <a:off x="6866963" y="4859408"/>
            <a:ext cx="1775013" cy="6807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智能选材</a:t>
            </a:r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410840C9-0B83-4580-B4D8-BAD25EB1D5EC}"/>
              </a:ext>
            </a:extLst>
          </p:cNvPr>
          <p:cNvSpPr/>
          <p:nvPr/>
        </p:nvSpPr>
        <p:spPr>
          <a:xfrm>
            <a:off x="8704729" y="4939754"/>
            <a:ext cx="654425" cy="563015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F2B88E8-E2B3-493B-8C28-C22DEC66E118}"/>
              </a:ext>
            </a:extLst>
          </p:cNvPr>
          <p:cNvSpPr/>
          <p:nvPr/>
        </p:nvSpPr>
        <p:spPr>
          <a:xfrm>
            <a:off x="9421907" y="4859408"/>
            <a:ext cx="1775013" cy="6807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产物评估</a:t>
            </a:r>
          </a:p>
        </p:txBody>
      </p:sp>
      <p:sp>
        <p:nvSpPr>
          <p:cNvPr id="35" name="箭头: 上弧形 34">
            <a:extLst>
              <a:ext uri="{FF2B5EF4-FFF2-40B4-BE49-F238E27FC236}">
                <a16:creationId xmlns:a16="http://schemas.microsoft.com/office/drawing/2014/main" id="{D9179B63-8155-4A9C-AEBC-18D0B388E194}"/>
              </a:ext>
            </a:extLst>
          </p:cNvPr>
          <p:cNvSpPr/>
          <p:nvPr/>
        </p:nvSpPr>
        <p:spPr>
          <a:xfrm rot="10800000">
            <a:off x="401452" y="5840707"/>
            <a:ext cx="11073371" cy="969264"/>
          </a:xfrm>
          <a:prstGeom prst="curved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AB87BE5-72EB-4E3F-859F-49009290EC54}"/>
              </a:ext>
            </a:extLst>
          </p:cNvPr>
          <p:cNvSpPr/>
          <p:nvPr/>
        </p:nvSpPr>
        <p:spPr>
          <a:xfrm>
            <a:off x="4320987" y="3672500"/>
            <a:ext cx="1775013" cy="6807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数据集成</a:t>
            </a:r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276408DB-7BE2-4B32-B4F2-A73C3BEB2E72}"/>
              </a:ext>
            </a:extLst>
          </p:cNvPr>
          <p:cNvSpPr/>
          <p:nvPr/>
        </p:nvSpPr>
        <p:spPr>
          <a:xfrm>
            <a:off x="6161218" y="3754172"/>
            <a:ext cx="654425" cy="563015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472989A-ADAE-41BD-BF39-AA271F901C3D}"/>
              </a:ext>
            </a:extLst>
          </p:cNvPr>
          <p:cNvSpPr/>
          <p:nvPr/>
        </p:nvSpPr>
        <p:spPr>
          <a:xfrm>
            <a:off x="6855534" y="3692436"/>
            <a:ext cx="1775013" cy="6807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特征工程</a:t>
            </a:r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629CCDD0-5F0B-488E-90CB-C262663A0B77}"/>
              </a:ext>
            </a:extLst>
          </p:cNvPr>
          <p:cNvSpPr/>
          <p:nvPr/>
        </p:nvSpPr>
        <p:spPr>
          <a:xfrm>
            <a:off x="8695765" y="3774108"/>
            <a:ext cx="654425" cy="563015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4F3492A-C3BB-4078-95C3-92AAA08C1C62}"/>
              </a:ext>
            </a:extLst>
          </p:cNvPr>
          <p:cNvSpPr/>
          <p:nvPr/>
        </p:nvSpPr>
        <p:spPr>
          <a:xfrm>
            <a:off x="9421907" y="3672500"/>
            <a:ext cx="1775013" cy="6807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模式发现</a:t>
            </a:r>
          </a:p>
        </p:txBody>
      </p:sp>
    </p:spTree>
    <p:extLst>
      <p:ext uri="{BB962C8B-B14F-4D97-AF65-F5344CB8AC3E}">
        <p14:creationId xmlns:p14="http://schemas.microsoft.com/office/powerpoint/2010/main" val="1369544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380AE8AB-BEE8-4DF1-9CDD-A9A1F0609591}"/>
              </a:ext>
            </a:extLst>
          </p:cNvPr>
          <p:cNvGrpSpPr/>
          <p:nvPr/>
        </p:nvGrpSpPr>
        <p:grpSpPr>
          <a:xfrm>
            <a:off x="581453" y="0"/>
            <a:ext cx="11029093" cy="467995"/>
            <a:chOff x="713" y="367"/>
            <a:chExt cx="11412" cy="737"/>
          </a:xfrm>
        </p:grpSpPr>
        <p:sp>
          <p:nvSpPr>
            <p:cNvPr id="5" name="燕尾形 30">
              <a:extLst>
                <a:ext uri="{FF2B5EF4-FFF2-40B4-BE49-F238E27FC236}">
                  <a16:creationId xmlns:a16="http://schemas.microsoft.com/office/drawing/2014/main" id="{02D0ACE0-7CC3-4AC0-A393-26DD4F6D9C1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rot="10800000">
              <a:off x="1443" y="367"/>
              <a:ext cx="2907" cy="737"/>
            </a:xfrm>
            <a:prstGeom prst="chevron">
              <a:avLst>
                <a:gd name="adj" fmla="val 3708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" name="燕尾形 30">
              <a:extLst>
                <a:ext uri="{FF2B5EF4-FFF2-40B4-BE49-F238E27FC236}">
                  <a16:creationId xmlns:a16="http://schemas.microsoft.com/office/drawing/2014/main" id="{4A9EA3A1-7340-4681-9DF5-FA6301D71923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10800000" flipH="1">
              <a:off x="3422" y="367"/>
              <a:ext cx="8703" cy="737"/>
            </a:xfrm>
            <a:prstGeom prst="chevron">
              <a:avLst>
                <a:gd name="adj" fmla="val 3708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Box 17">
              <a:extLst>
                <a:ext uri="{FF2B5EF4-FFF2-40B4-BE49-F238E27FC236}">
                  <a16:creationId xmlns:a16="http://schemas.microsoft.com/office/drawing/2014/main" id="{698F60FE-AF50-4E49-9BF1-664655B979A4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1656" y="367"/>
              <a:ext cx="10184" cy="72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anchor="t">
              <a:spAutoFit/>
            </a:bodyPr>
            <a:lstStyle>
              <a:lvl1pPr marL="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1pPr>
              <a:lvl2pPr marL="4572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2pPr>
              <a:lvl3pPr marL="9144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3pPr>
              <a:lvl4pPr marL="13716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4pPr>
              <a:lvl5pPr marL="18288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5pPr>
            </a:lstStyle>
            <a:p>
              <a:pPr lvl="0" algn="ctr"/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ITADN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智能中心设施构建</a:t>
              </a:r>
            </a:p>
          </p:txBody>
        </p:sp>
        <p:sp>
          <p:nvSpPr>
            <p:cNvPr id="8" name="任意多边形: 形状 9">
              <a:extLst>
                <a:ext uri="{FF2B5EF4-FFF2-40B4-BE49-F238E27FC236}">
                  <a16:creationId xmlns:a16="http://schemas.microsoft.com/office/drawing/2014/main" id="{08679CA6-8689-4CEA-A3DF-543C3D483616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10800000">
              <a:off x="107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" name="任意多边形: 形状 10">
              <a:extLst>
                <a:ext uri="{FF2B5EF4-FFF2-40B4-BE49-F238E27FC236}">
                  <a16:creationId xmlns:a16="http://schemas.microsoft.com/office/drawing/2014/main" id="{37B385B5-7D78-451C-8D9F-871F0BFD1C7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0800000">
              <a:off x="71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AD66830B-416B-4E06-93E3-19963DFF84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912" y="1753494"/>
            <a:ext cx="1672089" cy="93905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AB9A4AC-2304-4854-B68D-C133955ACE27}"/>
              </a:ext>
            </a:extLst>
          </p:cNvPr>
          <p:cNvSpPr txBox="1"/>
          <p:nvPr/>
        </p:nvSpPr>
        <p:spPr>
          <a:xfrm>
            <a:off x="494919" y="2692547"/>
            <a:ext cx="158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Blackwell GPU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85F8E14-B631-4DFA-81F7-606DB9796344}"/>
              </a:ext>
            </a:extLst>
          </p:cNvPr>
          <p:cNvSpPr txBox="1"/>
          <p:nvPr/>
        </p:nvSpPr>
        <p:spPr>
          <a:xfrm>
            <a:off x="354858" y="5253153"/>
            <a:ext cx="1746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ITADN</a:t>
            </a:r>
            <a:r>
              <a:rPr lang="zh-CN" altLang="en-US" dirty="0"/>
              <a:t>数据中台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1C232F30-F962-4558-884F-2A23B16C7778}"/>
              </a:ext>
            </a:extLst>
          </p:cNvPr>
          <p:cNvSpPr/>
          <p:nvPr/>
        </p:nvSpPr>
        <p:spPr>
          <a:xfrm>
            <a:off x="2357718" y="2366682"/>
            <a:ext cx="1120588" cy="4679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328120B0-657D-41D6-95FD-B9BE9EA7E0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4070" y="2120615"/>
            <a:ext cx="4329826" cy="872926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FA21FB4C-4751-48EC-9CE2-D0EEE93775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50851" y="1363421"/>
            <a:ext cx="1148504" cy="780146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57052490-D468-461F-9A6E-DA9D6A73D5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3108" y="918882"/>
            <a:ext cx="2571750" cy="1447800"/>
          </a:xfrm>
          <a:prstGeom prst="rect">
            <a:avLst/>
          </a:prstGeom>
        </p:spPr>
      </p:pic>
      <p:sp>
        <p:nvSpPr>
          <p:cNvPr id="28" name="箭头: 右 27">
            <a:extLst>
              <a:ext uri="{FF2B5EF4-FFF2-40B4-BE49-F238E27FC236}">
                <a16:creationId xmlns:a16="http://schemas.microsoft.com/office/drawing/2014/main" id="{72327F86-A20B-4DD1-8940-7216B3A26941}"/>
              </a:ext>
            </a:extLst>
          </p:cNvPr>
          <p:cNvSpPr/>
          <p:nvPr/>
        </p:nvSpPr>
        <p:spPr>
          <a:xfrm>
            <a:off x="8382640" y="2366682"/>
            <a:ext cx="1120588" cy="4679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EE32C80F-19B0-4DB1-9996-3FC9FE72880B}"/>
              </a:ext>
            </a:extLst>
          </p:cNvPr>
          <p:cNvSpPr/>
          <p:nvPr/>
        </p:nvSpPr>
        <p:spPr>
          <a:xfrm>
            <a:off x="2314150" y="4023322"/>
            <a:ext cx="1120588" cy="4679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896845BB-D894-47CF-B345-63979CC432D5}"/>
              </a:ext>
            </a:extLst>
          </p:cNvPr>
          <p:cNvSpPr/>
          <p:nvPr/>
        </p:nvSpPr>
        <p:spPr>
          <a:xfrm>
            <a:off x="5293373" y="4039486"/>
            <a:ext cx="1120588" cy="4679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0A9303D4-29C4-44AA-99A5-9D5FB8DEFAA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0029" y="4001163"/>
            <a:ext cx="1559219" cy="573338"/>
          </a:xfrm>
          <a:prstGeom prst="rect">
            <a:avLst/>
          </a:prstGeom>
        </p:spPr>
      </p:pic>
      <p:sp>
        <p:nvSpPr>
          <p:cNvPr id="35" name="箭头: 右 34">
            <a:extLst>
              <a:ext uri="{FF2B5EF4-FFF2-40B4-BE49-F238E27FC236}">
                <a16:creationId xmlns:a16="http://schemas.microsoft.com/office/drawing/2014/main" id="{895C7677-2AF1-4A6D-A5B8-817CEA58AC8C}"/>
              </a:ext>
            </a:extLst>
          </p:cNvPr>
          <p:cNvSpPr/>
          <p:nvPr/>
        </p:nvSpPr>
        <p:spPr>
          <a:xfrm>
            <a:off x="8382640" y="4053833"/>
            <a:ext cx="1120588" cy="4679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6A7AD6F0-847A-47F4-A68C-47928C1A673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03228" y="2782908"/>
            <a:ext cx="2461759" cy="1599306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1912D191-01B8-4C60-85FB-7426E99B4534}"/>
              </a:ext>
            </a:extLst>
          </p:cNvPr>
          <p:cNvSpPr txBox="1"/>
          <p:nvPr/>
        </p:nvSpPr>
        <p:spPr>
          <a:xfrm>
            <a:off x="10086779" y="4389835"/>
            <a:ext cx="1294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K8s</a:t>
            </a:r>
            <a:r>
              <a:rPr lang="zh-CN" altLang="en-US" dirty="0"/>
              <a:t>算力池</a:t>
            </a:r>
          </a:p>
        </p:txBody>
      </p:sp>
      <p:sp>
        <p:nvSpPr>
          <p:cNvPr id="39" name="箭头: 左 38">
            <a:extLst>
              <a:ext uri="{FF2B5EF4-FFF2-40B4-BE49-F238E27FC236}">
                <a16:creationId xmlns:a16="http://schemas.microsoft.com/office/drawing/2014/main" id="{51C08A93-5779-442F-B0B4-8CB30EA5334C}"/>
              </a:ext>
            </a:extLst>
          </p:cNvPr>
          <p:cNvSpPr/>
          <p:nvPr/>
        </p:nvSpPr>
        <p:spPr>
          <a:xfrm>
            <a:off x="8382639" y="4858870"/>
            <a:ext cx="1120589" cy="46799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5829E4B0-ADA1-4CB9-A941-C5F509854AB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65539" y="4821110"/>
            <a:ext cx="1142361" cy="756814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49F7435D-6B4A-4BD2-AB9E-D2BEAAE4506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92333" y="5679962"/>
            <a:ext cx="2688772" cy="333471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376190A9-F91B-446B-9954-1AD95EEAD79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54897" y="5553428"/>
            <a:ext cx="1909482" cy="547385"/>
          </a:xfrm>
          <a:prstGeom prst="rect">
            <a:avLst/>
          </a:prstGeom>
        </p:spPr>
      </p:pic>
      <p:sp>
        <p:nvSpPr>
          <p:cNvPr id="47" name="箭头: 左 46">
            <a:extLst>
              <a:ext uri="{FF2B5EF4-FFF2-40B4-BE49-F238E27FC236}">
                <a16:creationId xmlns:a16="http://schemas.microsoft.com/office/drawing/2014/main" id="{15608174-2A1F-4C60-BBB8-34F4206D8D99}"/>
              </a:ext>
            </a:extLst>
          </p:cNvPr>
          <p:cNvSpPr/>
          <p:nvPr/>
        </p:nvSpPr>
        <p:spPr>
          <a:xfrm>
            <a:off x="2314149" y="4851642"/>
            <a:ext cx="1120589" cy="46799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箭头: 左 47">
            <a:extLst>
              <a:ext uri="{FF2B5EF4-FFF2-40B4-BE49-F238E27FC236}">
                <a16:creationId xmlns:a16="http://schemas.microsoft.com/office/drawing/2014/main" id="{809DF31F-976F-42A5-90C4-43B3F0562FAD}"/>
              </a:ext>
            </a:extLst>
          </p:cNvPr>
          <p:cNvSpPr/>
          <p:nvPr/>
        </p:nvSpPr>
        <p:spPr>
          <a:xfrm>
            <a:off x="5293372" y="4858870"/>
            <a:ext cx="1120589" cy="46799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EE4492B0-E1F6-4FB1-8C00-6EDA688E348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74104" y="4475122"/>
            <a:ext cx="1280076" cy="1280076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D8545EAB-E140-4F6B-AD6D-685E15E7FF4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00504" y="3971313"/>
            <a:ext cx="1280076" cy="128007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2FBF77F-FE9B-4728-AB2A-81E8BB5DCFF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52724" y="4029339"/>
            <a:ext cx="1120588" cy="51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77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EE5745A-3881-4FE4-888D-F1C2B2C764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1517276" y="1261596"/>
            <a:ext cx="9157447" cy="5352511"/>
          </a:xfr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11CE6E76-2693-4EC3-B1F3-FA3CDA592E11}"/>
              </a:ext>
            </a:extLst>
          </p:cNvPr>
          <p:cNvGrpSpPr/>
          <p:nvPr/>
        </p:nvGrpSpPr>
        <p:grpSpPr>
          <a:xfrm>
            <a:off x="581453" y="0"/>
            <a:ext cx="11029093" cy="467995"/>
            <a:chOff x="713" y="367"/>
            <a:chExt cx="11412" cy="737"/>
          </a:xfrm>
        </p:grpSpPr>
        <p:sp>
          <p:nvSpPr>
            <p:cNvPr id="6" name="燕尾形 30">
              <a:extLst>
                <a:ext uri="{FF2B5EF4-FFF2-40B4-BE49-F238E27FC236}">
                  <a16:creationId xmlns:a16="http://schemas.microsoft.com/office/drawing/2014/main" id="{3BA5FDC7-74D1-4933-9055-56153685170A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rot="10800000">
              <a:off x="1443" y="367"/>
              <a:ext cx="2907" cy="737"/>
            </a:xfrm>
            <a:prstGeom prst="chevron">
              <a:avLst>
                <a:gd name="adj" fmla="val 3708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" name="燕尾形 30">
              <a:extLst>
                <a:ext uri="{FF2B5EF4-FFF2-40B4-BE49-F238E27FC236}">
                  <a16:creationId xmlns:a16="http://schemas.microsoft.com/office/drawing/2014/main" id="{F8A80120-CA06-473E-A3A2-BD0A8323AD85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10800000" flipH="1">
              <a:off x="3422" y="367"/>
              <a:ext cx="8703" cy="737"/>
            </a:xfrm>
            <a:prstGeom prst="chevron">
              <a:avLst>
                <a:gd name="adj" fmla="val 3708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17">
              <a:extLst>
                <a:ext uri="{FF2B5EF4-FFF2-40B4-BE49-F238E27FC236}">
                  <a16:creationId xmlns:a16="http://schemas.microsoft.com/office/drawing/2014/main" id="{9F79A80D-7283-454E-AF53-5FB2623ED6C6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1656" y="367"/>
              <a:ext cx="10184" cy="72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anchor="t">
              <a:spAutoFit/>
            </a:bodyPr>
            <a:lstStyle>
              <a:lvl1pPr marL="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1pPr>
              <a:lvl2pPr marL="4572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2pPr>
              <a:lvl3pPr marL="9144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3pPr>
              <a:lvl4pPr marL="13716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4pPr>
              <a:lvl5pPr marL="18288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5pPr>
            </a:lstStyle>
            <a:p>
              <a:pPr lvl="0" algn="ctr"/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ITADN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技术社区最终服务蓝图</a:t>
              </a:r>
            </a:p>
          </p:txBody>
        </p:sp>
        <p:sp>
          <p:nvSpPr>
            <p:cNvPr id="9" name="任意多边形: 形状 9">
              <a:extLst>
                <a:ext uri="{FF2B5EF4-FFF2-40B4-BE49-F238E27FC236}">
                  <a16:creationId xmlns:a16="http://schemas.microsoft.com/office/drawing/2014/main" id="{E8880B4B-5B97-43D5-A794-0EE22006229B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10800000">
              <a:off x="107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0" name="任意多边形: 形状 10">
              <a:extLst>
                <a:ext uri="{FF2B5EF4-FFF2-40B4-BE49-F238E27FC236}">
                  <a16:creationId xmlns:a16="http://schemas.microsoft.com/office/drawing/2014/main" id="{3585CF45-5A7B-4007-BC21-66F467EF4E9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0800000">
              <a:off x="71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86391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450418-489F-49FE-B243-69F82C9CB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782486"/>
            <a:ext cx="8610600" cy="1293028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Noto Serif SC Black" panose="02020200000000000000" pitchFamily="18" charset="-122"/>
                <a:ea typeface="Noto Serif SC Black" panose="02020200000000000000" pitchFamily="18" charset="-122"/>
              </a:rPr>
              <a:t>感谢各位专家、领导聆听！</a:t>
            </a:r>
          </a:p>
        </p:txBody>
      </p:sp>
    </p:spTree>
    <p:extLst>
      <p:ext uri="{BB962C8B-B14F-4D97-AF65-F5344CB8AC3E}">
        <p14:creationId xmlns:p14="http://schemas.microsoft.com/office/powerpoint/2010/main" val="15986818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902,&quot;width&quot;:1952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159,&quot;width&quot;:19524.70551181102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5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  <a:prstDash val="lgDash"/>
        </a:ln>
      </a:spPr>
      <a:bodyPr wrap="square" rIns="179705" bIns="144145">
        <a:spAutoFit/>
      </a:bodyPr>
      <a:lstStyle>
        <a:defPPr algn="l">
          <a:lnSpc>
            <a:spcPct val="150000"/>
          </a:lnSpc>
          <a:defRPr kumimoji="1" sz="18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0BEB954-4024-4CCF-A9D6-4C00FDC028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96CC85-5758-41C0-8EFD-737AFB6912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710EE66-8707-456F-8F2E-091D581CB030}">
  <ds:schemaRefs>
    <ds:schemaRef ds:uri="http://purl.org/dc/elements/1.1/"/>
    <ds:schemaRef ds:uri="71af3243-3dd4-4a8d-8c0d-dd76da1f02a5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16c05727-aa75-4e4a-9b5f-8a80a1165891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851</Words>
  <Application>Microsoft Office PowerPoint</Application>
  <PresentationFormat>宽屏</PresentationFormat>
  <Paragraphs>183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Microsoft YaHei UI</vt:lpstr>
      <vt:lpstr>Noto Serif SC Black</vt:lpstr>
      <vt:lpstr>等线</vt:lpstr>
      <vt:lpstr>等线 Light</vt:lpstr>
      <vt:lpstr>黑体</vt:lpstr>
      <vt:lpstr>楷体</vt:lpstr>
      <vt:lpstr>宋体</vt:lpstr>
      <vt:lpstr>微软雅黑</vt:lpstr>
      <vt:lpstr>Arial</vt:lpstr>
      <vt:lpstr>Calibri</vt:lpstr>
      <vt:lpstr>Times New Roman</vt:lpstr>
      <vt:lpstr>Wingdings</vt:lpstr>
      <vt:lpstr>Office 主题​​</vt:lpstr>
      <vt:lpstr>15_Office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感谢各位专家、领导聆听！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2025-12-14T13:25:56Z</dcterms:created>
  <dcterms:modified xsi:type="dcterms:W3CDTF">2025-12-16T15:43:51Z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